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LEV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" y="109728"/>
            <a:ext cx="117043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dirty="0">
                <a:solidFill>
                  <a:srgbClr val="E87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3" name="Text 0"/>
          <p:cNvSpPr txBox="1"/>
          <p:nvPr/>
        </p:nvSpPr>
        <p:spPr>
          <a:xfrm>
            <a:off x="10241280" y="6492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Risques Groupe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ins réunies (illustration du modèle de compte-rendu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80160"/>
            <a:ext cx="11475720" cy="4078224"/>
          </a:xfrm>
          <a:prstGeom prst="rect">
            <a:avLst/>
          </a:prstGeom>
        </p:spPr>
      </p:pic>
      <p:pic>
        <p:nvPicPr>
          <p:cNvPr id="3" name="Image 1" descr="Logo Banque Populai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104" y="-91440"/>
            <a:ext cx="3291840" cy="1563624"/>
          </a:xfrm>
          <a:prstGeom prst="rect">
            <a:avLst/>
          </a:prstGeom>
        </p:spPr>
      </p:pic>
      <p:sp>
        <p:nvSpPr>
          <p:cNvPr id="4" name="panneau-participants"/>
          <p:cNvSpPr/>
          <p:nvPr/>
        </p:nvSpPr>
        <p:spPr>
          <a:xfrm>
            <a:off x="182880" y="1161288"/>
            <a:ext cx="6035040" cy="5029200"/>
          </a:xfrm>
          <a:prstGeom prst="rect">
            <a:avLst/>
          </a:prstGeom>
          <a:solidFill>
            <a:srgbClr val="FFFFFF">
              <a:alpha val="82000"/>
            </a:srgbClr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292608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404040"/>
                </a:solidFill>
              </a:rPr>
              <a:t>Liste des participants :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384048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u="sng" dirty="0">
                <a:solidFill>
                  <a:srgbClr val="404040"/>
                </a:solidFill>
              </a:rPr>
              <a:t>Risques Groupe :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384048" y="221284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i="1" dirty="0">
                <a:solidFill>
                  <a:srgbClr val="404040"/>
                </a:solidFill>
              </a:rPr>
              <a:t>M. Edoumi Tariq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i="1" dirty="0">
                <a:solidFill>
                  <a:srgbClr val="404040"/>
                </a:solidFill>
              </a:rPr>
              <a:t>[Nom à compléter]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i="1" dirty="0">
                <a:solidFill>
                  <a:srgbClr val="404040"/>
                </a:solidFill>
              </a:rPr>
              <a:t>[Nom à compléter]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384048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u="sng" dirty="0">
                <a:solidFill>
                  <a:srgbClr val="404040"/>
                </a:solidFill>
              </a:rPr>
              <a:t>Équipe SI :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84048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i="1" dirty="0">
                <a:solidFill>
                  <a:srgbClr val="404040"/>
                </a:solidFill>
              </a:rPr>
              <a:t>[Nom à compléter]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274320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u="sng" dirty="0">
                <a:solidFill>
                  <a:srgbClr val="404040"/>
                </a:solidFill>
              </a:rPr>
              <a:t>Équipe DATA :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74320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i="1" dirty="0">
                <a:solidFill>
                  <a:srgbClr val="404040"/>
                </a:solidFill>
              </a:rPr>
              <a:t>[Nom à compléter]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384048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u="sng" dirty="0">
                <a:solidFill>
                  <a:srgbClr val="404040"/>
                </a:solidFill>
              </a:rPr>
              <a:t>Conformité :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84048" y="4453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i="1" dirty="0">
                <a:solidFill>
                  <a:srgbClr val="404040"/>
                </a:solidFill>
              </a:rPr>
              <a:t>[Nom à compléter]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u="sng" dirty="0">
                <a:solidFill>
                  <a:srgbClr val="404040"/>
                </a:solidFill>
              </a:rPr>
              <a:t>Direction des engagements :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2743200" y="4453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300"/>
              </a:spcAft>
              <a:buSzPct val="100000"/>
              <a:buChar char="▪"/>
            </a:pPr>
            <a:r>
              <a:rPr lang="en-US" sz="1100" i="1" dirty="0">
                <a:solidFill>
                  <a:srgbClr val="404040"/>
                </a:solidFill>
              </a:rPr>
              <a:t>[Nom à compléter]</a:t>
            </a:r>
            <a:endParaRPr lang="en-US" sz="1100" dirty="0"/>
          </a:p>
        </p:txBody>
      </p:sp>
      <p:sp>
        <p:nvSpPr>
          <p:cNvPr id="16" name="bandeau-titre"/>
          <p:cNvSpPr/>
          <p:nvPr/>
        </p:nvSpPr>
        <p:spPr>
          <a:xfrm>
            <a:off x="7315200" y="1856232"/>
            <a:ext cx="4873752" cy="2798064"/>
          </a:xfrm>
          <a:prstGeom prst="rect">
            <a:avLst/>
          </a:prstGeom>
          <a:solidFill>
            <a:srgbClr val="E8790F"/>
          </a:solidFill>
          <a:ln w="12700">
            <a:solidFill>
              <a:srgbClr val="E8790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98080" y="210312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Modèle de scoring Project Finance : conception du modèle et de l’outil de notation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498080" y="37947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Compte-rendu du Comité de Pilotage du [jj/mm/aaaa]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420624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E3C6"/>
                </a:solidFill>
              </a:rPr>
              <a:t>Projet — à valider par les participants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4937760" y="649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</a:rPr>
              <a:t>Risques Groupe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11521440" y="6263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" y="109728"/>
            <a:ext cx="1170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Relevé d’informations, de décisions et d’actions (1/2)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58368"/>
          <a:ext cx="11750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"/>
                <a:gridCol w="7863840"/>
                <a:gridCol w="139903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Thématique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Réf.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 (I) / Actions (A) / Décision (D)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Responsable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Principaux objectifs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5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I.1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Restitution de l’avancement du projet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« Modèle de scoring Project Finance »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: modèle de notation, outil web, données de test et import des pièces par l’IA.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Alignement sur le reste à faire avant la mise en production.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 rowSpan="3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Modèle de scoring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5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I.2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modèle est stabilisé :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 domaines pondérés selon la phase, noyau financier N1 à N6, 25 critères, 15 plafonds et 12 verrous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; conversion du score en note de 1 à 10 puis en grade AAA à D.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paramètres (poids, seuils, plafonds, correspondance des grades) restent des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valeurs candidates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non encore approuvées par le Comité de validation.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D.1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 est proposé de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soumettre le modèle à la revue des experts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sur la base du questionnaire préparé (123 questions), avant toute validation des paramètres.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Risques Groupe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A.1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Faire valider par la Conformité la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portée des directives BAM 3/W/2025 (consortialisation) et 2/W/2025 (risques climatiques)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pour le modèle et l’outil.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Conformité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 rowSpan="2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Outil web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5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I.3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parcours de saisie en 13 blocs, la lecture des pièces par l’IA et l’export des propositions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sont livrés ; les évaluations sont unifiées avec le scoring PF (alertes, analytique, validations).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diagnostic complet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(base, écrans et API, sécurité, design) a été mené et ses correctifs appliqués, dont une faille critique sur la configuration commune.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Fusionner la branche de développement dans la branche principale pour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mettre en ligne les correctifs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dont celui du déploiement sur l’hébergeur.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Équipe SI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28600" y="109728"/>
            <a:ext cx="1170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7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Relevé d’informations, de décisions et d’actions (2/2)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658368"/>
          <a:ext cx="11750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58368"/>
                <a:gridCol w="7863840"/>
                <a:gridCol w="139903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Thématique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Réf.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Information (I) / Actions (A) / Décision (D)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Responsable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</a:tr>
              <a:tr h="685800">
                <a:tc rowSpan="2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Données de test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5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I.4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Les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 cas d’étude fictifs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sont installés en production avec des fiches client et projet complètes ; leurs notes concordent avec l’outil Excel.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D.2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 est proposé de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supprimer les anciennes saisies de test, après archivage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et d’empêcher la suppression d’un utilisateur auteur de projets (contrainte en base).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Équipe SI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 rowSpan="2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Import par IA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5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I.5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banc d’essai a validé l’import de bout en bout :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note, verrous et plafonds conformes dans les 18 cas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(lecteur de test, sans le modèle d’IA réel).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Configurer le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stockage des pièces et la clé d’API de l’IA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sur l’hébergement, puis réaliser un essai avec le modèle réel sur deux cas.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Équipe SI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Conduite de changement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5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D.3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 est proposé de mener la conduite de changement en deux niveaux :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Niveau 1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: revue du modèle par les experts (questionnaire, présentation et discours livrés), pour calibrer les paramètres.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Niveau 2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: formation des chargés d’affaires à l’outil, après validation du modèle (guide de saisie et pièces fictives des 18 cas livrés).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i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Pilotage transverse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62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A5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A.4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Planifier un 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Comité de validation du modèle</a:t>
                      </a:r>
                      <a:pPr algn="just" marL="177800" indent="-177800">
                        <a:spcAft>
                          <a:spcPts val="400"/>
                        </a:spcAft>
                        <a:buSzPct val="100000"/>
                        <a:buChar char="▪"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pour approuver les paramètres, puis un Comité de pilotage auprès de la Direction générale pour restituer les réalisations.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01600" marR="127000" marT="63500" marB="6350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i="1" dirty="0">
                          <a:solidFill>
                            <a:srgbClr val="4040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Risques Groupe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26364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A7A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que Populaire — COPIL">
  <a:themeElements>
    <a:clrScheme name="Banque Populaire — COPIL">
      <a:dk1>
        <a:srgbClr val="333333"/>
      </a:dk1>
      <a:lt1>
        <a:srgbClr val="FFFFFF"/>
      </a:lt1>
      <a:dk2>
        <a:srgbClr val="5A3A1E"/>
      </a:dk2>
      <a:lt2>
        <a:srgbClr val="EFEFEF"/>
      </a:lt2>
      <a:accent1>
        <a:srgbClr val="E8790F"/>
      </a:accent1>
      <a:accent2>
        <a:srgbClr val="EFA54C"/>
      </a:accent2>
      <a:accent3>
        <a:srgbClr val="8B4A17"/>
      </a:accent3>
      <a:accent4>
        <a:srgbClr val="F6D2A6"/>
      </a:accent4>
      <a:accent5>
        <a:srgbClr val="7A7A7A"/>
      </a:accent5>
      <a:accent6>
        <a:srgbClr val="BFBFBF"/>
      </a:accent6>
      <a:hlink>
        <a:srgbClr val="E8790F"/>
      </a:hlink>
      <a:folHlink>
        <a:srgbClr val="8B4A17"/>
      </a:folHlink>
    </a:clrScheme>
    <a:fontScheme name="Banque Populaire — COPIL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Compte-rendu du Comité de Pilotage — Modèle de scoring Project Finance</dc:title>
  <dc:subject>PptxGenJS Presentation</dc:subject>
  <dc:creator>Risques Groupe</dc:creator>
  <cp:lastModifiedBy>Risques Groupe</cp:lastModifiedBy>
  <cp:revision>1</cp:revision>
  <dcterms:created xsi:type="dcterms:W3CDTF">2026-10-20T07:54:28Z</dcterms:created>
  <dcterms:modified xsi:type="dcterms:W3CDTF">2026-10-20T07:54:28Z</dcterms:modified>
</cp:coreProperties>
</file>