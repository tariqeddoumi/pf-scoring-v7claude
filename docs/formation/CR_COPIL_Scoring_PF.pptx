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Couverture du compte-rendu : participants à compléter, date du comité à renseigner. Document à valider par les participants.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1 : objectifs, état du modèle (17 plafonds désormais), outil web. Décisions formulées en propositions, à confirmer par le comité.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2 : données de test, import par IA avec l’origine des champs, stress test (bibliothèque de scénarios et calcul du choc).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 : volet climatique (lots 1 et 2, étude d’impact, dossier de validation), outil Excel version 4, documents, conduite de changement et pilotage.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LEV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" y="109728"/>
            <a:ext cx="117043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rgbClr val="E879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3" name="Text 0"/>
          <p:cNvSpPr/>
          <p:nvPr/>
        </p:nvSpPr>
        <p:spPr>
          <a:xfrm>
            <a:off x="10241280" y="6492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Groupe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2636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A7A7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2636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A7A7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ins réunies (illustration du modèle de compte-rendu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280160"/>
            <a:ext cx="11475720" cy="4078224"/>
          </a:xfrm>
          <a:prstGeom prst="rect">
            <a:avLst/>
          </a:prstGeom>
        </p:spPr>
      </p:pic>
      <p:pic>
        <p:nvPicPr>
          <p:cNvPr id="3" name="Image 1" descr="Logo Banque Popula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-91440"/>
            <a:ext cx="3291840" cy="15636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82880" y="1161288"/>
            <a:ext cx="6035040" cy="4197096"/>
          </a:xfrm>
          <a:prstGeom prst="rect">
            <a:avLst/>
          </a:prstGeom>
          <a:solidFill>
            <a:srgbClr val="FFFFFF">
              <a:alpha val="82000"/>
            </a:srgbClr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292608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des participants :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384048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u="sng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Groupe :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84048" y="218541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M. Edoumi Tariq</a:t>
            </a:r>
            <a:endParaRPr lang="en-US" sz="1100" dirty="0"/>
          </a:p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384048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u="sng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Équipe SI :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3465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283464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u="sng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Équipe DATA :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2834640" y="3465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84048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u="sng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: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84048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83464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u="sng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 des engagements :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834640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▪"/>
            </a:pPr>
            <a:r>
              <a:rPr lang="en-US" sz="1100" i="1" dirty="0">
                <a:solidFill>
                  <a:srgbClr val="4040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 à compléter]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315200" y="1856232"/>
            <a:ext cx="4873752" cy="2798064"/>
          </a:xfrm>
          <a:prstGeom prst="rect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98080" y="210312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 de scoring Project Finance : conception du modèle et de l’outil de notation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3749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Compte-rendu du Comité de Pilotage du [jj/mm/aaaa]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418795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CE3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 — à valider par les participants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937760" y="6492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Groupe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1521440" y="62636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" y="109728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9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Relevé d’informations, de décisions et d’actions (1/3)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" y="658368"/>
          <a:ext cx="11750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58368"/>
                <a:gridCol w="786384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Thématique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Réf.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Information (I) / Actions (A) / Décision (D)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Responsable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Principaux objectifs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Restitution de l’avancement du projet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« Modèle de scoring Project Finance »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modèle de notation, outil web, données de test et import des pièces par l’IA, complétés depuis le précédent comité par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 traçabilité des champs proposés par l’IA, la bibliothèque de scénarios de stress et le volet climatique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Alignement sur le reste à faire avant la mise en production.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 rowSpan="3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Modèle de scoring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 modèle est stabilisé :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domaines pondérés selon la phase, noyau financier N1 à N6, 25 critères, 17 plafonds (C1 à C17) et 12 verrous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; conversion du score en note de 1 à 10 puis en grade AAA à D.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Les paramètres (poids, seuils, plafonds, scénarios de stress, règles climatiques, correspondance des grades) restent des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valeurs candidates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non encore approuvées par le Comité de validation.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D.1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Il est proposé de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soumettre le modèle à la revue des experts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sur la base du questionnaire préparé (123 questions), avant toute validation des paramètres.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Risques Groupe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A.1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Faire valider par la Conformité la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portée des directives BAM 3/W/2025 (consortialisation) et 2/W/2025 (risques climatiques)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pour le modèle et l’outil.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Conformité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 rowSpan="2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Outil web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parcours de saisie en 13 blocs, la lecture des pièces par l’IA et l’export des propositions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sont livrés ; les évaluations sont unifiées avec le scoring PF (alertes, analytique, validations).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diagnostic complet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(base, écrans et API, sécurité, design) a été mené et ses correctifs appliqués, dont une faille critique sur la configuration commune.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A.2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Fusionner la branche de développement dans la branche principale pour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mettre en ligne les correctifs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et les évolutions récentes, dont le déploiement sur l’hébergeur.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Équipe SI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2636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A7A7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" y="109728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9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Relevé d’informations, de décisions et d’actions (2/3)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" y="658368"/>
          <a:ext cx="11750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58368"/>
                <a:gridCol w="786384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Thématique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Réf.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Information (I) / Actions (A) / Décision (D)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Responsable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58368">
                <a:tc rowSpan="2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Données de test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Les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 cas d’étude fictifs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sont installés en production avec des fiches client et projet complètes ; leurs notes concordent avec l’outil Excel.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D.2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Il est proposé de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supprimer les anciennes saisies de test, après archivage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et d’empêcher la suppression d’un utilisateur auteur de projets (contrainte en base).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Équipe SI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rowSpan="3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Import par IA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banc d’essai a validé l’import de bout en bout :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note, verrous et plafonds conformes dans les 18 cas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(lecteur de test, sans le modèle d’IA réel).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Origine des champs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l’IA lit les pièces (PDF, scans, Word, Excel) et propose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plus de 300 champs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; chaque valeur reprise affiche son origine sous le champ (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pièce, page, confiance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) et la valeur initiale reste lisible si l’analyste la modifie.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Les origines IA ne s’écrivent que côté serveur, à l’acceptation d’une proposition.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A.3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Configurer le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stockage des pièces et la clé d’API de l’IA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sur l’hébergement, puis réaliser un essai avec le modèle réel sur deux cas.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Équipe SI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 rowSpan="2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Stress test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I.7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Bibliothèque de scénarios défavorables de référence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pour les 12 secteurs (risque principal, baisse des recettes, hausse des charges, source), proposée au bloc 6.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Calcul du choc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(recettes perdues + charges supplémentaires) ÷ CFADS central ; DSCR stressé = DSCR central × (1 − choc). Ex. : choc 14 %, DSCR 1,29 → 1,11.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D.3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Il est proposé de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faire valider les scénarios de référence par secteur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par le Comité de validation du modèle, après avis des experts.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Risques Groupe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2636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A7A7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" y="109728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9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Relevé d’informations, de décisions et d’actions (3/3)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" y="658368"/>
          <a:ext cx="11750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58368"/>
                <a:gridCol w="786384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Thématique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Réf.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Information (I) / Actions (A) / Décision (D)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Responsable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58368">
                <a:tc rowSpan="3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Volet climatique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I.8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Lot 1 en service, sans effet sur la note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fiche climat (6 aléas présélectionnés par secteur ; transition : émissions, MACF, actif fossile, plan de transition ; scénario climatique ; fiche directive BAM 2/W/2025).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I.9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Lot 2 intégré, inactif par défaut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(interrupteur du paramétrage) : exposition déduite des aléas, C11 révisé,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plafonds C16 et C17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sous-critère D9.5 « risque de transition » (15 % de D9), scénario climatique pris dans N2.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Étude d’impact sur les 18 cas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1 note modifiée (huilerie d’olives, 8 → 6), 8 dossiers avec un plafond climatique, 10 expositions retenues différentes de la case déclarée.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Dossier de validation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préparé.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D.4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Il est proposé de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soumettre le dossier de validation du lot 2 au Comité de validation du modèle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puis d’activer le lot 2 à une date fixée par ce comité.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Risques Groupe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rowSpan="2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Outil Excel et documents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I.10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Outil Excel version 4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section 14 « Volet climatique » et règles du lot 2 activables par le paramètre « Lot 2 actif » (« Non » par défaut) ; concordance des 18 cas contrôlée lot 2 inactif et actif.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I.11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Documents mis à jour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: présentation du modèle et discours, note pédagogique sur le stress test, proposition et dossier de validation du volet climatique.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Conduite de changement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D.5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Il est proposé de mener la conduite de changement en deux niveaux :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revue du modèle par les experts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(questionnaire, présentation, discours), puis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formation des chargés d’affaires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fiche climat comprise, après validation du modèle.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Pilotage transverse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127000" marT="50800" marB="508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5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A.4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marL="177800" indent="-177800">
                        <a:spcAft>
                          <a:spcPts val="400"/>
                        </a:spcAft>
                        <a:buSzPct val="100000"/>
                        <a:buChar char="▪"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Planifier un </a:t>
                      </a: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Comité de validation du modèle</a:t>
                      </a: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(paramètres, scénarios de stress, lot 2 climatique), puis un Comité de pilotage auprès de la Direction générale pour restituer les réalisations.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4040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Risques Groupe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2636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A7A7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Banque Populaire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Compte-rendu du Comité de Pilotage — Modèle de scoring Project Finance</dc:title>
  <dc:subject>PptxGenJS Presentation</dc:subject>
  <dc:creator>Risques Groupe</dc:creator>
  <cp:lastModifiedBy>Risques Groupe</cp:lastModifiedBy>
  <cp:revision>1</cp:revision>
  <dcterms:created xsi:type="dcterms:W3CDTF">2026-10-27T11:55:18Z</dcterms:created>
  <dcterms:modified xsi:type="dcterms:W3CDTF">2026-10-27T11:55:18Z</dcterms:modified>
</cp:coreProperties>
</file>