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b28ed26-b894-4298-26c1-b19e16b5b9bd}">
          <p14:sldIdLst>
            <p14:sldId id="256"/>
            <p14:sldId id="257"/>
            <p14:sldId id="258"/>
          </p14:sldIdLst>
        </p14:section>
        <p14:section name="Le modèle" id="{dfa44cc2-c7ec-c2c1-3c6b-ac7b3adf9436}">
          <p14:sldIdLst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(document Word) : ouverture et objet de la présentation.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la problématique du scoring des financements de projet en contexte marocain.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les six apports concrets du modèle.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construction de la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les neuf domaines.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le noyau financier.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Voir le discours : garde-fous et conversion.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Modèle de scoring Project Finance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_SOMBRE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C7D5"/>
                </a:solidFill>
              </a:rPr>
              <a:t>Modèle de scoring Project Finance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C7D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FINANCEMENT DE PROJET · MÉTHODOLOGIE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Modèle de scoring Project Finance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C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les financements de projet au Maroc avec une note fondée sur les flux du projet et ses garde-fous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2761488" cy="384048"/>
          </a:xfrm>
          <a:prstGeom prst="roundRect">
            <a:avLst>
              <a:gd name="adj" fmla="val 50000"/>
            </a:avLst>
          </a:prstGeom>
          <a:solidFill>
            <a:srgbClr val="B8862E"/>
          </a:solidFill>
          <a:ln w="9525">
            <a:solidFill>
              <a:srgbClr val="B886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97764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Bâle — slotting CRE33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3008" y="3977640"/>
            <a:ext cx="3090672" cy="384048"/>
          </a:xfrm>
          <a:prstGeom prst="roundRect">
            <a:avLst>
              <a:gd name="adj" fmla="val 50000"/>
            </a:avLst>
          </a:prstGeom>
          <a:solidFill>
            <a:srgbClr val="24345A"/>
          </a:solidFill>
          <a:ln w="9525">
            <a:solidFill>
              <a:srgbClr val="6B7A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93008" y="397764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Normes SFI (IFC) et BERD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66560" y="39776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4345A"/>
          </a:solidFill>
          <a:ln w="9525">
            <a:solidFill>
              <a:srgbClr val="6B7A9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Al-Maghrib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Noter un financement de projet au Maroc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Énergies renouvelables, dessalement, infrastructures, partenariats public-privé : les projets se multiplient et les montants engagés par les banques avec eux.</a:t>
            </a:r>
            <a:endParaRPr lang="en-US" sz="1400" dirty="0"/>
          </a:p>
        </p:txBody>
      </p:sp>
      <p:sp>
        <p:nvSpPr>
          <p:cNvPr id="4" name="colonne-1"/>
          <p:cNvSpPr/>
          <p:nvPr/>
        </p:nvSpPr>
        <p:spPr>
          <a:xfrm>
            <a:off x="457200" y="160020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82880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8288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objet difficile à noter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33172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société de projet sans historique ni bilan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remboursement par les seuls flux du projet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risques qui changent avec la phase : construction, montée en charge, exploitation</a:t>
            </a:r>
            <a:endParaRPr lang="en-US" sz="1250" dirty="0"/>
          </a:p>
        </p:txBody>
      </p:sp>
      <p:sp>
        <p:nvSpPr>
          <p:cNvPr id="9" name="colonne-2"/>
          <p:cNvSpPr/>
          <p:nvPr/>
        </p:nvSpPr>
        <p:spPr>
          <a:xfrm>
            <a:off x="3264408" y="160020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5576" y="182880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8288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pratiques à consolider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65576" y="233172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grilles d’entreprise peu adaptées au financement de projet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jugement d’expert peu standardisé : des notes difficiles à comparer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justification et une traçabilité inégales d’un dossier à l’autre</a:t>
            </a:r>
            <a:endParaRPr lang="en-US" sz="1250" dirty="0"/>
          </a:p>
        </p:txBody>
      </p:sp>
      <p:sp>
        <p:nvSpPr>
          <p:cNvPr id="14" name="colonne-3"/>
          <p:cNvSpPr/>
          <p:nvPr/>
        </p:nvSpPr>
        <p:spPr>
          <a:xfrm>
            <a:off x="6071616" y="1600200"/>
            <a:ext cx="2615184" cy="3017520"/>
          </a:xfrm>
          <a:prstGeom prst="roundRect">
            <a:avLst>
              <a:gd name="adj" fmla="val 2797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828800"/>
            <a:ext cx="384048" cy="384048"/>
          </a:xfrm>
          <a:prstGeom prst="ellipse">
            <a:avLst/>
          </a:prstGeom>
          <a:solidFill>
            <a:srgbClr val="B8862E"/>
          </a:solidFill>
          <a:ln w="12700">
            <a:solidFill>
              <a:srgbClr val="B886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7278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82880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exigences qui montent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72784" y="233172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Bâle : critères du slotting du financement de projet (CRE33)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Al-Maghrib : consortialisation (3/W/2025), risques climatiques (2/W/2025)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Bailleurs : normes environnementales et sociales SFI et BERD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modèle apporte concrètement</a:t>
            </a:r>
            <a:endParaRPr lang="en-US" sz="2600" dirty="0"/>
          </a:p>
        </p:txBody>
      </p:sp>
      <p:sp>
        <p:nvSpPr>
          <p:cNvPr id="3" name="apport-1"/>
          <p:cNvSpPr/>
          <p:nvPr/>
        </p:nvSpPr>
        <p:spPr>
          <a:xfrm>
            <a:off x="457200" y="114300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34416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52144" y="1271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note reproductible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92938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Situations décrites et pièces à vérifier : deux analystes aboutissent à la même note.</a:t>
            </a:r>
            <a:endParaRPr lang="en-US" sz="1200" dirty="0"/>
          </a:p>
        </p:txBody>
      </p:sp>
      <p:sp>
        <p:nvSpPr>
          <p:cNvPr id="8" name="apport-2"/>
          <p:cNvSpPr/>
          <p:nvPr/>
        </p:nvSpPr>
        <p:spPr>
          <a:xfrm>
            <a:off x="3264408" y="114300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65576" y="134416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65576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59352" y="1271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Pensée pour le project finance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65576" y="192938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Flux, phase, régime de revenus et douze secteurs, dont le dessalement et les ENR.</a:t>
            </a:r>
            <a:endParaRPr lang="en-US" sz="1200" dirty="0"/>
          </a:p>
        </p:txBody>
      </p:sp>
      <p:sp>
        <p:nvSpPr>
          <p:cNvPr id="13" name="apport-3"/>
          <p:cNvSpPr/>
          <p:nvPr/>
        </p:nvSpPr>
        <p:spPr>
          <a:xfrm>
            <a:off x="6071616" y="114300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4416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72784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27101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garde-fous objectifs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72784" y="192938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Quinze plafonds et douze verrous : une moyenne ne masque jamais un point de rupture.</a:t>
            </a:r>
            <a:endParaRPr lang="en-US" sz="1200" dirty="0"/>
          </a:p>
        </p:txBody>
      </p:sp>
      <p:sp>
        <p:nvSpPr>
          <p:cNvPr id="18" name="apport-4"/>
          <p:cNvSpPr/>
          <p:nvPr/>
        </p:nvSpPr>
        <p:spPr>
          <a:xfrm>
            <a:off x="457200" y="2926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6EEDC"/>
          </a:solidFill>
          <a:ln w="9525">
            <a:solidFill>
              <a:srgbClr val="F6EE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127248"/>
            <a:ext cx="384048" cy="384048"/>
          </a:xfrm>
          <a:prstGeom prst="ellipse">
            <a:avLst/>
          </a:prstGeom>
          <a:solidFill>
            <a:srgbClr val="B8862E"/>
          </a:solidFill>
          <a:ln w="12700">
            <a:solidFill>
              <a:srgbClr val="B886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" y="30540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analyse proportionnée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3712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Régimes simplifié, standard et approfondi selon la taille et la complexité.</a:t>
            </a:r>
            <a:endParaRPr lang="en-US" sz="1200" dirty="0"/>
          </a:p>
        </p:txBody>
      </p:sp>
      <p:sp>
        <p:nvSpPr>
          <p:cNvPr id="23" name="apport-5"/>
          <p:cNvSpPr/>
          <p:nvPr/>
        </p:nvSpPr>
        <p:spPr>
          <a:xfrm>
            <a:off x="3264408" y="2926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6EEDC"/>
          </a:solidFill>
          <a:ln w="9525">
            <a:solidFill>
              <a:srgbClr val="F6EE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65576" y="3127248"/>
            <a:ext cx="384048" cy="384048"/>
          </a:xfrm>
          <a:prstGeom prst="ellipse">
            <a:avLst/>
          </a:prstGeom>
          <a:solidFill>
            <a:srgbClr val="B8862E"/>
          </a:solidFill>
          <a:ln w="12700">
            <a:solidFill>
              <a:srgbClr val="B8862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65576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959352" y="30540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décision traçable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465576" y="3712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note justifiée par ses pièces : auditable, alignée sur Bâle, BAM, SFI et BERD.</a:t>
            </a:r>
            <a:endParaRPr lang="en-US" sz="1200" dirty="0"/>
          </a:p>
        </p:txBody>
      </p:sp>
      <p:sp>
        <p:nvSpPr>
          <p:cNvPr id="28" name="apport-6"/>
          <p:cNvSpPr/>
          <p:nvPr/>
        </p:nvSpPr>
        <p:spPr>
          <a:xfrm>
            <a:off x="6071616" y="2926080"/>
            <a:ext cx="2615184" cy="1600200"/>
          </a:xfrm>
          <a:prstGeom prst="roundRect">
            <a:avLst>
              <a:gd name="adj" fmla="val 4571"/>
            </a:avLst>
          </a:prstGeom>
          <a:solidFill>
            <a:srgbClr val="F6EEDC"/>
          </a:solidFill>
          <a:ln w="9525">
            <a:solidFill>
              <a:srgbClr val="F6EE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3127248"/>
            <a:ext cx="384048" cy="384048"/>
          </a:xfrm>
          <a:prstGeom prst="ellipse">
            <a:avLst/>
          </a:prstGeom>
          <a:solidFill>
            <a:srgbClr val="B8862E"/>
          </a:solidFill>
          <a:ln w="12700">
            <a:solidFill>
              <a:srgbClr val="B886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72784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30540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langage commun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272784" y="3712464"/>
            <a:ext cx="2267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grade AAA à D, des forces, des faiblesses et des conditions explicites.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note se construit en cinq étapes</a:t>
            </a:r>
            <a:endParaRPr lang="en-US" sz="2600" dirty="0"/>
          </a:p>
        </p:txBody>
      </p:sp>
      <p:sp>
        <p:nvSpPr>
          <p:cNvPr id="3" name="etape-1"/>
          <p:cNvSpPr/>
          <p:nvPr/>
        </p:nvSpPr>
        <p:spPr>
          <a:xfrm>
            <a:off x="457200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53312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Routage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Régime, secteur et phase fixent seuils et poids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002536" y="2029968"/>
            <a:ext cx="118872" cy="182880"/>
          </a:xfrm>
          <a:prstGeom prst="chevron">
            <a:avLst/>
          </a:prstGeom>
          <a:solidFill>
            <a:srgbClr val="B8862E"/>
          </a:solidFill>
          <a:ln w="12700">
            <a:solidFill>
              <a:srgbClr val="B8862E"/>
            </a:solidFill>
            <a:prstDash val="solid"/>
          </a:ln>
        </p:spPr>
      </p:sp>
      <p:sp>
        <p:nvSpPr>
          <p:cNvPr id="9" name="etape-2"/>
          <p:cNvSpPr/>
          <p:nvPr/>
        </p:nvSpPr>
        <p:spPr>
          <a:xfrm>
            <a:off x="2139696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04288" y="1353312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04288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Noyau financier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indicateurs N1 à N6 sur la dette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85032" y="2029968"/>
            <a:ext cx="118872" cy="182880"/>
          </a:xfrm>
          <a:prstGeom prst="chevron">
            <a:avLst/>
          </a:prstGeom>
          <a:solidFill>
            <a:srgbClr val="B8862E"/>
          </a:solidFill>
          <a:ln w="12700">
            <a:solidFill>
              <a:srgbClr val="B8862E"/>
            </a:solidFill>
            <a:prstDash val="solid"/>
          </a:ln>
        </p:spPr>
      </p:sp>
      <p:sp>
        <p:nvSpPr>
          <p:cNvPr id="15" name="etape-3"/>
          <p:cNvSpPr/>
          <p:nvPr/>
        </p:nvSpPr>
        <p:spPr>
          <a:xfrm>
            <a:off x="3822192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86784" y="1353312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86784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986784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Grille qualitative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986784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critères, une situation par critère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367528" y="2029968"/>
            <a:ext cx="118872" cy="182880"/>
          </a:xfrm>
          <a:prstGeom prst="chevron">
            <a:avLst/>
          </a:prstGeom>
          <a:solidFill>
            <a:srgbClr val="B8862E"/>
          </a:solidFill>
          <a:ln w="12700">
            <a:solidFill>
              <a:srgbClr val="B8862E"/>
            </a:solidFill>
            <a:prstDash val="solid"/>
          </a:ln>
        </p:spPr>
      </p:sp>
      <p:sp>
        <p:nvSpPr>
          <p:cNvPr id="21" name="etape-4"/>
          <p:cNvSpPr/>
          <p:nvPr/>
        </p:nvSpPr>
        <p:spPr>
          <a:xfrm>
            <a:off x="5504688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0" y="1353312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0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et note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sur 100, note de 1 à 10, grade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050024" y="2029968"/>
            <a:ext cx="118872" cy="182880"/>
          </a:xfrm>
          <a:prstGeom prst="chevron">
            <a:avLst/>
          </a:prstGeom>
          <a:solidFill>
            <a:srgbClr val="B8862E"/>
          </a:solidFill>
          <a:ln w="12700">
            <a:solidFill>
              <a:srgbClr val="B8862E"/>
            </a:solidFill>
            <a:prstDash val="solid"/>
          </a:ln>
        </p:spPr>
      </p:sp>
      <p:sp>
        <p:nvSpPr>
          <p:cNvPr id="27" name="etape-5"/>
          <p:cNvSpPr/>
          <p:nvPr/>
        </p:nvSpPr>
        <p:spPr>
          <a:xfrm>
            <a:off x="7187184" y="1188720"/>
            <a:ext cx="1517904" cy="1874520"/>
          </a:xfrm>
          <a:prstGeom prst="roundRect">
            <a:avLst>
              <a:gd name="adj" fmla="val 4819"/>
            </a:avLst>
          </a:prstGeom>
          <a:solidFill>
            <a:srgbClr val="F6EEDC"/>
          </a:solidFill>
          <a:ln w="9525">
            <a:solidFill>
              <a:srgbClr val="F6EE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51776" y="1353312"/>
            <a:ext cx="384048" cy="384048"/>
          </a:xfrm>
          <a:prstGeom prst="ellipse">
            <a:avLst/>
          </a:prstGeom>
          <a:solidFill>
            <a:srgbClr val="B8862E"/>
          </a:solidFill>
          <a:ln w="12700">
            <a:solidFill>
              <a:srgbClr val="B8862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51776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351776" y="1810512"/>
            <a:ext cx="1243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Plafonds et verrous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7351776" y="2359152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faiblesse objective limite la note</a:t>
            </a:r>
            <a:endParaRPr lang="en-US" sz="1150" dirty="0"/>
          </a:p>
        </p:txBody>
      </p:sp>
      <p:sp>
        <p:nvSpPr>
          <p:cNvPr id="32" name="regle"/>
          <p:cNvSpPr/>
          <p:nvPr/>
        </p:nvSpPr>
        <p:spPr>
          <a:xfrm>
            <a:off x="457200" y="329184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3291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8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 approuvée  </a:t>
            </a:r>
            <a:pPr indent="0" marL="0">
              <a:buNone/>
            </a:pPr>
            <a:r>
              <a:rPr lang="en-US" sz="1400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la plus basse entre la note calculée et les plafonds actifs. Une exclusion ne produit aucune note ; un blocage la rend provisoire.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Échelle des situations : Très favorable 100 · Favorable 80 · Vigilance 50 · Critique 20 · Info. insuffisante 20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Neuf domaines, pondérés selon la phase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1005840"/>
                <a:gridCol w="10058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Montée en 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· Sponsors et actionnariat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· Projet, site, technologie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 · Construction et achèvement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 · Mécanisme des recettes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D5 · Exploitation et maintenance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 · Contreparties et consortium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 · Finance et trésorerie (noyau)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E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E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E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ED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D8 · Juridique, sûretés, continuité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D9 · ESG et climat résiduel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phase"/>
          <p:cNvSpPr/>
          <p:nvPr/>
        </p:nvSpPr>
        <p:spPr>
          <a:xfrm>
            <a:off x="6126480" y="1097280"/>
            <a:ext cx="2560320" cy="1572768"/>
          </a:xfrm>
          <a:prstGeom prst="roundRect">
            <a:avLst>
              <a:gd name="adj" fmla="val 4651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309360" y="12070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risque se déplace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536192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construction, l’achèvement domine. En exploitation, recettes, exploitation et contreparties prennent le relais.</a:t>
            </a:r>
            <a:endParaRPr lang="en-US" sz="1200" dirty="0"/>
          </a:p>
        </p:txBody>
      </p:sp>
      <p:sp>
        <p:nvSpPr>
          <p:cNvPr id="7" name="criteres"/>
          <p:cNvSpPr/>
          <p:nvPr/>
        </p:nvSpPr>
        <p:spPr>
          <a:xfrm>
            <a:off x="6126480" y="2834640"/>
            <a:ext cx="2560320" cy="1325880"/>
          </a:xfrm>
          <a:prstGeom prst="roundRect">
            <a:avLst>
              <a:gd name="adj" fmla="val 5517"/>
            </a:avLst>
          </a:prstGeom>
          <a:solidFill>
            <a:srgbClr val="F2F4F7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093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critères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255264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ou quatre par domaine, avec leur poids et leurs pièces à vérifier ; quatre ont une version par secteur.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colonne totalise 100 % ; le score d’un domaine est la moyenne pondérée de ses critères.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noyau financier, cœur de la note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indicateurs (D7)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15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 · DSCR minimum, central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 · DSCR minimum, défavorable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 · LLCR ou financement à terminaison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N4 · Liquidité (DSRA, cascade)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N5 · Levier, fonds propres à risque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 · Taux, change, refinancement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703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N1 à N3 calculés sur l’échéancier ; N4 à N6 choisis sur pièces.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Seuils DSCR par régime de revenus</a:t>
            </a:r>
            <a:endParaRPr lang="en-US" sz="14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417320"/>
          <a:ext cx="39319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822960"/>
                <a:gridCol w="8229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Critique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Vigilance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Favorable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 · Take-or-pay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 · Disponibilité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 · Volume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 · Marché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4A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formule"/>
          <p:cNvSpPr/>
          <p:nvPr/>
        </p:nvSpPr>
        <p:spPr>
          <a:xfrm>
            <a:off x="4754880" y="310896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F6EEDC"/>
          </a:solidFill>
          <a:ln w="9525">
            <a:solidFill>
              <a:srgbClr val="F6EED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937760" y="31546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appliqué = base du régime + écart du secteur + phase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D4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de −0,05 (renouvelables) à +0,25 (mines) ; +0,05 en montée en charge.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: hôtel en montée en charge (R4, tourisme) — seuil critique 1,35 + 0,20 + 0,05 = 1,60.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garde-fous encadrent la note finale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Plafonds — 15 faits objectifs (exemples)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8686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 générateur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45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 max.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4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· DSCR inférieur à 1,05x sur une échéance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· DSCR défavorable inférieur à 1,00x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 · LLCR inférieur à 1,10x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C9 · Dette au-delà de 85 % du financement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 · Réserve DSRA sous 3 mois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C15 · Évaluation partielle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rrou-1"/>
          <p:cNvSpPr/>
          <p:nvPr/>
        </p:nvSpPr>
        <p:spPr>
          <a:xfrm>
            <a:off x="457200" y="3520440"/>
            <a:ext cx="2322576" cy="960120"/>
          </a:xfrm>
          <a:prstGeom prst="roundRect">
            <a:avLst>
              <a:gd name="adj" fmla="val 7619"/>
            </a:avLst>
          </a:prstGeom>
          <a:solidFill>
            <a:srgbClr val="24345A"/>
          </a:solidFill>
          <a:ln w="12700">
            <a:solidFill>
              <a:srgbClr val="2434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593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Exclusions X1–X4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91363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C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note : activité interdite, sanctions, défaut.</a:t>
            </a:r>
            <a:endParaRPr lang="en-US" sz="1150" dirty="0"/>
          </a:p>
        </p:txBody>
      </p:sp>
      <p:sp>
        <p:nvSpPr>
          <p:cNvPr id="8" name="verrou-2"/>
          <p:cNvSpPr/>
          <p:nvPr/>
        </p:nvSpPr>
        <p:spPr>
          <a:xfrm>
            <a:off x="2889504" y="3520440"/>
            <a:ext cx="2322576" cy="960120"/>
          </a:xfrm>
          <a:prstGeom prst="roundRect">
            <a:avLst>
              <a:gd name="adj" fmla="val 7619"/>
            </a:avLst>
          </a:prstGeom>
          <a:solidFill>
            <a:srgbClr val="24345A"/>
          </a:solidFill>
          <a:ln w="12700">
            <a:solidFill>
              <a:srgbClr val="2434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54096" y="35935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Blocages B1–B8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054096" y="391363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C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provisoire, stade bloqué indiqué.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1051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5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score au grade</a:t>
            </a:r>
            <a:endParaRPr lang="en-US" sz="14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17320"/>
          <a:ext cx="31089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868680"/>
                <a:gridCol w="109728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dès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45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45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45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· 32 ·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2 ·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F4F1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 · C · 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4526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FC7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candidats, à valider par le comité de validation du modèle.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C7D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oring PF">
  <a:themeElements>
    <a:clrScheme name="Scoring PF">
      <a:dk1>
        <a:srgbClr val="14213D"/>
      </a:dk1>
      <a:lt1>
        <a:srgbClr val="FFFFFF"/>
      </a:lt1>
      <a:dk2>
        <a:srgbClr val="3D4A5C"/>
      </a:dk2>
      <a:lt2>
        <a:srgbClr val="F2F4F7"/>
      </a:lt2>
      <a:accent1>
        <a:srgbClr val="B8862E"/>
      </a:accent1>
      <a:accent2>
        <a:srgbClr val="24345A"/>
      </a:accent2>
      <a:accent3>
        <a:srgbClr val="2F6F8F"/>
      </a:accent3>
      <a:accent4>
        <a:srgbClr val="E8D9B5"/>
      </a:accent4>
      <a:accent5>
        <a:srgbClr val="C0392B"/>
      </a:accent5>
      <a:accent6>
        <a:srgbClr val="6B7A99"/>
      </a:accent6>
      <a:hlink>
        <a:srgbClr val="2F6F8F"/>
      </a:hlink>
      <a:folHlink>
        <a:srgbClr val="6B7A99"/>
      </a:folHlink>
    </a:clrScheme>
    <a:fontScheme name="Scoring PF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Modèle de scoring Project Finance</dc:title>
  <dc:subject>PptxGenJS Presentation</dc:subject>
  <dc:creator>Direction des risques</dc:creator>
  <cp:lastModifiedBy>Direction des risques</cp:lastModifiedBy>
  <cp:revision>1</cp:revision>
  <dcterms:created xsi:type="dcterms:W3CDTF">2026-10-20T07:46:22Z</dcterms:created>
  <dcterms:modified xsi:type="dcterms:W3CDTF">2026-10-20T07:46:22Z</dcterms:modified>
</cp:coreProperties>
</file>