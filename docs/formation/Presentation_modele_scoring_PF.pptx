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1efad00-cb20-95b4-bb96-49c394149ed9}">
          <p14:sldIdLst>
            <p14:sldId id="256"/>
            <p14:sldId id="257"/>
            <p14:sldId id="258"/>
          </p14:sldIdLst>
        </p14:section>
        <p14:section name="Le modèle" id="{928fb522-dffd-73b8-e4ad-31bafbfa0bf9}">
          <p14:sldIdLst>
            <p14:sldId id="259"/>
            <p14:sldId id="260"/>
            <p14:sldId id="261"/>
            <p14:sldId id="262"/>
          </p14:sldIdLst>
        </p14:section>
        <p14:section name="Exemples" id="{c863bb5a-95d9-239d-11d4-acd6be3ccad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(document Word) : ouverture et objet de la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la problématique du scoring des financements de projet en contexte marocain.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les six apports concrets du modèle.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construction de la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les neuf domaines.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 noyau financier.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garde-fous et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deux exemples de notation (cas fictifs).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50992" y="1536192"/>
            <a:ext cx="3337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Risques Groupe · Modèle de scoring Project Finance</a:t>
            </a:r>
            <a:endParaRPr lang="en-US" sz="1000" dirty="0"/>
          </a:p>
        </p:txBody>
      </p:sp>
      <p:pic>
        <p:nvPicPr>
          <p:cNvPr id="4" name="Image 0" descr="/tmp/claude-0/-home-user-pf-scoring-v7claude/d11f4f78-9bb9-537e-bf92-1c77ead7b84d/scratchpad/prez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54864"/>
            <a:ext cx="1234440" cy="5852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_SOM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Risques Groupe · Modèle de scoring Project Finance</a:t>
            </a:r>
            <a:endParaRPr lang="en-US" sz="1000" dirty="0"/>
          </a:p>
        </p:txBody>
      </p:sp>
      <p:pic>
        <p:nvPicPr>
          <p:cNvPr id="4" name="Image 0" descr="/tmp/claude-0/-home-user-pf-scoring-v7claude/d11f4f78-9bb9-537e-bf92-1c77ead7b84d/scratchpad/prez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54864"/>
            <a:ext cx="1234440" cy="5852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ins réunies (illustration du support Banque Populair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60120"/>
            <a:ext cx="8613648" cy="3063240"/>
          </a:xfrm>
          <a:prstGeom prst="rect">
            <a:avLst/>
          </a:prstGeom>
        </p:spPr>
      </p:pic>
      <p:pic>
        <p:nvPicPr>
          <p:cNvPr id="3" name="Image 1" descr="Logo Banque Popula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-64008"/>
            <a:ext cx="2468880" cy="1170432"/>
          </a:xfrm>
          <a:prstGeom prst="rect">
            <a:avLst/>
          </a:prstGeom>
        </p:spPr>
      </p:pic>
      <p:sp>
        <p:nvSpPr>
          <p:cNvPr id="4" name="bandeau-titre"/>
          <p:cNvSpPr/>
          <p:nvPr/>
        </p:nvSpPr>
        <p:spPr>
          <a:xfrm>
            <a:off x="5486400" y="1389888"/>
            <a:ext cx="3657600" cy="2103120"/>
          </a:xfrm>
          <a:prstGeom prst="rect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650992" y="1536192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scoring Project Finance</a:t>
            </a:r>
            <a:endParaRPr lang="en-US" sz="2100" dirty="0"/>
          </a:p>
        </p:txBody>
      </p:sp>
      <p:sp>
        <p:nvSpPr>
          <p:cNvPr id="6" name="Text 2"/>
          <p:cNvSpPr txBox="1"/>
          <p:nvPr/>
        </p:nvSpPr>
        <p:spPr>
          <a:xfrm>
            <a:off x="5650992" y="237744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financements de projet au Maroc sur les flux du projet, avec des garde-fous objectifs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5650992" y="3108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C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Bâle (slotting CRE33) · SFI et BERD · Bank Al-Maghrib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Groupe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du modèle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un financement de projet au Maroc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Énergies renouvelables, dessalement, infrastructures, partenariats public-privé : les projets se multiplient et les montants engagés par les banques avec eux.</a:t>
            </a:r>
            <a:endParaRPr lang="en-US" sz="1400" dirty="0"/>
          </a:p>
        </p:txBody>
      </p:sp>
      <p:sp>
        <p:nvSpPr>
          <p:cNvPr id="4" name="colonne-1"/>
          <p:cNvSpPr/>
          <p:nvPr/>
        </p:nvSpPr>
        <p:spPr>
          <a:xfrm>
            <a:off x="457200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28800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 difficile à noter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société de projet sans historique ni bilan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remboursement par les seuls flux du projet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risques qui changent avec la phase : construction, montée en charge, exploitation</a:t>
            </a:r>
            <a:endParaRPr lang="en-US" sz="1250" dirty="0"/>
          </a:p>
        </p:txBody>
      </p:sp>
      <p:sp>
        <p:nvSpPr>
          <p:cNvPr id="9" name="colonne-2"/>
          <p:cNvSpPr/>
          <p:nvPr/>
        </p:nvSpPr>
        <p:spPr>
          <a:xfrm>
            <a:off x="3264408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5576" y="1828800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pratiques à consolider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65576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grilles d’entreprise peu adaptées au financement de projet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jugement d’expert peu standardisé : des notes difficiles à comparer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justification et une traçabilité inégales d’un dossier à l’autre</a:t>
            </a:r>
            <a:endParaRPr lang="en-US" sz="1250" dirty="0"/>
          </a:p>
        </p:txBody>
      </p:sp>
      <p:sp>
        <p:nvSpPr>
          <p:cNvPr id="14" name="colonne-3"/>
          <p:cNvSpPr/>
          <p:nvPr/>
        </p:nvSpPr>
        <p:spPr>
          <a:xfrm>
            <a:off x="6071616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828800"/>
            <a:ext cx="384048" cy="384048"/>
          </a:xfrm>
          <a:prstGeom prst="ellipse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7278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exigences qui montent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72784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Bâle : critères du slotting du financement de projet (CRE33)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Al-Maghrib : consortialisation (3/W/2025), risques climatiques (2/W/2025)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Bailleurs : normes environnementales et sociales SFI et BERD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modèle apporte concrètement</a:t>
            </a:r>
            <a:endParaRPr lang="en-US" sz="2400" dirty="0"/>
          </a:p>
        </p:txBody>
      </p:sp>
      <p:sp>
        <p:nvSpPr>
          <p:cNvPr id="3" name="apport-1"/>
          <p:cNvSpPr/>
          <p:nvPr/>
        </p:nvSpPr>
        <p:spPr>
          <a:xfrm>
            <a:off x="457200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44168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52144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note reproductible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Situations décrites et pièces à vérifier : deux analystes aboutissent à la même note.</a:t>
            </a:r>
            <a:endParaRPr lang="en-US" sz="1200" dirty="0"/>
          </a:p>
        </p:txBody>
      </p:sp>
      <p:sp>
        <p:nvSpPr>
          <p:cNvPr id="8" name="apport-2"/>
          <p:cNvSpPr/>
          <p:nvPr/>
        </p:nvSpPr>
        <p:spPr>
          <a:xfrm>
            <a:off x="3264408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5576" y="1344168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65576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59352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Pensée pour le project finance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phase, régime de revenus et douze secteurs, dont le dessalement et les ENR.</a:t>
            </a:r>
            <a:endParaRPr lang="en-US" sz="1200" dirty="0"/>
          </a:p>
        </p:txBody>
      </p:sp>
      <p:sp>
        <p:nvSpPr>
          <p:cNvPr id="13" name="apport-3"/>
          <p:cNvSpPr/>
          <p:nvPr/>
        </p:nvSpPr>
        <p:spPr>
          <a:xfrm>
            <a:off x="6071616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44168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72784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garde-fous objectifs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Quinze plafonds et douze verrous : une moyenne ne masque jamais un point de rupture.</a:t>
            </a:r>
            <a:endParaRPr lang="en-US" sz="1200" dirty="0"/>
          </a:p>
        </p:txBody>
      </p:sp>
      <p:sp>
        <p:nvSpPr>
          <p:cNvPr id="18" name="apport-4"/>
          <p:cNvSpPr/>
          <p:nvPr/>
        </p:nvSpPr>
        <p:spPr>
          <a:xfrm>
            <a:off x="457200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DEBD3"/>
          </a:solidFill>
          <a:ln w="9525">
            <a:solidFill>
              <a:srgbClr val="FDEB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127248"/>
            <a:ext cx="384048" cy="384048"/>
          </a:xfrm>
          <a:prstGeom prst="ellipse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analyse proportionnée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simplifié, standard et approfondi selon la taille et la complexité.</a:t>
            </a:r>
            <a:endParaRPr lang="en-US" sz="1200" dirty="0"/>
          </a:p>
        </p:txBody>
      </p:sp>
      <p:sp>
        <p:nvSpPr>
          <p:cNvPr id="23" name="apport-5"/>
          <p:cNvSpPr/>
          <p:nvPr/>
        </p:nvSpPr>
        <p:spPr>
          <a:xfrm>
            <a:off x="3264408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DEBD3"/>
          </a:solidFill>
          <a:ln w="9525">
            <a:solidFill>
              <a:srgbClr val="FDEB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65576" y="3127248"/>
            <a:ext cx="384048" cy="384048"/>
          </a:xfrm>
          <a:prstGeom prst="ellipse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65576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59352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décision traçable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465576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note justifiée par ses pièces : auditable, alignée sur Bâle, BAM, SFI et BERD.</a:t>
            </a:r>
            <a:endParaRPr lang="en-US" sz="1200" dirty="0"/>
          </a:p>
        </p:txBody>
      </p:sp>
      <p:sp>
        <p:nvSpPr>
          <p:cNvPr id="28" name="apport-6"/>
          <p:cNvSpPr/>
          <p:nvPr/>
        </p:nvSpPr>
        <p:spPr>
          <a:xfrm>
            <a:off x="6071616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DEBD3"/>
          </a:solidFill>
          <a:ln w="9525">
            <a:solidFill>
              <a:srgbClr val="FDEBD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3127248"/>
            <a:ext cx="384048" cy="384048"/>
          </a:xfrm>
          <a:prstGeom prst="ellipse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72784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langage commun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272784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grade AAA à D, des forces, des faiblesses et des conditions explicites.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note se construit en cinq étapes</a:t>
            </a:r>
            <a:endParaRPr lang="en-US" sz="2400" dirty="0"/>
          </a:p>
        </p:txBody>
      </p:sp>
      <p:sp>
        <p:nvSpPr>
          <p:cNvPr id="3" name="etape-1"/>
          <p:cNvSpPr/>
          <p:nvPr/>
        </p:nvSpPr>
        <p:spPr>
          <a:xfrm>
            <a:off x="457200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53312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Régime, secteur et phase fixent seuils et poids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2029968"/>
            <a:ext cx="118872" cy="182880"/>
          </a:xfrm>
          <a:prstGeom prst="chevron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9" name="etape-2"/>
          <p:cNvSpPr/>
          <p:nvPr/>
        </p:nvSpPr>
        <p:spPr>
          <a:xfrm>
            <a:off x="2139696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04288" y="1353312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04288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Noyau financier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indicateurs N1 à N6 sur la dette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85032" y="2029968"/>
            <a:ext cx="118872" cy="182880"/>
          </a:xfrm>
          <a:prstGeom prst="chevron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15" name="etape-3"/>
          <p:cNvSpPr/>
          <p:nvPr/>
        </p:nvSpPr>
        <p:spPr>
          <a:xfrm>
            <a:off x="3822192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6784" y="1353312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86784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qualitative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986784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critères, une situation par critère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367528" y="2029968"/>
            <a:ext cx="118872" cy="182880"/>
          </a:xfrm>
          <a:prstGeom prst="chevron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21" name="etape-4"/>
          <p:cNvSpPr/>
          <p:nvPr/>
        </p:nvSpPr>
        <p:spPr>
          <a:xfrm>
            <a:off x="5504688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0" y="1353312"/>
            <a:ext cx="384048" cy="384048"/>
          </a:xfrm>
          <a:prstGeom prst="ellipse">
            <a:avLst/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et note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sur 100, note de 1 à 10, grade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050024" y="2029968"/>
            <a:ext cx="118872" cy="182880"/>
          </a:xfrm>
          <a:prstGeom prst="chevron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27" name="etape-5"/>
          <p:cNvSpPr/>
          <p:nvPr/>
        </p:nvSpPr>
        <p:spPr>
          <a:xfrm>
            <a:off x="7187184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DEBD3"/>
          </a:solidFill>
          <a:ln w="9525">
            <a:solidFill>
              <a:srgbClr val="FDEB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51776" y="1353312"/>
            <a:ext cx="384048" cy="384048"/>
          </a:xfrm>
          <a:prstGeom prst="ellipse">
            <a:avLst/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51776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51776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Plafonds et verrous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351776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faiblesse objective limite la note</a:t>
            </a:r>
            <a:endParaRPr lang="en-US" sz="1150" dirty="0"/>
          </a:p>
        </p:txBody>
      </p:sp>
      <p:sp>
        <p:nvSpPr>
          <p:cNvPr id="32" name="regle"/>
          <p:cNvSpPr/>
          <p:nvPr/>
        </p:nvSpPr>
        <p:spPr>
          <a:xfrm>
            <a:off x="457200" y="32918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approuvée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la plus basse entre la note calculée et les plafonds actifs. Une exclusion ne produit aucune note ; un blocage la rend provisoire.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des situations : Très favorable 100 · Favorable 80 · Vigilance 50 · Critique 20 · Info. insuffisante 20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domaines, pondérés selon la phase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10058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Montée en 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· Sponsors et actionnariat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· Projet, site, technologie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· Construction et achèvement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 · Mécanisme des recettes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 · Exploitation et maintenance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 · Contreparties et consortium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· Finance et trésorerie (noyau)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 · Juridique, sûretés, continuité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D9 · ESG et climat résiduel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hase"/>
          <p:cNvSpPr/>
          <p:nvPr/>
        </p:nvSpPr>
        <p:spPr>
          <a:xfrm>
            <a:off x="6126480" y="1097280"/>
            <a:ext cx="2560320" cy="1572768"/>
          </a:xfrm>
          <a:prstGeom prst="roundRect">
            <a:avLst>
              <a:gd name="adj" fmla="val 4651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2070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risque se déplace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536192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construction, l’achèvement domine. En exploitation, recettes, exploitation et contreparties prennent le relais.</a:t>
            </a:r>
            <a:endParaRPr lang="en-US" sz="1200" dirty="0"/>
          </a:p>
        </p:txBody>
      </p:sp>
      <p:sp>
        <p:nvSpPr>
          <p:cNvPr id="7" name="criteres"/>
          <p:cNvSpPr/>
          <p:nvPr/>
        </p:nvSpPr>
        <p:spPr>
          <a:xfrm>
            <a:off x="6126480" y="283464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critères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255264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ou quatre par domaine, avec leur poids et leurs pièces à vérifier ; quatre ont une version par secteur.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colonne totalise 100 % ; le score d’un domaine est la moyenne pondérée de ses critères.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noyau financier, cœur de la note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4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indicateurs (D7)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· DSCR minimum, central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 · DSCR minimum, défavorable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 · LLCR ou financement à terminaison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N4 · Liquidité (DSRA, cascade)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N5 · Levier, fonds propres à risque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 · Taux, change, refinancement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703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à N3 calculés sur l’échéancier ; N4 à N6 choisis sur pièces.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4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 DSCR par régime de revenus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822960"/>
                <a:gridCol w="822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· Take-or-pay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· Disponibilité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· 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· Marché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formule"/>
          <p:cNvSpPr/>
          <p:nvPr/>
        </p:nvSpPr>
        <p:spPr>
          <a:xfrm>
            <a:off x="4754880" y="310896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DEBD3"/>
          </a:solidFill>
          <a:ln w="9525">
            <a:solidFill>
              <a:srgbClr val="FDEBD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937760" y="31546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appliqué = base du régime + écart du secteur + phase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de −0,05 (renouvelables) à +0,25 (mines) ; +0,05 en montée en charge.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hôtel en montée en charge (R4, tourisme) — seuil critique 1,35 + 0,20 + 0,05 = 1,60.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garde-fous encadrent la note finale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4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Plafonds — 15 faits objectifs (exemples)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8686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 générateur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max.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· DSCR inférieur à 1,05x sur une échéance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· DSCR défavorable inférieur à 1,00x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 · LLCR inférieur à 1,10x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C9 · Dette au-delà de 85 % du financement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 · Réserve DSRA sous 3 mois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C15 · Évaluation partielle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rrou-1"/>
          <p:cNvSpPr/>
          <p:nvPr/>
        </p:nvSpPr>
        <p:spPr>
          <a:xfrm>
            <a:off x="457200" y="3520440"/>
            <a:ext cx="2322576" cy="960120"/>
          </a:xfrm>
          <a:prstGeom prst="roundRect">
            <a:avLst>
              <a:gd name="adj" fmla="val 7619"/>
            </a:avLst>
          </a:prstGeom>
          <a:solidFill>
            <a:srgbClr val="FDEBD3"/>
          </a:solidFill>
          <a:ln w="12700">
            <a:solidFill>
              <a:srgbClr val="FDEB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593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 X1–X4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9136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note : activité interdite, sanctions, défaut.</a:t>
            </a:r>
            <a:endParaRPr lang="en-US" sz="1150" dirty="0"/>
          </a:p>
        </p:txBody>
      </p:sp>
      <p:sp>
        <p:nvSpPr>
          <p:cNvPr id="8" name="verrou-2"/>
          <p:cNvSpPr/>
          <p:nvPr/>
        </p:nvSpPr>
        <p:spPr>
          <a:xfrm>
            <a:off x="2889504" y="3520440"/>
            <a:ext cx="2322576" cy="960120"/>
          </a:xfrm>
          <a:prstGeom prst="roundRect">
            <a:avLst>
              <a:gd name="adj" fmla="val 7619"/>
            </a:avLst>
          </a:prstGeom>
          <a:solidFill>
            <a:srgbClr val="FDEBD3"/>
          </a:solidFill>
          <a:ln w="12700">
            <a:solidFill>
              <a:srgbClr val="FDEB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54096" y="3593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Blocages B1–B8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054096" y="39136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provisoire, stade bloqué indiqué.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051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4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score au grade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31089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86868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dès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90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32 ·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2 ·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· C ·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526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candidats, à valider par le comité de validation du modèle.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exemples : solaire et dessalement</a:t>
            </a:r>
            <a:endParaRPr lang="en-US" sz="2400" dirty="0"/>
          </a:p>
        </p:txBody>
      </p:sp>
      <p:sp>
        <p:nvSpPr>
          <p:cNvPr id="3" name="exemple-1"/>
          <p:cNvSpPr/>
          <p:nvPr/>
        </p:nvSpPr>
        <p:spPr>
          <a:xfrm>
            <a:off x="457200" y="987552"/>
            <a:ext cx="4005072" cy="3639312"/>
          </a:xfrm>
          <a:prstGeom prst="roundRect">
            <a:avLst>
              <a:gd name="adj" fmla="val 2010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789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solaire PV 80 MWc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 · R1 take-or-pay · construction · 707 MMAD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1907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8790F"/>
          </a:solidFill>
          <a:ln w="12700">
            <a:solidFill>
              <a:srgbClr val="E8790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1907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719072" y="17190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9 · score 86,3 / 100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3639312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658368"/>
                <a:gridCol w="149961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central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favorable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défavorable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/ financement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favorable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Noyau D7 (sur 100)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 d’achat 25 ans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Plafonds, verrous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validable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4023360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solide : conditions minimales.</a:t>
            </a:r>
            <a:endParaRPr lang="en-US" sz="1100" dirty="0"/>
          </a:p>
        </p:txBody>
      </p:sp>
      <p:sp>
        <p:nvSpPr>
          <p:cNvPr id="11" name="exemple-2"/>
          <p:cNvSpPr/>
          <p:nvPr/>
        </p:nvSpPr>
        <p:spPr>
          <a:xfrm>
            <a:off x="4681728" y="987552"/>
            <a:ext cx="4005072" cy="3639312"/>
          </a:xfrm>
          <a:prstGeom prst="roundRect">
            <a:avLst>
              <a:gd name="adj" fmla="val 2010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64608" y="10789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Usine de dessalement 100 000 m³/j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864608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 · R2 disponibilité · montée en charge · 2 400 MMAD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64608" y="171907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8B4A17"/>
          </a:solidFill>
          <a:ln w="12700">
            <a:solidFill>
              <a:srgbClr val="8B4A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64608" y="171907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17190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6 · score 67,7 / 100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64608" y="2423160"/>
          <a:ext cx="3639312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658368"/>
                <a:gridCol w="149961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central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défavorable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/ financement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Noyau D7 (sur 100)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35 % de dette en euros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Plafonds, verrous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Consortial (3/W/2025)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864608" y="4023360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4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: conditions et mitigants (couverture de change, DSRA).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que Populaire — Scoring PF">
  <a:themeElements>
    <a:clrScheme name="Banque Populaire — Scoring PF">
      <a:dk1>
        <a:srgbClr val="333333"/>
      </a:dk1>
      <a:lt1>
        <a:srgbClr val="FFFFFF"/>
      </a:lt1>
      <a:dk2>
        <a:srgbClr val="5A3A1E"/>
      </a:dk2>
      <a:lt2>
        <a:srgbClr val="EFEFEF"/>
      </a:lt2>
      <a:accent1>
        <a:srgbClr val="E8790F"/>
      </a:accent1>
      <a:accent2>
        <a:srgbClr val="EFA54C"/>
      </a:accent2>
      <a:accent3>
        <a:srgbClr val="8B4A17"/>
      </a:accent3>
      <a:accent4>
        <a:srgbClr val="F6D2A6"/>
      </a:accent4>
      <a:accent5>
        <a:srgbClr val="7A7A7A"/>
      </a:accent5>
      <a:accent6>
        <a:srgbClr val="BFBFBF"/>
      </a:accent6>
      <a:hlink>
        <a:srgbClr val="E8790F"/>
      </a:hlink>
      <a:folHlink>
        <a:srgbClr val="8B4A17"/>
      </a:folHlink>
    </a:clrScheme>
    <a:fontScheme name="Banque Populaire — Scoring PF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de scoring Project Finance</dc:title>
  <dc:subject>PptxGenJS Presentation</dc:subject>
  <dc:creator>Risques Groupe</dc:creator>
  <cp:lastModifiedBy>Risques Groupe</cp:lastModifiedBy>
  <cp:revision>1</cp:revision>
  <dcterms:created xsi:type="dcterms:W3CDTF">2026-10-20T08:05:03Z</dcterms:created>
  <dcterms:modified xsi:type="dcterms:W3CDTF">2026-10-20T08:05:03Z</dcterms:modified>
</cp:coreProperties>
</file>