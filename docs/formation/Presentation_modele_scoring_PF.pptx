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Ouverture (environ 1 minute). Objet : présenter le modèle de scoring proposé pour nos financements de projet : une note de 1 à 10, traduite en grade AAA à D, fondée sur les flux du projet et les protections de la banque. Trois références : critères bâlois du financement de projet (slotting), normes SFI et BERD, textes de Bank Al-Maghrib. Cette version intègre deux évolutions récentes : la bibliothèque de scénarios de stress par secteur avec le calcul du choc, et le volet climatique en deux lots. Plan : la problématique, les apports, le fonctionnement (étapes, domaines, noyau financier, stress test, garde-fous, climat), puis deux exemples.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problématique (environ 3 minutes). Contexte : le Maroc multiplie les grands projets (renouvelables, dessalement, transport, ports, partenariats public-privé), de plus en plus financés en project finance. Trois difficultés pour noter : une société de projet sans historique ni bilan ; un remboursement par les seuls flux, sur quinze ou vingt ans ; des risques qui changent avec la phase (achèvement en construction, recettes et contreparties en exploitation). Nos pratiques gagnent à être consolidées : grilles d’entreprise peu adaptées, jugement d’expert peu standardisé, traçabilité inégale. Les exigences montent : critères bâlois, directives BAM 3/W/2025 (consortialisation) et 2/W/2025 (risques climatiques, portée à confirmer avec la Conformité), normes SFI et BERD des bailleurs. Transition : voyons ce que le modèle apporte face à ces difficultés.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six apports (environ 3 minutes). 1. Note reproductible : pour chaque critère, quatre situations décrites et les pièces à vérifier ; deux analystes aboutissent à la même note. 2. Pensé pour le project finance : phase, régime de recettes, douze secteurs ; chaque secteur dispose désormais d’un scénario défavorable de référence. 3. Garde-fous objectifs : dix-sept plafonds (C1 à C17, dont C16 et C17 pour le climat) et douze verrous. 4. Analyse proportionnée : régimes simplifié, standard, approfondi. 5. Décision traçable : l’IA lit les pièces du dossier (PDF, scans, Word, Excel) et propose plus de 300 champs ; chaque valeur reprise affiche son origine sous le champ (pièce, page, niveau de confiance). L’analyste reste maître de la saisie. 6. Langage commun : un grade AAA à D, des forces, des faiblesses, des conditions. Transition : comment la note se construit.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cinq étapes (environ 2 minutes). Routage : régime de recettes, secteur et phase fixent les seuils de couverture et le poids des domaines. Noyau financier : six indicateurs N1 à N6 centrés sur la dette, dont le DSCR en scénario défavorable (N2), issu du stress test présenté plus loin. Grille qualitative : 25 critères, une situation par critère. Score sur 100, converti en note de 1 à 10 puis en grade. Étape essentielle : plafonds et verrous. La note approuvée est la plus basse entre la note calculée et les plafonds actifs ; une exclusion ne produit aucune note, un blocage la rend provisoire. Échelle 100 / 80 / 50 / 20 : l’écart n’est pas régulier, c’est voulu ; une pièce manquante compte comme une situation critique.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neuf domaines (environ 2 minutes). Chacun répond à une question : qui porte le projet, est-il réalisable, sera-t-il livré, d’où viennent ses recettes, peut-il être exploité, qui paie et qui fournit, les flux couvrent-ils la dette, la banque est-elle protégée, quels risques ESG et climatiques demeurent. Les poids changent avec la phase : l’achèvement pèse 20 % en construction et 0 % en exploitation, où recettes, exploitation et contreparties pèsent 15 % chacune. Le noyau financier D7 pèse de 25 à 30 %. D9 reste à 5 % du score : avec le lot 2 du volet climatique, il reçoit un cinquième sous-critère calculé, D9.5 « risque de transition » (15 % de D9 ; D9.1 et D9.2 à 25 %, D9.3 à 10 %, D9.4 à 25 %).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noyau financier (environ 2 minutes 30). Six indicateurs : N1 DSCR minimum central (25 %), N2 DSCR minimum en scénario défavorable (20 %), N3 LLCR ou, en construction, financement à terminaison (15 %), calculés sur l’échéancier ; N4 liquidité, N5 levier, N6 taux, change et refinancement, choisis sur pièces. On retient le DSCR minimum, pas la moyenne : un seul semestre faible suffit à mettre la banque en difficulté. Les seuils dépendent du régime de recettes : favorable à 1,30 sous contrat ferme, 1,80 exposé au marché ; on ajoute l’écart du secteur (−0,05 renouvelables à +0,25 mines) et +0,05 en montée en charge. Exemple : hôtel en montée en charge, seuil critique 1,35 + 0,20 + 0,05 = 1,60. Transition : N2 repose sur un scénario défavorable ; voyons comment il est construit.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test (environ 2 minutes). Le stress test répond à une question : si le principal risque du projet se matérialise, les flux suffisent-ils encore à payer la dette ? L’outil propose, pour chacun des douze secteurs, un scénario défavorable de référence avec sa source : par exemple production P90 (−8 %) et charges +10 % pour les renouvelables, trafic −15 % et charges +10 % pour le transport, prix du métal −25 % et coûts +8 % pour les mines. L’analyste l’adapte au projet et justifie tout écart dans la description du scénario. Ces valeurs sont candidates, à valider par le comité. Le scénario se traduit en choc sur les CFADS : choc = (recettes perdues + charges supplémentaires) ÷ CFADS central. Exemple : recettes 100, charges 25, donc CFADS central 75 ; avec −8 % et +10 %, les recettes perdent 8 et les charges augmentent de 2,5 : CFADS stressé 64,5, choc 10,5 ÷ 75 = 14 %. Le service de la dette ne change pas : DSCR stressé = DSCR central × (1 − choc), soit 1,29 → 1,11. C’est l’indicateur N2, classé avec les mêmes seuils que N1 ; sous 1,00x, le plafond C3 limite la note à 4. Si le modèle financier fournit un CFADS stressé par échéance, il remplace le choc sur cette échéance. Le choc calculé par l’outil garde son origine dans la saisie. Transition : les garde-fous.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Garde-fous (environ 2 minutes). Les plafonds sont désormais dix-sept faits objectifs, C1 à C17, qui limitent la note quelle que soit la moyenne : DSCR sous 1,05 sur une échéance, note maximale 3 ; DSCR défavorable sous 1,00 ou LLCR sous 1,10, note maximale 4 ; dette au-delà de 85 % du financement, 5 ; réserve DSRA sous 3 mois, 6 ; évaluation partielle, 6. Trois plafonds concernent le climat. C11 existe déjà : aujourd’hui, site déclaré exposé sans plan d’adaptation financé (note maximale 6) ; au lot 2, il se déclenche dès qu’un aléa pertinent est évalué élevé sans adaptation financée. Deux plafonds sont nouveaux : C16, risque de transition élevé sans plan de transition crédible (6) ; C17, au moins deux aléas élevés sans adaptation (5). C16 et C17 ne jouent qu’une fois le lot 2 activé. L’analyste ne choisit pas les plafonds : ils se déclenchent à partir des données saisies. Les verrous vont plus loin : exclusions X1 à X4 (aucune note), blocages B1 à B8 (note provisoire, stade bloqué indiqué). Conversion : 92 points et plus pour 10 (AAA), jusqu’à moins de 32 pour 1 (D) ; la correspondance un pour un reste à confirmer avec l’échelle interne.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Volet climatique (environ 2 minutes 30). Il répond à la directive BAM 2/W/2025 et aux attentes des bailleurs, en deux lots. Lot 1, en service : une fiche climat par dossier. Risques physiques : six aléas (chaleur, sécheresse, inondation, submersion, feux, vents), présélectionnés selon le secteur, chacun avec son niveau, sa source et l’existence d’une adaptation financée. Transition : émissions des scopes 1 et 2, exportations vers l’UE soumises au MACF, actif fossile, plan de transition. Un scénario climatique indicatif et la fiche des données 2/W/2025, exportable. Le lot 1 n’a aucun effet sur la note. Lot 2, intégré à l’outil mais inactif : un interrupteur du paramétrage, à activer après validation du comité. L’exposition est déduite des aléas (un aléa élevé suffit) ; C11 se déclenche par aléa élevé sans adaptation (note max. 6) ; C16 pour un risque de transition élevé sans plan (6) ; C17 pour au moins deux aléas élevés sans adaptation (5). D9 reçoit D9.5 « risque de transition », calculé, à 15 % de D9 (D9.1 25 %, D9.2 25 %, D9.3 10 %, D9.4 25 %). Sur site exposé, N2 retient le plus sévère du scénario financier et du scénario climatique. Repères de transition : risque moyen au-delà de 25 000 tCO₂e par an (seuil de quantification de la norme SFI NP3), élevé au-delà de 100 000 tCO₂e (Principes de l’Équateur) ou si les exportations soumises au MACF atteignent 20 % du chiffre d’affaires. Impact mesuré sur les 18 cas fictifs : une seule note change, l’huilerie d’olives de 8 à 6 (sécheresse élevée sans adaptation, C11, et scénario de deux campagnes sèches plus sévère en N2) ; 8 dossiers prennent au moins un plafond climatique, le plus souvent sans changer la note car ils étaient déjà plafonnés ; 10 dossiers ont une exposition retenue différente de la case déclarée. L’adaptation est récompensée : solaire et dessalement, exposés mais adaptés, ne prennent aucun plafond.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Deux exemples fictifs (environ 2 minutes). Centrale solaire de 80 MWc en construction : contrat d’achat de 25 ans (take-or-pay) ; DSCR minimum 1,30 pour un seuil favorable de 1,25 ; en scénario défavorable de référence du secteur (production P90 −8 %, charges +10 %), 1,12, en vigilance ; dette à 66 % du financement ; aucun plafond. Score 86,3, note 9, AA. Usine de dessalement de 100 000 m³/j en montée en charge : redevance de disponibilité, mais 35 % de dette en euros et opération consortiale (3/W/2025). DSCR minimum 1,23, sous le seuil de vigilance de 1,27 ; en scénario défavorable (énergie +15 %, répercutée à 60 %), 1,09, critique. Score 67,7, note 6, BB : acceptable sous conditions (couverture de change, DSRA renforcée). Avec le lot 2 du volet climatique, les deux sites sont jugés exposés mais adaptés : aucun plafond climatique, note inchangée. Conclusion : le modèle ne remplace pas le jugement de l’analyste ni du comité, il le structure ; les paramètres présentés, y compris ceux du stress test et du climat, sont candidats et attendent votre avis pour leur calibrage.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UVERTU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Groupe · Modèle de scoring Project Finance</a:t>
            </a:r>
            <a:endParaRPr lang="en-US" sz="1000" dirty="0"/>
          </a:p>
        </p:txBody>
      </p:sp>
      <p:pic>
        <p:nvPicPr>
          <p:cNvPr id="3" name="Image 0" descr="Logo Banque Populai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54864"/>
            <a:ext cx="1234440" cy="585216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292608"/>
            <a:ext cx="73152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E87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ins réunies (illustration du support Banque Populair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60120"/>
            <a:ext cx="8613648" cy="3063240"/>
          </a:xfrm>
          <a:prstGeom prst="rect">
            <a:avLst/>
          </a:prstGeom>
        </p:spPr>
      </p:pic>
      <p:pic>
        <p:nvPicPr>
          <p:cNvPr id="3" name="Image 1" descr="Logo Banque Populai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-64008"/>
            <a:ext cx="2468880" cy="1170432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486400" y="1389888"/>
            <a:ext cx="3657600" cy="2103120"/>
          </a:xfrm>
          <a:prstGeom prst="rect">
            <a:avLst/>
          </a:prstGeom>
          <a:solidFill>
            <a:srgbClr val="E8790F"/>
          </a:solidFill>
          <a:ln w="12700">
            <a:solidFill>
              <a:srgbClr val="E8790F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5650992" y="1517904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scoring Project Finance</a:t>
            </a:r>
            <a:endParaRPr lang="en-US" sz="2100" dirty="0"/>
          </a:p>
        </p:txBody>
      </p:sp>
      <p:sp>
        <p:nvSpPr>
          <p:cNvPr id="6" name="Text 2"/>
          <p:cNvSpPr txBox="1"/>
          <p:nvPr/>
        </p:nvSpPr>
        <p:spPr>
          <a:xfrm>
            <a:off x="5650992" y="237744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les financements de projet au Maroc sur les flux du projet, avec des garde-fous objectifs</a:t>
            </a:r>
            <a:endParaRPr lang="en-US" sz="1250" dirty="0"/>
          </a:p>
        </p:txBody>
      </p:sp>
      <p:sp>
        <p:nvSpPr>
          <p:cNvPr id="7" name="Text 3"/>
          <p:cNvSpPr txBox="1"/>
          <p:nvPr/>
        </p:nvSpPr>
        <p:spPr>
          <a:xfrm>
            <a:off x="5650992" y="30906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Bâle (slotting CRE33) · SFI et BERD · Bank Al-Maghrib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2245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Groupe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54456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modèle · mise à jour : stress test et volet climatique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9260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87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Noter un financement de projet au Maroc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Énergies renouvelables, dessalement, infrastructures, partenariats public-privé : les projets se multiplient et les montants engagés par les banques avec eux.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2615184" cy="3017520"/>
          </a:xfrm>
          <a:prstGeom prst="roundRect">
            <a:avLst>
              <a:gd name="adj" fmla="val 2797"/>
            </a:avLst>
          </a:prstGeom>
          <a:solidFill>
            <a:srgbClr val="F5F5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828800"/>
            <a:ext cx="384048" cy="384048"/>
          </a:xfrm>
          <a:prstGeom prst="ellipse">
            <a:avLst/>
          </a:prstGeom>
          <a:solidFill>
            <a:srgbClr val="E8790F"/>
          </a:solidFill>
          <a:ln w="12700">
            <a:solidFill>
              <a:srgbClr val="E8790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52144" y="178308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objet difficile à noter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377440"/>
            <a:ext cx="2286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société de projet sans historique ni bilan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remboursement par les seuls flux du projet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risques qui changent avec la phase : construction, montée en charge, exploitation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64408" y="1600200"/>
            <a:ext cx="2615184" cy="3017520"/>
          </a:xfrm>
          <a:prstGeom prst="roundRect">
            <a:avLst>
              <a:gd name="adj" fmla="val 2797"/>
            </a:avLst>
          </a:prstGeom>
          <a:solidFill>
            <a:srgbClr val="F5F5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65576" y="1828800"/>
            <a:ext cx="384048" cy="384048"/>
          </a:xfrm>
          <a:prstGeom prst="ellipse">
            <a:avLst/>
          </a:prstGeom>
          <a:solidFill>
            <a:srgbClr val="E8790F"/>
          </a:solidFill>
          <a:ln w="12700">
            <a:solidFill>
              <a:srgbClr val="E8790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6557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959352" y="178308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pratiques à consolider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65576" y="2377440"/>
            <a:ext cx="2286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grilles d’entreprise peu adaptées au financement de projet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jugement d’expert peu standardisé : des notes difficiles à comparer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justification et une traçabilité inégales d’un dossier à l’autre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71616" y="1600200"/>
            <a:ext cx="2615184" cy="3017520"/>
          </a:xfrm>
          <a:prstGeom prst="roundRect">
            <a:avLst>
              <a:gd name="adj" fmla="val 2797"/>
            </a:avLst>
          </a:prstGeom>
          <a:solidFill>
            <a:srgbClr val="F5F5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2784" y="1828800"/>
            <a:ext cx="384048" cy="384048"/>
          </a:xfrm>
          <a:prstGeom prst="ellipse">
            <a:avLst/>
          </a:prstGeom>
          <a:solidFill>
            <a:srgbClr val="8B4A17"/>
          </a:solidFill>
          <a:ln w="12700">
            <a:solidFill>
              <a:srgbClr val="8B4A1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2784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178308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exigences qui montent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72784" y="2377440"/>
            <a:ext cx="2286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Bâle : critères du slotting du financement de projet (CRE33)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Al-Maghrib : consortialisation (3/W/2025), risques climatiques (2/W/2025)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Bailleurs : normes environnementales et sociales SFI et BERD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9260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87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modèle apporte concrètement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15184" cy="1600200"/>
          </a:xfrm>
          <a:prstGeom prst="roundRect">
            <a:avLst>
              <a:gd name="adj" fmla="val 4571"/>
            </a:avLst>
          </a:prstGeom>
          <a:solidFill>
            <a:srgbClr val="F5F5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344168"/>
            <a:ext cx="384048" cy="384048"/>
          </a:xfrm>
          <a:prstGeom prst="ellipse">
            <a:avLst/>
          </a:prstGeom>
          <a:solidFill>
            <a:srgbClr val="E8790F"/>
          </a:solidFill>
          <a:ln w="12700">
            <a:solidFill>
              <a:srgbClr val="E8790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344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52144" y="127101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note reproductible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911096"/>
            <a:ext cx="22677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Situations décrites et pièces à vérifier : deux analystes aboutissent à la même note.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64408" y="1143000"/>
            <a:ext cx="2615184" cy="1600200"/>
          </a:xfrm>
          <a:prstGeom prst="roundRect">
            <a:avLst>
              <a:gd name="adj" fmla="val 4571"/>
            </a:avLst>
          </a:prstGeom>
          <a:solidFill>
            <a:srgbClr val="F5F5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65576" y="1344168"/>
            <a:ext cx="384048" cy="384048"/>
          </a:xfrm>
          <a:prstGeom prst="ellipse">
            <a:avLst/>
          </a:prstGeom>
          <a:solidFill>
            <a:srgbClr val="E8790F"/>
          </a:solidFill>
          <a:ln w="12700">
            <a:solidFill>
              <a:srgbClr val="E8790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65576" y="1344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959352" y="127101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Pensée pour le project finance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465576" y="1911096"/>
            <a:ext cx="22677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Flux, phase, régime de revenus et douze secteurs, avec un stress test de référence par secteur.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71616" y="1143000"/>
            <a:ext cx="2615184" cy="1600200"/>
          </a:xfrm>
          <a:prstGeom prst="roundRect">
            <a:avLst>
              <a:gd name="adj" fmla="val 4571"/>
            </a:avLst>
          </a:prstGeom>
          <a:solidFill>
            <a:srgbClr val="F5F5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2784" y="1344168"/>
            <a:ext cx="384048" cy="384048"/>
          </a:xfrm>
          <a:prstGeom prst="ellipse">
            <a:avLst/>
          </a:prstGeom>
          <a:solidFill>
            <a:srgbClr val="E8790F"/>
          </a:solidFill>
          <a:ln w="12700">
            <a:solidFill>
              <a:srgbClr val="E8790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2784" y="1344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127101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garde-fous objectifs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72784" y="1911096"/>
            <a:ext cx="22677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Dix-sept plafonds et douze verrous : une moyenne ne masque jamais un point de rupture.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2615184" cy="1600200"/>
          </a:xfrm>
          <a:prstGeom prst="roundRect">
            <a:avLst>
              <a:gd name="adj" fmla="val 4571"/>
            </a:avLst>
          </a:prstGeom>
          <a:solidFill>
            <a:srgbClr val="FDEBD3"/>
          </a:solidFill>
          <a:ln w="12700">
            <a:solidFill>
              <a:srgbClr val="FDEBD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127248"/>
            <a:ext cx="384048" cy="384048"/>
          </a:xfrm>
          <a:prstGeom prst="ellipse">
            <a:avLst/>
          </a:prstGeom>
          <a:solidFill>
            <a:srgbClr val="8B4A17"/>
          </a:solidFill>
          <a:ln w="12700">
            <a:solidFill>
              <a:srgbClr val="8B4A1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" y="305409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analyse proportionnée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3694176"/>
            <a:ext cx="22677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Régimes simplifié, standard et approfondi selon la taille et la complexité.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64408" y="2926080"/>
            <a:ext cx="2615184" cy="1600200"/>
          </a:xfrm>
          <a:prstGeom prst="roundRect">
            <a:avLst>
              <a:gd name="adj" fmla="val 4571"/>
            </a:avLst>
          </a:prstGeom>
          <a:solidFill>
            <a:srgbClr val="FDEBD3"/>
          </a:solidFill>
          <a:ln w="12700">
            <a:solidFill>
              <a:srgbClr val="FDEBD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65576" y="3127248"/>
            <a:ext cx="384048" cy="384048"/>
          </a:xfrm>
          <a:prstGeom prst="ellipse">
            <a:avLst/>
          </a:prstGeom>
          <a:solidFill>
            <a:srgbClr val="8B4A17"/>
          </a:solidFill>
          <a:ln w="12700">
            <a:solidFill>
              <a:srgbClr val="8B4A1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65576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959352" y="305409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décision traçable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465576" y="3694176"/>
            <a:ext cx="22677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note justifiée par ses pièces ; chaque valeur reprise de l’IA cite sa pièce, sa page, sa confiance.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71616" y="2926080"/>
            <a:ext cx="2615184" cy="1600200"/>
          </a:xfrm>
          <a:prstGeom prst="roundRect">
            <a:avLst>
              <a:gd name="adj" fmla="val 4571"/>
            </a:avLst>
          </a:prstGeom>
          <a:solidFill>
            <a:srgbClr val="FDEBD3"/>
          </a:solidFill>
          <a:ln w="12700">
            <a:solidFill>
              <a:srgbClr val="FDEBD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2784" y="3127248"/>
            <a:ext cx="384048" cy="384048"/>
          </a:xfrm>
          <a:prstGeom prst="ellipse">
            <a:avLst/>
          </a:prstGeom>
          <a:solidFill>
            <a:srgbClr val="8B4A17"/>
          </a:solidFill>
          <a:ln w="12700">
            <a:solidFill>
              <a:srgbClr val="8B4A1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72784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766560" y="305409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langage commun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272784" y="3694176"/>
            <a:ext cx="22677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grade AAA à D, des forces, des faiblesses et des conditions explicites.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9260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87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note se construit en cinq étapes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517904" cy="1874520"/>
          </a:xfrm>
          <a:prstGeom prst="roundRect">
            <a:avLst>
              <a:gd name="adj" fmla="val 4819"/>
            </a:avLst>
          </a:prstGeom>
          <a:solidFill>
            <a:srgbClr val="F5F5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353312"/>
            <a:ext cx="384048" cy="384048"/>
          </a:xfrm>
          <a:prstGeom prst="ellipse">
            <a:avLst/>
          </a:prstGeom>
          <a:solidFill>
            <a:srgbClr val="E8790F"/>
          </a:solidFill>
          <a:ln w="12700">
            <a:solidFill>
              <a:srgbClr val="E8790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81051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Routage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3317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Régime, secteur et phase fixent seuils et poids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002536" y="2029968"/>
            <a:ext cx="118872" cy="182880"/>
          </a:xfrm>
          <a:prstGeom prst="chevron">
            <a:avLst/>
          </a:prstGeom>
          <a:solidFill>
            <a:srgbClr val="8B4A17"/>
          </a:solidFill>
          <a:ln w="12700">
            <a:solidFill>
              <a:srgbClr val="8B4A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39696" y="1188720"/>
            <a:ext cx="1517904" cy="1874520"/>
          </a:xfrm>
          <a:prstGeom prst="roundRect">
            <a:avLst>
              <a:gd name="adj" fmla="val 4819"/>
            </a:avLst>
          </a:prstGeom>
          <a:solidFill>
            <a:srgbClr val="F5F5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04288" y="1353312"/>
            <a:ext cx="384048" cy="384048"/>
          </a:xfrm>
          <a:prstGeom prst="ellipse">
            <a:avLst/>
          </a:prstGeom>
          <a:solidFill>
            <a:srgbClr val="E8790F"/>
          </a:solidFill>
          <a:ln w="12700">
            <a:solidFill>
              <a:srgbClr val="E8790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04288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304288" y="181051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Noyau financier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304288" y="23317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indicateurs N1 à N6 sur la dette, stress test compris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85032" y="2029968"/>
            <a:ext cx="118872" cy="182880"/>
          </a:xfrm>
          <a:prstGeom prst="chevron">
            <a:avLst/>
          </a:prstGeom>
          <a:solidFill>
            <a:srgbClr val="8B4A17"/>
          </a:solidFill>
          <a:ln w="12700">
            <a:solidFill>
              <a:srgbClr val="8B4A1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22192" y="1188720"/>
            <a:ext cx="1517904" cy="1874520"/>
          </a:xfrm>
          <a:prstGeom prst="roundRect">
            <a:avLst>
              <a:gd name="adj" fmla="val 4819"/>
            </a:avLst>
          </a:prstGeom>
          <a:solidFill>
            <a:srgbClr val="F5F5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86784" y="1353312"/>
            <a:ext cx="384048" cy="384048"/>
          </a:xfrm>
          <a:prstGeom prst="ellipse">
            <a:avLst/>
          </a:prstGeom>
          <a:solidFill>
            <a:srgbClr val="E8790F"/>
          </a:solidFill>
          <a:ln w="12700">
            <a:solidFill>
              <a:srgbClr val="E8790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86784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986784" y="181051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qualitative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3986784" y="23317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critères, une situation par critère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367528" y="2029968"/>
            <a:ext cx="118872" cy="182880"/>
          </a:xfrm>
          <a:prstGeom prst="chevron">
            <a:avLst/>
          </a:prstGeom>
          <a:solidFill>
            <a:srgbClr val="8B4A17"/>
          </a:solidFill>
          <a:ln w="12700">
            <a:solidFill>
              <a:srgbClr val="8B4A1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04688" y="1188720"/>
            <a:ext cx="1517904" cy="1874520"/>
          </a:xfrm>
          <a:prstGeom prst="roundRect">
            <a:avLst>
              <a:gd name="adj" fmla="val 4819"/>
            </a:avLst>
          </a:prstGeom>
          <a:solidFill>
            <a:srgbClr val="F5F5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0" y="1353312"/>
            <a:ext cx="384048" cy="384048"/>
          </a:xfrm>
          <a:prstGeom prst="ellipse">
            <a:avLst/>
          </a:prstGeom>
          <a:solidFill>
            <a:srgbClr val="E8790F"/>
          </a:solidFill>
          <a:ln w="12700">
            <a:solidFill>
              <a:srgbClr val="E8790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69280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0" y="181051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et note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5669280" y="23317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sur 100, note de 1 à 10, grade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050024" y="2029968"/>
            <a:ext cx="118872" cy="182880"/>
          </a:xfrm>
          <a:prstGeom prst="chevron">
            <a:avLst/>
          </a:prstGeom>
          <a:solidFill>
            <a:srgbClr val="8B4A17"/>
          </a:solidFill>
          <a:ln w="12700">
            <a:solidFill>
              <a:srgbClr val="8B4A1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1188720"/>
            <a:ext cx="1517904" cy="1874520"/>
          </a:xfrm>
          <a:prstGeom prst="roundRect">
            <a:avLst>
              <a:gd name="adj" fmla="val 4819"/>
            </a:avLst>
          </a:prstGeom>
          <a:solidFill>
            <a:srgbClr val="FDEBD3"/>
          </a:solidFill>
          <a:ln w="12700">
            <a:solidFill>
              <a:srgbClr val="FDEBD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51776" y="1353312"/>
            <a:ext cx="384048" cy="384048"/>
          </a:xfrm>
          <a:prstGeom prst="ellipse">
            <a:avLst/>
          </a:prstGeom>
          <a:solidFill>
            <a:srgbClr val="8B4A17"/>
          </a:solidFill>
          <a:ln w="12700">
            <a:solidFill>
              <a:srgbClr val="8B4A1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51776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351776" y="181051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Plafonds et verrous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7351776" y="23317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faiblesse objective limite la note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57200" y="32918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790F"/>
          </a:solidFill>
          <a:ln w="12700">
            <a:solidFill>
              <a:srgbClr val="E8790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32918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approuvée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la plus basse entre la note calculée et les plafonds actifs. Une exclusion ne produit aucune note ; un blocage la rend provisoire.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Échelle des situations : Très favorable 100 · Favorable 80 · Vigilance 50 · Critique 20 · Info. insuffisante 20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9260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87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Neuf domaines, pondérés selon la phase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005840"/>
                <a:gridCol w="1005840"/>
                <a:gridCol w="100584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90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90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Montée en charge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90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Exploitation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90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 · Sponsors et actionnariat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 · Projet, site, technologie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 · Construction et achèvement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 · Mécanisme des recettes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D5 · Exploitation et maintenance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D6 · Contreparties et consortium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D7 · Finance et trésorerie (noyau)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3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D8 · Juridique, sûretés, continuité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D9 · ESG et climat résiduel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126480" y="1097280"/>
            <a:ext cx="2560320" cy="1481328"/>
          </a:xfrm>
          <a:prstGeom prst="roundRect">
            <a:avLst>
              <a:gd name="adj" fmla="val 4938"/>
            </a:avLst>
          </a:prstGeom>
          <a:solidFill>
            <a:srgbClr val="F5F5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309360" y="1188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risque se déplace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1536192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construction, l’achèvement domine. En exploitation, recettes, exploitation et contreparties prennent le relais.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126480" y="2724912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09360" y="28163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critères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3154680"/>
            <a:ext cx="2240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ou quatre par domaine, avec leur poids et leurs pièces à vérifier ; quatre ont une version par secteur.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colonne totalise 100 % ; le score d’un domaine est la moyenne pondérée de ses critères.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9260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87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noyau financier, cœur de la note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4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indicateurs (D7)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40233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3152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Indicateur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90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90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N1 · DSCR minimum, central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N2 · DSCR minimum, défavorable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N3 · LLCR ou financement à terminaison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N4 · Liquidité (DSRA, cascade)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N5 · Levier, fonds propres à risque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N6 · Taux, change, refinancement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6393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 à N3 calculés sur l’échéancier ; N4 à N6 choisis sur pièces. N2 vient du stress test.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75488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4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Seuils DSCR par régime de revenus</a:t>
            </a:r>
            <a:endParaRPr lang="en-US" sz="14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417320"/>
          <a:ext cx="39319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822960"/>
                <a:gridCol w="822960"/>
                <a:gridCol w="82296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Régime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90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Critique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90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Vigilance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90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Favorable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90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 · Take-or-pay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 · Disponibilité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 · Volume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 · Marché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754880" y="3108960"/>
            <a:ext cx="3931920" cy="987552"/>
          </a:xfrm>
          <a:prstGeom prst="roundRect">
            <a:avLst>
              <a:gd name="adj" fmla="val 7407"/>
            </a:avLst>
          </a:prstGeom>
          <a:solidFill>
            <a:srgbClr val="FDEBD3"/>
          </a:solidFill>
          <a:ln w="12700">
            <a:solidFill>
              <a:srgbClr val="FDEBD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937760" y="3154680"/>
            <a:ext cx="3611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5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= base du régime + écart du secteur + phase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de −0,05 (renouvelables) à +0,25 (mines) ; +0,05 en montée en charge.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hôtel en montée en charge (R4, tourisme) — seuil critique 1,35 + 0,20 + 0,05 = 1,60.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9260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87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 : du scénario au choc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4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Scénarios défavorables de référence (extrait)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40233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554480"/>
                <a:gridCol w="640080"/>
                <a:gridCol w="64008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Secteur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90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Risque principal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90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Recettes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90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90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Renouvelables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P90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Dessalement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Disponibilité, énergie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−15 %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Tourisme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Fréquentation, prix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−15 %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Agro-industrie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Récolte (sécheresse)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Prix des métaux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−25 %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54787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Douze secteurs, chacun avec sa source (étude de productible, de trafic…). L’analyste adapte le scénario au projet et justifie tout écart.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75488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4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du choc : un exemple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754880" y="1417320"/>
            <a:ext cx="3931920" cy="512064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873752" y="1517904"/>
            <a:ext cx="310896" cy="310896"/>
          </a:xfrm>
          <a:prstGeom prst="ellipse">
            <a:avLst/>
          </a:prstGeom>
          <a:solidFill>
            <a:srgbClr val="E8790F"/>
          </a:solidFill>
          <a:ln w="12700">
            <a:solidFill>
              <a:srgbClr val="E8790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73752" y="1517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303520" y="14447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CFADS central = 100 − 25 = 75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Recettes 100, charges 25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754880" y="2002536"/>
            <a:ext cx="3931920" cy="512064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73752" y="2103120"/>
            <a:ext cx="310896" cy="310896"/>
          </a:xfrm>
          <a:prstGeom prst="ellipse">
            <a:avLst/>
          </a:prstGeom>
          <a:solidFill>
            <a:srgbClr val="E8790F"/>
          </a:solidFill>
          <a:ln w="12700">
            <a:solidFill>
              <a:srgbClr val="E8790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73752" y="2103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303520" y="20299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CFADS stressé = 92 − 27,5 = 64,5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Recettes − 8 %, charges + 10 %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754880" y="2587752"/>
            <a:ext cx="3931920" cy="512064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73752" y="2688336"/>
            <a:ext cx="310896" cy="310896"/>
          </a:xfrm>
          <a:prstGeom prst="ellipse">
            <a:avLst/>
          </a:prstGeom>
          <a:solidFill>
            <a:srgbClr val="E8790F"/>
          </a:solidFill>
          <a:ln w="12700">
            <a:solidFill>
              <a:srgbClr val="E8790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73752" y="2688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0" y="261518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Choc = (8 + 2,5) ÷ 75 = 14 %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Recettes perdues + charges supplémentaires, ÷ CFADS central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754880" y="320040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E8790F"/>
          </a:solidFill>
          <a:ln w="12700">
            <a:solidFill>
              <a:srgbClr val="E8790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919472" y="32004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DSCR stressé = DSCR central × (1 − choc)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1,29 × 0,86 = 1,11 : c’est N2. Sous 1,00x, le plafond C3 limite la note à 4.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CFADS stressé saisi échéance par échéance remplace le choc sur cette échéance.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9260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87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garde-fous encadrent la note finale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4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Plafonds — 17 faits objectifs (exemples)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475488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822960"/>
              </a:tblGrid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 générateur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90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 max.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90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 · DSCR inférieur à 1,05x sur une échéance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 · DSCR défavorable inférieur à 1,00x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C4 · LLCR inférieur à 1,10x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C9 · Dette au-delà de 85 % du financement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C7 · Réserve DSRA sous 3 mois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C15 · Évaluation partielle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C11 · Aléa climatique élevé sans adaptation financée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3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C16 · Transition élevée sans plan de transition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3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C17 · Deux aléas élevés ou plus sans adaptation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3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40480"/>
            <a:ext cx="2322576" cy="658368"/>
          </a:xfrm>
          <a:prstGeom prst="roundRect">
            <a:avLst>
              <a:gd name="adj" fmla="val 11111"/>
            </a:avLst>
          </a:prstGeom>
          <a:solidFill>
            <a:srgbClr val="F5F5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3504" y="3877056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Exclusions X1–X4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03504" y="41148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note : activité interdite, sanctions, défaut.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889504" y="3840480"/>
            <a:ext cx="2322576" cy="658368"/>
          </a:xfrm>
          <a:prstGeom prst="roundRect">
            <a:avLst>
              <a:gd name="adj" fmla="val 11111"/>
            </a:avLst>
          </a:prstGeom>
          <a:solidFill>
            <a:srgbClr val="F5F5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035808" y="3877056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Blocages B1–B8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035808" y="41148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provisoire, stade bloqué indiqué.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577840" y="1051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4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score au grade</a:t>
            </a:r>
            <a:endParaRPr lang="en-US" sz="14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417320"/>
          <a:ext cx="310896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868680"/>
                <a:gridCol w="1097280"/>
              </a:tblGrid>
              <a:tr h="259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dès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90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90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90F"/>
                    </a:solidFill>
                  </a:tcPr>
                </a:tc>
              </a:tr>
              <a:tr h="259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9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9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9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9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9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9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9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 · 32 ·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2 ·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 · C · 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5577840" y="3840480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FDEBD3"/>
          </a:solidFill>
          <a:ln w="12700">
            <a:solidFill>
              <a:srgbClr val="FDEBD3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724144" y="3877056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 : 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en couleur, règles du lot 2 (C11 révisé, C16, C17), inactives par défaut.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45262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candidats, à valider par le comité de validation du modèle.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9260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87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Volet climatique : lots 1 et 2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937760" cy="1207008"/>
          </a:xfrm>
          <a:prstGeom prst="roundRect">
            <a:avLst>
              <a:gd name="adj" fmla="val 6061"/>
            </a:avLst>
          </a:prstGeom>
          <a:solidFill>
            <a:srgbClr val="F5F5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179576"/>
            <a:ext cx="658368" cy="274320"/>
          </a:xfrm>
          <a:prstGeom prst="roundRect">
            <a:avLst>
              <a:gd name="adj" fmla="val 20000"/>
            </a:avLst>
          </a:prstGeom>
          <a:solidFill>
            <a:srgbClr val="E8790F"/>
          </a:solidFill>
          <a:ln w="12700">
            <a:solidFill>
              <a:srgbClr val="E8790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17957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389888" y="1161288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climat : en service, sans effet sur la note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527048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aléas physiques présélectionnés par secteur (niveau, source, adaptation)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: émissions, MACF, actif fossile, plan de transition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climatique et fiche de données de la directive BAM 2/W/2025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95728"/>
            <a:ext cx="4937760" cy="1901952"/>
          </a:xfrm>
          <a:prstGeom prst="roundRect">
            <a:avLst>
              <a:gd name="adj" fmla="val 3846"/>
            </a:avLst>
          </a:prstGeom>
          <a:solidFill>
            <a:srgbClr val="FDEBD3"/>
          </a:solidFill>
          <a:ln w="12700">
            <a:solidFill>
              <a:srgbClr val="FDEB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2523744"/>
            <a:ext cx="658368" cy="274320"/>
          </a:xfrm>
          <a:prstGeom prst="roundRect">
            <a:avLst>
              <a:gd name="adj" fmla="val 20000"/>
            </a:avLst>
          </a:prstGeom>
          <a:solidFill>
            <a:srgbClr val="8B4A17"/>
          </a:solidFill>
          <a:ln w="12700">
            <a:solidFill>
              <a:srgbClr val="8B4A1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252374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389888" y="2505456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Interrupteur du paramétrage : inactif par défaut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2871216"/>
            <a:ext cx="46634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Exposition déduite des aléas, et non plus de la seule case déclarée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C11 révisé (note max. 6), C16 transition sans plan (6), C17 deux aléas élevés ou plus sans adaptation (5)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D9.5 « risque de transition » calculé : 15 % de D9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exposé : le scénario climatique entre dans N2 s’il est plus sévère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Contrôles de saisie : adaptation des aléas élevés, données de transition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1051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4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du lot 2 sur les 18 cas fictifs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577840" y="1417320"/>
            <a:ext cx="3108960" cy="640080"/>
          </a:xfrm>
          <a:prstGeom prst="roundRect">
            <a:avLst>
              <a:gd name="adj" fmla="val 11429"/>
            </a:avLst>
          </a:prstGeom>
          <a:solidFill>
            <a:srgbClr val="F5F5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0" y="14173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7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14173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modifiée : huilerie d’olives, de 8 à 6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577840" y="2148840"/>
            <a:ext cx="3108960" cy="640080"/>
          </a:xfrm>
          <a:prstGeom prst="roundRect">
            <a:avLst>
              <a:gd name="adj" fmla="val 11429"/>
            </a:avLst>
          </a:prstGeom>
          <a:solidFill>
            <a:srgbClr val="F5F5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0" y="21488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4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21488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dossiers prennent un plafond climatique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577840" y="2880360"/>
            <a:ext cx="3108960" cy="640080"/>
          </a:xfrm>
          <a:prstGeom prst="roundRect">
            <a:avLst>
              <a:gd name="adj" fmla="val 11429"/>
            </a:avLst>
          </a:prstGeom>
          <a:solidFill>
            <a:srgbClr val="F5F5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0" y="28803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4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28803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expositions retenues différentes de la case déclarée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577840" y="3657600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Repères de transition : 25 000 tCO₂e (SFI, NP3), 100 000 tCO₂e (Principes de l’Équateur), MACF ≥ 20 % du CA.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du lot 2 après validation du comité et alignement de l’outil Excel.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9260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87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exemples : solaire et dessalement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4005072" cy="3639312"/>
          </a:xfrm>
          <a:prstGeom prst="roundRect">
            <a:avLst>
              <a:gd name="adj" fmla="val 2010"/>
            </a:avLst>
          </a:prstGeom>
          <a:solidFill>
            <a:srgbClr val="F5F5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7899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Centrale solaire PV 80 MWc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71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 · R1 take-or-pay · construction · 707 MMAD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19072"/>
            <a:ext cx="914400" cy="566928"/>
          </a:xfrm>
          <a:prstGeom prst="roundRect">
            <a:avLst>
              <a:gd name="adj" fmla="val 9677"/>
            </a:avLst>
          </a:prstGeom>
          <a:solidFill>
            <a:srgbClr val="E8790F"/>
          </a:solidFill>
          <a:ln w="12700">
            <a:solidFill>
              <a:srgbClr val="E8790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71907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719072" y="171907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9 · score 86,3 / 100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23160"/>
          <a:ext cx="3639312" cy="914400"/>
        </p:xfrm>
        <a:graphic>
          <a:graphicData uri="http://schemas.openxmlformats.org/drawingml/2006/table">
            <a:tbl>
              <a:tblPr/>
              <a:tblGrid>
                <a:gridCol w="1481328"/>
                <a:gridCol w="658368"/>
                <a:gridCol w="1499616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DSCR central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1,30x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Très favorable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DSCR défavorable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1,12x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Vigilance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Dette / financement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Très favorable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Noyau D7 (sur 100)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 d’achat 25 ans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Plafonds, verrous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 validable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640080" y="3931920"/>
            <a:ext cx="3639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: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solide : conditions minimales.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81728" y="987552"/>
            <a:ext cx="4005072" cy="3639312"/>
          </a:xfrm>
          <a:prstGeom prst="roundRect">
            <a:avLst>
              <a:gd name="adj" fmla="val 2010"/>
            </a:avLst>
          </a:prstGeom>
          <a:solidFill>
            <a:srgbClr val="F5F5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64608" y="107899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Usine de dessalement 100 000 m³/j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864608" y="1371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EAU · R2 disponibilité · montée en charge · 2 400 MMAD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864608" y="1719072"/>
            <a:ext cx="914400" cy="566928"/>
          </a:xfrm>
          <a:prstGeom prst="roundRect">
            <a:avLst>
              <a:gd name="adj" fmla="val 9677"/>
            </a:avLst>
          </a:prstGeom>
          <a:solidFill>
            <a:srgbClr val="8B4A17"/>
          </a:solidFill>
          <a:ln w="12700">
            <a:solidFill>
              <a:srgbClr val="8B4A1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64608" y="171907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5943600" y="171907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6 · score 67,7 / 100</a:t>
            </a:r>
            <a:endParaRPr lang="en-US" sz="13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64608" y="2423160"/>
          <a:ext cx="3639312" cy="914400"/>
        </p:xfrm>
        <a:graphic>
          <a:graphicData uri="http://schemas.openxmlformats.org/drawingml/2006/table">
            <a:tbl>
              <a:tblPr/>
              <a:tblGrid>
                <a:gridCol w="1481328"/>
                <a:gridCol w="658368"/>
                <a:gridCol w="1499616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DSCR central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1,23x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Vigilance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DSCR défavorable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1,09x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Critique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Dette / financement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Favorable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Noyau D7 (sur 100)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35 % de dette en euros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Plafonds, verrous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Consortial (3/W/2025)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4864608" y="3931920"/>
            <a:ext cx="3639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B4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: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 : conditions et mitigants (couverture de change, DSRA).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Banque Populaire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Modèle de scoring Project Finance</dc:title>
  <dc:subject>PptxGenJS Presentation</dc:subject>
  <dc:creator>Risques Groupe</dc:creator>
  <cp:lastModifiedBy>Risques Groupe</cp:lastModifiedBy>
  <cp:revision>1</cp:revision>
  <dcterms:created xsi:type="dcterms:W3CDTF">2026-10-27T11:50:40Z</dcterms:created>
  <dcterms:modified xsi:type="dcterms:W3CDTF">2026-10-27T11:50:40Z</dcterms:modified>
</cp:coreProperties>
</file>