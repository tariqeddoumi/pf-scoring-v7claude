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urquoi un nouveau modèle" id="{f94db1c3-5845-7146-75c8-7068d7be8621}">
          <p14:sldIdLst>
            <p14:sldId id="256"/>
            <p14:sldId id="257"/>
          </p14:sldIdLst>
        </p14:section>
        <p14:section name="La mécanique du modèle V8" id="{c88be31f-9788-5776-27ee-5b9d8cc35f77}">
          <p14:sldIdLst>
            <p14:sldId id="258"/>
            <p14:sldId id="259"/>
            <p14:sldId id="260"/>
            <p14:sldId id="261"/>
            <p14:sldId id="262"/>
            <p14:sldId id="263"/>
            <p14:sldId id="264"/>
            <p14:sldId id="265"/>
            <p14:sldId id="266"/>
            <p14:sldId id="267"/>
            <p14:sldId id="268"/>
          </p14:sldIdLst>
        </p14:section>
        <p14:section name="L'outil Excel et les 18 cas" id="{44cadd41-26cf-ddb9-1f68-dd66202abb78}">
          <p14:sldIdLst>
            <p14:sldId id="269"/>
            <p14:sldId id="270"/>
            <p14:sldId id="271"/>
          </p14:sldIdLst>
        </p14:section>
        <p14:section name="Validation et suite" id="{6f9d2780-af7a-945a-eecc-cf4d39cef3c8}">
          <p14:sldIdLst>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à tous, et merci d'avoir pris ce temps. Je vais vous présenter le modèle V8 de notation des financements de projet et l'outil Excel qui l'applique.
Je le dis d'emblée : vous êtes les experts du Project Finance dans cette salle. Ce que nous attendons de vous, c'est un regard critique. Tous les seuils, les poids et les descriptions que vous allez voir sont des paramètres candidats : ils seront ajustés avec vos retours avant validation par le Comité.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modèle répond à trois exigences.
Comparable : un 6 dans l'éolien doit valoir un 6 dans l'hôtellerie. On garde la même grille pour tous les secteurs ; le secteur n'ajuste que les seuils.
Sans compensation : dans un financement de projet, un seul point faible peut provoquer un défaut. Un excellent sponsor ne compense pas une dette mal couverte. D'où des plafonds de note.
Traçable : chaque note doit pouvoir être expliquée à un auditeur ou au régulateur : d'où vient-elle, quelle pièce la justifie, qui l'a modifiée.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la mécanique en cinq étapes.
Un, le routage : on décrit le type de recettes, le secteur et la phase du projet. Cela fixe le niveau d'exigence.
Deux, le noyau financier : six indicateurs, dont trois calculés automatiquement.
Trois, la grille qualitative : huit domaines, 25 sous-critères.
Quatre, on agrège en un score sur 100, converti en note de 1 à 10.
Cinq, les garde-fous : plafonds et verrous. La note approuvée est le minimum entre la note calculée et les plafonds actifs.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Première question pour tout dossier : qui supporte le risque que les recettes n'arrivent pas ?
En R1, un acheteur s'engage à payer une quantité garantie : c'est le plus sûr. En R2, le projet est payé s'il est disponible. En R3, une partie du volume est garantie. En R4, tout dépend du marché.
Plus le projet est exposé, plus on exige de marge. Le secteur affine ce niveau, et la phase dit ce qui pèse le plus : en construction, l'achèvement ; en exploitation, les recettes et la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ratio central est le DSCR : combien de fois la trésorerie disponible couvre l'échéance de dette.
Chaque régime a trois seuils : en dessous du premier, c'est critique. On ajoute un écart propre au secteur, et une majoration en montée en charge.
Exemple : un hôtel, régime R4, tourisme, en montée en charge : 1,35 plus 0,20 plus 0,05 donne 1,60. Si son DSCR est de 1,06, il est en zone critique.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niveau d'exigence de l'analyse est calculé, pas choisi.
Un petit projet simple, en dirhams, avec un contrat ferme, passe en régime simplifié S. Un projet de plus de 1,5 milliard, en devises, consortial ou exposé au marché passe en régime renforcé L. Entre les deux, le régime standard M.
Si un problème apparaît, le régime monte tout seul : un verrou fait passer S en M, un plafond fait passer M en L. Et le régime simplifié ne supprime aucun plafond.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noyau financier est le domaine le plus lourd : 25 à 30 % de la note.
N1 et N2 mesurent le DSCR minimum, dans le scénario central puis dans un scénario défavorable. N3 mesure le LLCR, ou en construction la couverture du besoin de financement. Ces trois-là sont calculés par l'outil.
N4 la liquidité de réserve, N5 le levier, N6 l'exposition résiduelle aux taux et au change : l'analyste choisit la situation dans une liste.
Une information manquante n'est jamais neutre : elle compte comme critique et rend la note provisoire.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l'exemple qui parle le plus.
Une huilerie encaisse l'essentiel de ses recettes pendant la campagne d'olives. Sur l'année, le DSCR est de 1,53 : tout semble aller. Mais la dette se paie par semestre, et le semestre hors campagne ne couvre que 59 % de l'échéance.
Le modèle retient toujours le DSCR minimum échéance par échéance. Le même projet, restructuré avec un amortissement adapté aux saisons et une ligne de campagne, passe de 3 à 6 sans que son marché ait changé.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grille couvre tout ce qui n'est pas un ratio : sponsor, projet et technologie, construction, recettes, exploitation, contreparties, juridique, et ESG.
Les poids changent avec la phase. En construction, le domaine construction pèse 20 % ; en exploitation il disparaît, et les recettes, l'exploitation et les contreparties prennent le relais.
D9 suit les normes IFC et EBRD : environnement, social, gouvernance et climat.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principale nouveauté pour les analystes.
Avant, on tapait 100, 80, 50 ou 20 sans dire à quoi cela correspondait. Deux analystes pouvaient noter différemment le même dossier.
Désormais, pour chaque sous-critère, l'analyste choisit parmi quatre situations décrites, ou « information insuffisante ». La note s'affiche à côté.
Pour quatre sous-critères dont le vocabulaire change vraiment d'un secteur à l'autre, la description est sectorielle : la technologie, la structure des recettes, le marché et la performance.
Si l'analyste choisit Critique ou Information insuffisante, il doit écrire un commentaire. Le détail complet, avec un exemple par situation, est dans la grille expliquée que nous vous remettons.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L'agrégation est classique. Chaque domaine est une moyenne pondérée de ses sous-critères ; le score global est la somme des domaines pondérés selon la phase.
Une table convertit le score en note de 1 à 10, avec un libellé et une orientation pour le comité. Exemple : la centrale solaire C1 obtient 86,25, donc 9, « très solide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plafonds sont le cœur de l'anti-compensation. Chacun est déclenché par une donnée chiffrée, jamais par un avis.
Par exemple, si sur une seule échéance le DSCR passe sous 1,05, la note ne peut pas dépasser 3. Si la dette dépasse 85 % du coût, pas plus de 5. Si un acheteur unique non noté porte plus de 85 % des recettes, pas plus de 6.
L'hôtel du cas C3 a un excellent dossier : sponsor et documentation à 100, score 73,7, note 7. Mais son semestre creux ne couvre pas la dette sous stress : la note approuvée est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Au-delà des plafonds, deux familles de verrous.
Une exclusion arrête tout : on ne note pas un projet dont une contrepartie est sous sanctions ou dont l'activité est interdite.
Un blocage laisse calculer la note, mais elle reste provisoire, et l'outil indique le stade bloqué : l'octroi, le décaissement ou la validation de la note. Par exemple, un EPC non signé en construction bloque l'octroi.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L'outil applique tout cela dans Excel. Chaque dossier est un onglet.
On saisit d'abord les codes : code client T24, radical à sept chiffres, code projet. On remplit ensuite les cellules orange, qui sont les saisies obligatoires ; la ligne « À SAISIR » en haut indique ce qui manque et emmène à la bonne cellule.
Tout le reste est calculé et protégé. Le bloc 13 recueille la synthèse, les forces, les faiblesses, les conditions proposées et l'avis risques ; il alimente la fiche comité, imprimable en PDF.
Je vous propose une démonstration rapide sur le cas C3. (Voir la partie « Démonstration » de ce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L'outil contient 18 cas fictifs mais réalistes : les six cas d'origine et un cas par secteur.
Regardez la colonne de droite : dans la moitié des cas, la note approuvée est inférieure à la note calculée. Ce sont les garde-fous qui travaillent.
Le parc éolien est notre cas de référence à 10. La mine n'a aucune note : une contrepartie est sous sanctions.
Un moteur de calcul indépendant recalcule les 18 cas et l'onglet Concordance confirme que l'Excel donne le même résultat.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Dernier élément : l'IA peut lire les documents du projet et préremplir les champs.
Mais elle ne note rien seule. Chaque proposition arrive avec sa source, document et page. L'analyste voit la valeur actuelle et la valeur proposée côte à côte, et accepte ou rejette chaque ligne.
Si le code client ou le code projet du fichier ne correspond pas au dossier, l'import est refusé. La décision du comité ne peut jamais être importée. Tout est tracé dans le journal.
Le format du fichier est prêt côté Excel ; l'export depuis l'outil web reste à construire.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Rien n'est figé. Chaque seuil, poids et description est modifiable dans l'onglet Paramètres, et tous les dossiers se recalculent immédiatement.
Nous vous remettons la grille expliquée, avec pour chaque sous-critère les quatre situations et un exemple pour chacune. Nous vous demandons de la relire et de nous dire où elle ne colle pas à votre pratique.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conclure, quatre questions où votre expertise est décisive : les seuils DSCR, la sévérité de certains plafonds, la justesse des situations décrites, et les secteurs à prioriser.
Je vous propose d'en discuter maintenant, puis de nous renvoyer vos remarques écrites dans les deux semaines. Merci.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UVERTURE">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U">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rtlCol="0"/>
          <a:lstStyle>
            <a:lvl1pPr algn="l" indent="0" marL="0">
              <a:buNone/>
              <a:defRPr lang="en-US" sz="2400" b="1" dirty="0">
                <a:solidFill>
                  <a:schemeClr val="accent1"/>
                </a:solidFill>
              </a:defRPr>
            </a:lvl1pPr>
          </a:lstStyle>
          <a:p>
            <a:pPr algn="l" indent="0" marL="0">
              <a:buNone/>
            </a:pP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rtlCol="0"/>
          <a:lstStyle>
            <a:lvl1pPr algn="l" indent="0" marL="0">
              <a:buNone/>
              <a:defRPr lang="en-US" sz="1300" i="1" dirty="0">
                <a:solidFill>
                  <a:schemeClr val="tx2"/>
                </a:solidFill>
              </a:defRPr>
            </a:lvl1pPr>
          </a:lstStyle>
          <a:p>
            <a:pPr algn="l" indent="0" marL="0">
              <a:buNone/>
            </a:pPr>
            <a:endParaRPr lang="en-US" sz="1300" dirty="0"/>
          </a:p>
        </p:txBody>
      </p:sp>
      <p:sp>
        <p:nvSpPr>
          <p:cNvPr id="4" name="Text 0"/>
          <p:cNvSpPr/>
          <p:nvPr/>
        </p:nvSpPr>
        <p:spPr>
          <a:xfrm>
            <a:off x="3813048" y="6446520"/>
            <a:ext cx="4572000" cy="274320"/>
          </a:xfrm>
          <a:prstGeom prst="rect">
            <a:avLst/>
          </a:prstGeom>
          <a:noFill/>
          <a:ln/>
        </p:spPr>
        <p:txBody>
          <a:bodyPr wrap="square" rtlCol="0" anchor="ctr"/>
          <a:lstStyle/>
          <a:p>
            <a:pPr algn="ctr" indent="0" marL="0">
              <a:buNone/>
            </a:pPr>
            <a:r>
              <a:rPr lang="en-US" sz="1000" dirty="0">
                <a:solidFill>
                  <a:schemeClr val="accent5"/>
                </a:solidFill>
              </a:rPr>
              <a:t>Modèle de scoring Project Finance V8</a:t>
            </a:r>
            <a:endParaRPr lang="en-US" sz="10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_TEINTE">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rtlCol="0"/>
          <a:lstStyle>
            <a:lvl1pPr algn="l" indent="0" marL="0">
              <a:buNone/>
              <a:defRPr lang="en-US" sz="2400" b="1" dirty="0">
                <a:solidFill>
                  <a:schemeClr val="accent1"/>
                </a:solidFill>
              </a:defRPr>
            </a:lvl1pPr>
          </a:lstStyle>
          <a:p>
            <a:pPr algn="l" indent="0" marL="0">
              <a:buNone/>
            </a:pP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rtlCol="0"/>
          <a:lstStyle>
            <a:lvl1pPr algn="l" indent="0" marL="0">
              <a:buNone/>
              <a:defRPr lang="en-US" sz="1300" i="1" dirty="0">
                <a:solidFill>
                  <a:schemeClr val="tx2"/>
                </a:solidFill>
              </a:defRPr>
            </a:lvl1pPr>
          </a:lstStyle>
          <a:p>
            <a:pPr algn="l" indent="0" marL="0">
              <a:buNone/>
            </a:pPr>
            <a:endParaRPr lang="en-US" sz="1300" dirty="0"/>
          </a:p>
        </p:txBody>
      </p:sp>
      <p:sp>
        <p:nvSpPr>
          <p:cNvPr id="4" name="Text 0"/>
          <p:cNvSpPr/>
          <p:nvPr/>
        </p:nvSpPr>
        <p:spPr>
          <a:xfrm>
            <a:off x="3813048" y="6446520"/>
            <a:ext cx="4572000" cy="274320"/>
          </a:xfrm>
          <a:prstGeom prst="rect">
            <a:avLst/>
          </a:prstGeom>
          <a:noFill/>
          <a:ln/>
        </p:spPr>
        <p:txBody>
          <a:bodyPr wrap="square" rtlCol="0" anchor="ctr"/>
          <a:lstStyle/>
          <a:p>
            <a:pPr algn="ctr" indent="0" marL="0">
              <a:buNone/>
            </a:pPr>
            <a:r>
              <a:rPr lang="en-US" sz="1000" dirty="0">
                <a:solidFill>
                  <a:schemeClr val="accent5"/>
                </a:solidFill>
              </a:rPr>
              <a:t>Modèle de scoring Project Finance V8</a:t>
            </a:r>
            <a:endParaRPr lang="en-US" sz="10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U_SOMBRE">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rtlCol="0"/>
          <a:lstStyle>
            <a:lvl1pPr algn="l" indent="0" marL="0">
              <a:buNone/>
              <a:defRPr lang="en-US" sz="2400" b="1" dirty="0">
                <a:solidFill>
                  <a:schemeClr val="accent1"/>
                </a:solidFill>
              </a:defRPr>
            </a:lvl1pPr>
          </a:lstStyle>
          <a:p>
            <a:pPr algn="l" indent="0" marL="0">
              <a:buNone/>
            </a:pP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rtlCol="0"/>
          <a:lstStyle>
            <a:lvl1pPr algn="l" indent="0" marL="0">
              <a:buNone/>
              <a:defRPr lang="en-US" sz="1300" i="1" dirty="0">
                <a:solidFill>
                  <a:schemeClr val="tx2"/>
                </a:solidFill>
              </a:defRPr>
            </a:lvl1pPr>
          </a:lstStyle>
          <a:p>
            <a:pPr algn="l" indent="0" marL="0">
              <a:buNone/>
            </a:pPr>
            <a:endParaRPr lang="en-US" sz="1300" dirty="0"/>
          </a:p>
        </p:txBody>
      </p:sp>
      <p:sp>
        <p:nvSpPr>
          <p:cNvPr id="4" name="Text 0"/>
          <p:cNvSpPr/>
          <p:nvPr/>
        </p:nvSpPr>
        <p:spPr>
          <a:xfrm>
            <a:off x="3813048" y="6446520"/>
            <a:ext cx="4572000" cy="274320"/>
          </a:xfrm>
          <a:prstGeom prst="rect">
            <a:avLst/>
          </a:prstGeom>
          <a:noFill/>
          <a:ln/>
        </p:spPr>
        <p:txBody>
          <a:bodyPr wrap="square" rtlCol="0" anchor="ctr"/>
          <a:lstStyle/>
          <a:p>
            <a:pPr algn="ctr" indent="0" marL="0">
              <a:buNone/>
            </a:pPr>
            <a:r>
              <a:rPr lang="en-US" sz="1000" dirty="0">
                <a:solidFill>
                  <a:schemeClr val="accent5"/>
                </a:solidFill>
              </a:rPr>
              <a:t>Modèle de scoring Project Finance V8</a:t>
            </a:r>
            <a:endParaRPr lang="en-US" sz="10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5.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logo" descr="Logo Banque Populaire">    </p:cNvPr>
          <p:cNvPicPr>
            <a:picLocks noChangeAspect="1"/>
          </p:cNvPicPr>
          <p:nvPr/>
        </p:nvPicPr>
        <p:blipFill>
          <a:blip r:embed="rId1"/>
          <a:stretch>
            <a:fillRect/>
          </a:stretch>
        </p:blipFill>
        <p:spPr>
          <a:xfrm>
            <a:off x="9189720" y="274320"/>
            <a:ext cx="2606040" cy="710311"/>
          </a:xfrm>
          <a:prstGeom prst="rect">
            <a:avLst/>
          </a:prstGeom>
        </p:spPr>
      </p:pic>
      <p:pic>
        <p:nvPicPr>
          <p:cNvPr id="4" name="photo" descr="Mains réunies, travail d'équipe">    </p:cNvPr>
          <p:cNvPicPr>
            <a:picLocks noChangeAspect="1"/>
          </p:cNvPicPr>
          <p:nvPr/>
        </p:nvPicPr>
        <p:blipFill>
          <a:blip r:embed="rId2"/>
          <a:stretch>
            <a:fillRect/>
          </a:stretch>
        </p:blipFill>
        <p:spPr>
          <a:xfrm>
            <a:off x="0" y="1280160"/>
            <a:ext cx="11475720" cy="4076271"/>
          </a:xfrm>
          <a:prstGeom prst="rect">
            <a:avLst/>
          </a:prstGeom>
        </p:spPr>
      </p:pic>
      <p:sp>
        <p:nvSpPr>
          <p:cNvPr id="5" name="voile"/>
          <p:cNvSpPr/>
          <p:nvPr/>
        </p:nvSpPr>
        <p:spPr>
          <a:xfrm>
            <a:off x="164592" y="1051560"/>
            <a:ext cx="5440680" cy="4526280"/>
          </a:xfrm>
          <a:prstGeom prst="rect">
            <a:avLst/>
          </a:prstGeom>
          <a:solidFill>
            <a:schemeClr val="bg1">
              <a:alpha val="82000"/>
            </a:schemeClr>
          </a:solidFill>
          <a:ln w="9525">
            <a:solidFill>
              <a:srgbClr val="BFBFBF"/>
            </a:solidFill>
            <a:prstDash val="solid"/>
          </a:ln>
        </p:spPr>
      </p:sp>
      <p:sp>
        <p:nvSpPr>
          <p:cNvPr id="6" name="Text 1"/>
          <p:cNvSpPr txBox="1"/>
          <p:nvPr/>
        </p:nvSpPr>
        <p:spPr>
          <a:xfrm>
            <a:off x="365760" y="1325880"/>
            <a:ext cx="5029200" cy="411480"/>
          </a:xfrm>
          <a:prstGeom prst="rect">
            <a:avLst/>
          </a:prstGeom>
          <a:noFill/>
          <a:ln/>
        </p:spPr>
        <p:txBody>
          <a:bodyPr wrap="square" lIns="0" tIns="0" rIns="0" bIns="0" rtlCol="0" anchor="t"/>
          <a:lstStyle/>
          <a:p>
            <a:pPr indent="0" marL="0">
              <a:buNone/>
            </a:pPr>
            <a:r>
              <a:rPr lang="en-US" sz="1800" b="1" i="1" dirty="0">
                <a:solidFill>
                  <a:schemeClr val="tx2"/>
                </a:solidFill>
              </a:rPr>
              <a:t>Ordre du jour :</a:t>
            </a:r>
            <a:endParaRPr lang="en-US" sz="1800" dirty="0"/>
          </a:p>
        </p:txBody>
      </p:sp>
      <p:sp>
        <p:nvSpPr>
          <p:cNvPr id="7" name="Text 2"/>
          <p:cNvSpPr txBox="1"/>
          <p:nvPr/>
        </p:nvSpPr>
        <p:spPr>
          <a:xfrm>
            <a:off x="457200" y="1874520"/>
            <a:ext cx="4937760" cy="2743200"/>
          </a:xfrm>
          <a:prstGeom prst="rect">
            <a:avLst/>
          </a:prstGeom>
          <a:noFill/>
          <a:ln/>
        </p:spPr>
        <p:txBody>
          <a:bodyPr wrap="square" lIns="0" tIns="0" rIns="0" bIns="0" rtlCol="0" anchor="t"/>
          <a:lstStyle/>
          <a:p>
            <a:pPr marL="342900" indent="-342900">
              <a:spcAft>
                <a:spcPts val="800"/>
              </a:spcAft>
              <a:buSzPct val="100000"/>
              <a:buChar char="▪"/>
            </a:pPr>
            <a:r>
              <a:rPr lang="en-US" sz="1500" i="1" dirty="0">
                <a:solidFill>
                  <a:schemeClr val="tx2"/>
                </a:solidFill>
              </a:rPr>
              <a:t>Pourquoi un nouveau modèle</a:t>
            </a:r>
            <a:endParaRPr lang="en-US" sz="1500" dirty="0"/>
          </a:p>
          <a:p>
            <a:pPr marL="342900" indent="-342900">
              <a:spcAft>
                <a:spcPts val="800"/>
              </a:spcAft>
              <a:buSzPct val="100000"/>
              <a:buChar char="▪"/>
            </a:pPr>
            <a:r>
              <a:rPr lang="en-US" sz="1500" i="1" dirty="0">
                <a:solidFill>
                  <a:schemeClr val="tx2"/>
                </a:solidFill>
              </a:rPr>
              <a:t>La mécanique du modèle V8 : routage, noyau, grille, plafonds</a:t>
            </a:r>
            <a:endParaRPr lang="en-US" sz="1500" dirty="0"/>
          </a:p>
          <a:p>
            <a:pPr marL="342900" indent="-342900">
              <a:spcAft>
                <a:spcPts val="800"/>
              </a:spcAft>
              <a:buSzPct val="100000"/>
              <a:buChar char="▪"/>
            </a:pPr>
            <a:r>
              <a:rPr lang="en-US" sz="1500" i="1" dirty="0">
                <a:solidFill>
                  <a:schemeClr val="tx2"/>
                </a:solidFill>
              </a:rPr>
              <a:t>L'outil Excel et les 18 cas d'étude</a:t>
            </a:r>
            <a:endParaRPr lang="en-US" sz="1500" dirty="0"/>
          </a:p>
          <a:p>
            <a:pPr marL="342900" indent="-342900">
              <a:spcAft>
                <a:spcPts val="800"/>
              </a:spcAft>
              <a:buSzPct val="100000"/>
              <a:buChar char="▪"/>
            </a:pPr>
            <a:r>
              <a:rPr lang="en-US" sz="1500" i="1" dirty="0">
                <a:solidFill>
                  <a:schemeClr val="tx2"/>
                </a:solidFill>
              </a:rPr>
              <a:t>La lecture des documents par l'IA</a:t>
            </a:r>
            <a:endParaRPr lang="en-US" sz="1500" dirty="0"/>
          </a:p>
          <a:p>
            <a:pPr marL="342900" indent="-342900">
              <a:spcAft>
                <a:spcPts val="800"/>
              </a:spcAft>
              <a:buSzPct val="100000"/>
              <a:buChar char="▪"/>
            </a:pPr>
            <a:r>
              <a:rPr lang="en-US" sz="1500" i="1" dirty="0">
                <a:solidFill>
                  <a:schemeClr val="tx2"/>
                </a:solidFill>
              </a:rPr>
              <a:t>Validation et questions aux experts</a:t>
            </a:r>
            <a:endParaRPr lang="en-US" sz="1500" dirty="0"/>
          </a:p>
        </p:txBody>
      </p:sp>
      <p:sp>
        <p:nvSpPr>
          <p:cNvPr id="8" name="bandeauTitre"/>
          <p:cNvSpPr/>
          <p:nvPr/>
        </p:nvSpPr>
        <p:spPr>
          <a:xfrm>
            <a:off x="6583680" y="1682496"/>
            <a:ext cx="5605272" cy="2496312"/>
          </a:xfrm>
          <a:prstGeom prst="rect">
            <a:avLst/>
          </a:prstGeom>
          <a:solidFill>
            <a:schemeClr val="accent1"/>
          </a:solidFill>
          <a:ln w="12700">
            <a:solidFill>
              <a:schemeClr val="accent1"/>
            </a:solidFill>
            <a:prstDash val="solid"/>
          </a:ln>
        </p:spPr>
      </p:sp>
      <p:sp>
        <p:nvSpPr>
          <p:cNvPr id="9" name="Text 4"/>
          <p:cNvSpPr txBox="1"/>
          <p:nvPr/>
        </p:nvSpPr>
        <p:spPr>
          <a:xfrm>
            <a:off x="6812280" y="1874520"/>
            <a:ext cx="5120640" cy="1188720"/>
          </a:xfrm>
          <a:prstGeom prst="rect">
            <a:avLst/>
          </a:prstGeom>
          <a:noFill/>
          <a:ln/>
        </p:spPr>
        <p:txBody>
          <a:bodyPr wrap="square" lIns="0" tIns="0" rIns="0" bIns="0" rtlCol="0" anchor="t"/>
          <a:lstStyle/>
          <a:p>
            <a:pPr indent="0" marL="0">
              <a:buNone/>
            </a:pPr>
            <a:r>
              <a:rPr lang="en-US" sz="2400" b="1" dirty="0">
                <a:solidFill>
                  <a:schemeClr val="bg1"/>
                </a:solidFill>
              </a:rPr>
              <a:t>Modèle de scoring Project Finance V8 et outil Excel</a:t>
            </a:r>
            <a:endParaRPr lang="en-US" sz="2400" dirty="0"/>
          </a:p>
        </p:txBody>
      </p:sp>
      <p:sp>
        <p:nvSpPr>
          <p:cNvPr id="10" name="Text 5"/>
          <p:cNvSpPr txBox="1"/>
          <p:nvPr/>
        </p:nvSpPr>
        <p:spPr>
          <a:xfrm>
            <a:off x="6812280" y="3337560"/>
            <a:ext cx="5120640" cy="457200"/>
          </a:xfrm>
          <a:prstGeom prst="rect">
            <a:avLst/>
          </a:prstGeom>
          <a:noFill/>
          <a:ln/>
        </p:spPr>
        <p:txBody>
          <a:bodyPr wrap="square" lIns="0" tIns="0" rIns="0" bIns="0" rtlCol="0" anchor="ctr"/>
          <a:lstStyle/>
          <a:p>
            <a:pPr algn="ctr" indent="0" marL="0">
              <a:buNone/>
            </a:pPr>
            <a:r>
              <a:rPr lang="en-US" sz="1500" i="1" dirty="0">
                <a:solidFill>
                  <a:schemeClr val="bg1"/>
                </a:solidFill>
              </a:rPr>
              <a:t>Présentation aux experts Project Finance · [Date]</a:t>
            </a:r>
            <a:endParaRPr lang="en-US" sz="1500" dirty="0"/>
          </a:p>
        </p:txBody>
      </p:sp>
      <p:sp>
        <p:nvSpPr>
          <p:cNvPr id="11" name="Text 6"/>
          <p:cNvSpPr txBox="1"/>
          <p:nvPr/>
        </p:nvSpPr>
        <p:spPr>
          <a:xfrm>
            <a:off x="3355848" y="6400800"/>
            <a:ext cx="5486400" cy="274320"/>
          </a:xfrm>
          <a:prstGeom prst="rect">
            <a:avLst/>
          </a:prstGeom>
          <a:noFill/>
          <a:ln/>
        </p:spPr>
        <p:txBody>
          <a:bodyPr wrap="square" lIns="0" tIns="0" rIns="0" bIns="0" rtlCol="0" anchor="t"/>
          <a:lstStyle/>
          <a:p>
            <a:pPr algn="ctr" indent="0" marL="0">
              <a:buNone/>
            </a:pPr>
            <a:r>
              <a:rPr lang="en-US" sz="1100" dirty="0">
                <a:solidFill>
                  <a:schemeClr val="accent5"/>
                </a:solidFill>
              </a:rPr>
              <a:t>[Nom du présentateur] · Conforme Bâle, Bank Al-Maghrib, IFC, EBRD</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lIns="0" tIns="0" rIns="0" bIns="0" rtlCol="0" anchor="t"/>
          <a:lstStyle/>
          <a:p>
            <a:pPr algn="l" indent="0" marL="0">
              <a:buNone/>
            </a:pPr>
            <a:r>
              <a:rPr lang="en-US" sz="2400" b="1" dirty="0">
                <a:solidFill>
                  <a:schemeClr val="accent1"/>
                </a:solidFill>
              </a:rPr>
              <a:t>Trois exigences qu'une note de projet doit tenir</a:t>
            </a: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lIns="0" tIns="0" rIns="0" bIns="0" rtlCol="0"/>
          <a:lstStyle/>
          <a:p>
            <a:pPr algn="l" indent="0" marL="0">
              <a:buNone/>
            </a:pPr>
            <a:r>
              <a:rPr lang="en-US" sz="1300" i="1" dirty="0">
                <a:solidFill>
                  <a:schemeClr val="tx2"/>
                </a:solidFill>
              </a:rPr>
              <a:t>Pourquoi un nouveau modèle</a:t>
            </a:r>
            <a:endParaRPr lang="en-US" sz="1300" dirty="0"/>
          </a:p>
        </p:txBody>
      </p:sp>
      <p:sp>
        <p:nvSpPr>
          <p:cNvPr id="5" name="exigence1"/>
          <p:cNvSpPr/>
          <p:nvPr/>
        </p:nvSpPr>
        <p:spPr>
          <a:xfrm>
            <a:off x="457200" y="1691640"/>
            <a:ext cx="3515258" cy="3291840"/>
          </a:xfrm>
          <a:prstGeom prst="rect">
            <a:avLst/>
          </a:prstGeom>
          <a:solidFill>
            <a:schemeClr val="bg2"/>
          </a:solidFill>
          <a:ln w="12700">
            <a:solidFill>
              <a:schemeClr val="bg2"/>
            </a:solidFill>
            <a:prstDash val="solid"/>
          </a:ln>
        </p:spPr>
      </p:sp>
      <p:sp>
        <p:nvSpPr>
          <p:cNvPr id="6" name="Text 3"/>
          <p:cNvSpPr txBox="1"/>
          <p:nvPr/>
        </p:nvSpPr>
        <p:spPr>
          <a:xfrm>
            <a:off x="658368" y="1856232"/>
            <a:ext cx="3112922" cy="2962656"/>
          </a:xfrm>
          <a:prstGeom prst="rect">
            <a:avLst/>
          </a:prstGeom>
          <a:noFill/>
          <a:ln/>
        </p:spPr>
        <p:txBody>
          <a:bodyPr wrap="square" lIns="0" tIns="0" rIns="0" bIns="0" rtlCol="0" anchor="t"/>
          <a:lstStyle/>
          <a:p>
            <a:pPr indent="0" marL="0">
              <a:spcAft>
                <a:spcPts val="600"/>
              </a:spcAft>
              <a:buNone/>
            </a:pPr>
            <a:endParaRPr lang="en-US" sz="1700" dirty="0"/>
          </a:p>
          <a:p>
            <a:pPr indent="0" marL="0">
              <a:buNone/>
            </a:pPr>
            <a:endParaRPr lang="en-US" sz="1700" dirty="0"/>
          </a:p>
        </p:txBody>
      </p:sp>
      <p:sp>
        <p:nvSpPr>
          <p:cNvPr id="7" name="pastille1"/>
          <p:cNvSpPr/>
          <p:nvPr/>
        </p:nvSpPr>
        <p:spPr>
          <a:xfrm>
            <a:off x="685800" y="1645920"/>
            <a:ext cx="640080" cy="640080"/>
          </a:xfrm>
          <a:prstGeom prst="ellipse">
            <a:avLst/>
          </a:prstGeom>
          <a:solidFill>
            <a:schemeClr val="accent1"/>
          </a:solidFill>
          <a:ln w="12700">
            <a:solidFill>
              <a:schemeClr val="accent1"/>
            </a:solidFill>
            <a:prstDash val="solid"/>
          </a:ln>
        </p:spPr>
      </p:sp>
      <p:sp>
        <p:nvSpPr>
          <p:cNvPr id="8" name="Text 5"/>
          <p:cNvSpPr txBox="1"/>
          <p:nvPr/>
        </p:nvSpPr>
        <p:spPr>
          <a:xfrm>
            <a:off x="685800" y="1645920"/>
            <a:ext cx="640080" cy="640080"/>
          </a:xfrm>
          <a:prstGeom prst="rect">
            <a:avLst/>
          </a:prstGeom>
          <a:noFill/>
          <a:ln/>
        </p:spPr>
        <p:txBody>
          <a:bodyPr wrap="square" lIns="0" tIns="0" rIns="0" bIns="0" rtlCol="0" anchor="ctr"/>
          <a:lstStyle/>
          <a:p>
            <a:pPr algn="ctr" indent="0" marL="0">
              <a:buNone/>
            </a:pPr>
            <a:r>
              <a:rPr lang="en-US" sz="2200" b="1" dirty="0">
                <a:solidFill>
                  <a:schemeClr val="bg1"/>
                </a:solidFill>
              </a:rPr>
              <a:t>1</a:t>
            </a:r>
            <a:endParaRPr lang="en-US" sz="2200" dirty="0"/>
          </a:p>
        </p:txBody>
      </p:sp>
      <p:sp>
        <p:nvSpPr>
          <p:cNvPr id="9" name="Text 6"/>
          <p:cNvSpPr txBox="1"/>
          <p:nvPr/>
        </p:nvSpPr>
        <p:spPr>
          <a:xfrm>
            <a:off x="685800" y="2468880"/>
            <a:ext cx="3058058" cy="457200"/>
          </a:xfrm>
          <a:prstGeom prst="rect">
            <a:avLst/>
          </a:prstGeom>
          <a:noFill/>
          <a:ln/>
        </p:spPr>
        <p:txBody>
          <a:bodyPr wrap="square" lIns="0" tIns="0" rIns="0" bIns="0" rtlCol="0" anchor="t"/>
          <a:lstStyle/>
          <a:p>
            <a:pPr indent="0" marL="0">
              <a:buNone/>
            </a:pPr>
            <a:r>
              <a:rPr lang="en-US" sz="2100" b="1" dirty="0">
                <a:solidFill>
                  <a:schemeClr val="tx2"/>
                </a:solidFill>
              </a:rPr>
              <a:t>Comparable</a:t>
            </a:r>
            <a:endParaRPr lang="en-US" sz="2100" dirty="0"/>
          </a:p>
        </p:txBody>
      </p:sp>
      <p:sp>
        <p:nvSpPr>
          <p:cNvPr id="10" name="Text 7"/>
          <p:cNvSpPr txBox="1"/>
          <p:nvPr/>
        </p:nvSpPr>
        <p:spPr>
          <a:xfrm>
            <a:off x="685800" y="3063240"/>
            <a:ext cx="3058058" cy="1737360"/>
          </a:xfrm>
          <a:prstGeom prst="rect">
            <a:avLst/>
          </a:prstGeom>
          <a:noFill/>
          <a:ln/>
        </p:spPr>
        <p:txBody>
          <a:bodyPr wrap="square" lIns="0" tIns="0" rIns="0" bIns="0" rtlCol="0" anchor="t"/>
          <a:lstStyle/>
          <a:p>
            <a:pPr indent="0" marL="0">
              <a:buNone/>
            </a:pPr>
            <a:r>
              <a:rPr lang="en-US" sz="1600" dirty="0">
                <a:solidFill>
                  <a:schemeClr val="tx1"/>
                </a:solidFill>
              </a:rPr>
              <a:t>Une même échelle de 1 à 10 pour un parc éolien, un hôpital ou une mine. Le secteur ajuste les seuils, jamais la grille.</a:t>
            </a:r>
            <a:endParaRPr lang="en-US" sz="1600" dirty="0"/>
          </a:p>
        </p:txBody>
      </p:sp>
      <p:sp>
        <p:nvSpPr>
          <p:cNvPr id="11" name="exigence2"/>
          <p:cNvSpPr/>
          <p:nvPr/>
        </p:nvSpPr>
        <p:spPr>
          <a:xfrm>
            <a:off x="4338218" y="1691640"/>
            <a:ext cx="3515258" cy="3291840"/>
          </a:xfrm>
          <a:prstGeom prst="rect">
            <a:avLst/>
          </a:prstGeom>
          <a:solidFill>
            <a:schemeClr val="bg2"/>
          </a:solidFill>
          <a:ln w="12700">
            <a:solidFill>
              <a:schemeClr val="bg2"/>
            </a:solidFill>
            <a:prstDash val="solid"/>
          </a:ln>
        </p:spPr>
      </p:sp>
      <p:sp>
        <p:nvSpPr>
          <p:cNvPr id="12" name="Text 9"/>
          <p:cNvSpPr txBox="1"/>
          <p:nvPr/>
        </p:nvSpPr>
        <p:spPr>
          <a:xfrm>
            <a:off x="4539386" y="1856232"/>
            <a:ext cx="3112922" cy="2962656"/>
          </a:xfrm>
          <a:prstGeom prst="rect">
            <a:avLst/>
          </a:prstGeom>
          <a:noFill/>
          <a:ln/>
        </p:spPr>
        <p:txBody>
          <a:bodyPr wrap="square" lIns="0" tIns="0" rIns="0" bIns="0" rtlCol="0" anchor="t"/>
          <a:lstStyle/>
          <a:p>
            <a:pPr indent="0" marL="0">
              <a:spcAft>
                <a:spcPts val="600"/>
              </a:spcAft>
              <a:buNone/>
            </a:pPr>
            <a:endParaRPr lang="en-US" sz="1700" dirty="0"/>
          </a:p>
          <a:p>
            <a:pPr indent="0" marL="0">
              <a:buNone/>
            </a:pPr>
            <a:endParaRPr lang="en-US" sz="1700" dirty="0"/>
          </a:p>
        </p:txBody>
      </p:sp>
      <p:sp>
        <p:nvSpPr>
          <p:cNvPr id="13" name="pastille2"/>
          <p:cNvSpPr/>
          <p:nvPr/>
        </p:nvSpPr>
        <p:spPr>
          <a:xfrm>
            <a:off x="4566818" y="1645920"/>
            <a:ext cx="640080" cy="640080"/>
          </a:xfrm>
          <a:prstGeom prst="ellipse">
            <a:avLst/>
          </a:prstGeom>
          <a:solidFill>
            <a:schemeClr val="accent1"/>
          </a:solidFill>
          <a:ln w="12700">
            <a:solidFill>
              <a:schemeClr val="accent1"/>
            </a:solidFill>
            <a:prstDash val="solid"/>
          </a:ln>
        </p:spPr>
      </p:sp>
      <p:sp>
        <p:nvSpPr>
          <p:cNvPr id="14" name="Text 11"/>
          <p:cNvSpPr txBox="1"/>
          <p:nvPr/>
        </p:nvSpPr>
        <p:spPr>
          <a:xfrm>
            <a:off x="4566818" y="1645920"/>
            <a:ext cx="640080" cy="640080"/>
          </a:xfrm>
          <a:prstGeom prst="rect">
            <a:avLst/>
          </a:prstGeom>
          <a:noFill/>
          <a:ln/>
        </p:spPr>
        <p:txBody>
          <a:bodyPr wrap="square" lIns="0" tIns="0" rIns="0" bIns="0" rtlCol="0" anchor="ctr"/>
          <a:lstStyle/>
          <a:p>
            <a:pPr algn="ctr" indent="0" marL="0">
              <a:buNone/>
            </a:pPr>
            <a:r>
              <a:rPr lang="en-US" sz="2200" b="1" dirty="0">
                <a:solidFill>
                  <a:schemeClr val="bg1"/>
                </a:solidFill>
              </a:rPr>
              <a:t>2</a:t>
            </a:r>
            <a:endParaRPr lang="en-US" sz="2200" dirty="0"/>
          </a:p>
        </p:txBody>
      </p:sp>
      <p:sp>
        <p:nvSpPr>
          <p:cNvPr id="15" name="Text 12"/>
          <p:cNvSpPr txBox="1"/>
          <p:nvPr/>
        </p:nvSpPr>
        <p:spPr>
          <a:xfrm>
            <a:off x="4566818" y="2468880"/>
            <a:ext cx="3058058" cy="457200"/>
          </a:xfrm>
          <a:prstGeom prst="rect">
            <a:avLst/>
          </a:prstGeom>
          <a:noFill/>
          <a:ln/>
        </p:spPr>
        <p:txBody>
          <a:bodyPr wrap="square" lIns="0" tIns="0" rIns="0" bIns="0" rtlCol="0" anchor="t"/>
          <a:lstStyle/>
          <a:p>
            <a:pPr indent="0" marL="0">
              <a:buNone/>
            </a:pPr>
            <a:r>
              <a:rPr lang="en-US" sz="2100" b="1" dirty="0">
                <a:solidFill>
                  <a:schemeClr val="tx2"/>
                </a:solidFill>
              </a:rPr>
              <a:t>Sans compensation</a:t>
            </a:r>
            <a:endParaRPr lang="en-US" sz="2100" dirty="0"/>
          </a:p>
        </p:txBody>
      </p:sp>
      <p:sp>
        <p:nvSpPr>
          <p:cNvPr id="16" name="Text 13"/>
          <p:cNvSpPr txBox="1"/>
          <p:nvPr/>
        </p:nvSpPr>
        <p:spPr>
          <a:xfrm>
            <a:off x="4566818" y="3063240"/>
            <a:ext cx="3058058" cy="1737360"/>
          </a:xfrm>
          <a:prstGeom prst="rect">
            <a:avLst/>
          </a:prstGeom>
          <a:noFill/>
          <a:ln/>
        </p:spPr>
        <p:txBody>
          <a:bodyPr wrap="square" lIns="0" tIns="0" rIns="0" bIns="0" rtlCol="0" anchor="t"/>
          <a:lstStyle/>
          <a:p>
            <a:pPr indent="0" marL="0">
              <a:buNone/>
            </a:pPr>
            <a:r>
              <a:rPr lang="en-US" sz="1600" dirty="0">
                <a:solidFill>
                  <a:schemeClr val="tx1"/>
                </a:solidFill>
              </a:rPr>
              <a:t>Un excellent sponsor ne rachète pas une dette mal couverte : des plafonds bornent la note quelle que soit la moyenne.</a:t>
            </a:r>
            <a:endParaRPr lang="en-US" sz="1600" dirty="0"/>
          </a:p>
        </p:txBody>
      </p:sp>
      <p:sp>
        <p:nvSpPr>
          <p:cNvPr id="17" name="exigence3"/>
          <p:cNvSpPr/>
          <p:nvPr/>
        </p:nvSpPr>
        <p:spPr>
          <a:xfrm>
            <a:off x="8219237" y="1691640"/>
            <a:ext cx="3515258" cy="3291840"/>
          </a:xfrm>
          <a:prstGeom prst="rect">
            <a:avLst/>
          </a:prstGeom>
          <a:solidFill>
            <a:schemeClr val="bg2"/>
          </a:solidFill>
          <a:ln w="12700">
            <a:solidFill>
              <a:schemeClr val="bg2"/>
            </a:solidFill>
            <a:prstDash val="solid"/>
          </a:ln>
        </p:spPr>
      </p:sp>
      <p:sp>
        <p:nvSpPr>
          <p:cNvPr id="18" name="Text 15"/>
          <p:cNvSpPr txBox="1"/>
          <p:nvPr/>
        </p:nvSpPr>
        <p:spPr>
          <a:xfrm>
            <a:off x="8420405" y="1856232"/>
            <a:ext cx="3112922" cy="2962656"/>
          </a:xfrm>
          <a:prstGeom prst="rect">
            <a:avLst/>
          </a:prstGeom>
          <a:noFill/>
          <a:ln/>
        </p:spPr>
        <p:txBody>
          <a:bodyPr wrap="square" lIns="0" tIns="0" rIns="0" bIns="0" rtlCol="0" anchor="t"/>
          <a:lstStyle/>
          <a:p>
            <a:pPr indent="0" marL="0">
              <a:spcAft>
                <a:spcPts val="600"/>
              </a:spcAft>
              <a:buNone/>
            </a:pPr>
            <a:endParaRPr lang="en-US" sz="1700" dirty="0"/>
          </a:p>
          <a:p>
            <a:pPr indent="0" marL="0">
              <a:buNone/>
            </a:pPr>
            <a:endParaRPr lang="en-US" sz="1700" dirty="0"/>
          </a:p>
        </p:txBody>
      </p:sp>
      <p:sp>
        <p:nvSpPr>
          <p:cNvPr id="19" name="pastille3"/>
          <p:cNvSpPr/>
          <p:nvPr/>
        </p:nvSpPr>
        <p:spPr>
          <a:xfrm>
            <a:off x="8447837" y="1645920"/>
            <a:ext cx="640080" cy="640080"/>
          </a:xfrm>
          <a:prstGeom prst="ellipse">
            <a:avLst/>
          </a:prstGeom>
          <a:solidFill>
            <a:schemeClr val="accent1"/>
          </a:solidFill>
          <a:ln w="12700">
            <a:solidFill>
              <a:schemeClr val="accent1"/>
            </a:solidFill>
            <a:prstDash val="solid"/>
          </a:ln>
        </p:spPr>
      </p:sp>
      <p:sp>
        <p:nvSpPr>
          <p:cNvPr id="20" name="Text 17"/>
          <p:cNvSpPr txBox="1"/>
          <p:nvPr/>
        </p:nvSpPr>
        <p:spPr>
          <a:xfrm>
            <a:off x="8447837" y="1645920"/>
            <a:ext cx="640080" cy="640080"/>
          </a:xfrm>
          <a:prstGeom prst="rect">
            <a:avLst/>
          </a:prstGeom>
          <a:noFill/>
          <a:ln/>
        </p:spPr>
        <p:txBody>
          <a:bodyPr wrap="square" lIns="0" tIns="0" rIns="0" bIns="0" rtlCol="0" anchor="ctr"/>
          <a:lstStyle/>
          <a:p>
            <a:pPr algn="ctr" indent="0" marL="0">
              <a:buNone/>
            </a:pPr>
            <a:r>
              <a:rPr lang="en-US" sz="2200" b="1" dirty="0">
                <a:solidFill>
                  <a:schemeClr val="bg1"/>
                </a:solidFill>
              </a:rPr>
              <a:t>3</a:t>
            </a:r>
            <a:endParaRPr lang="en-US" sz="2200" dirty="0"/>
          </a:p>
        </p:txBody>
      </p:sp>
      <p:sp>
        <p:nvSpPr>
          <p:cNvPr id="21" name="Text 18"/>
          <p:cNvSpPr txBox="1"/>
          <p:nvPr/>
        </p:nvSpPr>
        <p:spPr>
          <a:xfrm>
            <a:off x="8447837" y="2468880"/>
            <a:ext cx="3058058" cy="457200"/>
          </a:xfrm>
          <a:prstGeom prst="rect">
            <a:avLst/>
          </a:prstGeom>
          <a:noFill/>
          <a:ln/>
        </p:spPr>
        <p:txBody>
          <a:bodyPr wrap="square" lIns="0" tIns="0" rIns="0" bIns="0" rtlCol="0" anchor="t"/>
          <a:lstStyle/>
          <a:p>
            <a:pPr indent="0" marL="0">
              <a:buNone/>
            </a:pPr>
            <a:r>
              <a:rPr lang="en-US" sz="2100" b="1" dirty="0">
                <a:solidFill>
                  <a:schemeClr val="tx2"/>
                </a:solidFill>
              </a:rPr>
              <a:t>Traçable</a:t>
            </a:r>
            <a:endParaRPr lang="en-US" sz="2100" dirty="0"/>
          </a:p>
        </p:txBody>
      </p:sp>
      <p:sp>
        <p:nvSpPr>
          <p:cNvPr id="22" name="Text 19"/>
          <p:cNvSpPr txBox="1"/>
          <p:nvPr/>
        </p:nvSpPr>
        <p:spPr>
          <a:xfrm>
            <a:off x="8447837" y="3063240"/>
            <a:ext cx="3058058" cy="1737360"/>
          </a:xfrm>
          <a:prstGeom prst="rect">
            <a:avLst/>
          </a:prstGeom>
          <a:noFill/>
          <a:ln/>
        </p:spPr>
        <p:txBody>
          <a:bodyPr wrap="square" lIns="0" tIns="0" rIns="0" bIns="0" rtlCol="0" anchor="t"/>
          <a:lstStyle/>
          <a:p>
            <a:pPr indent="0" marL="0">
              <a:buNone/>
            </a:pPr>
            <a:r>
              <a:rPr lang="en-US" sz="1600" dirty="0">
                <a:solidFill>
                  <a:schemeClr val="tx1"/>
                </a:solidFill>
              </a:rPr>
              <a:t>Chaque note vient d'une donnée ou d'une situation décrite, avec un commentaire ; chaque action est journalisée.</a:t>
            </a:r>
            <a:endParaRPr lang="en-US" sz="16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lIns="0" tIns="0" rIns="0" bIns="0" rtlCol="0" anchor="t"/>
          <a:lstStyle/>
          <a:p>
            <a:pPr algn="l" indent="0" marL="0">
              <a:buNone/>
            </a:pPr>
            <a:r>
              <a:rPr lang="en-US" sz="2400" b="1" dirty="0">
                <a:solidFill>
                  <a:schemeClr val="accent1"/>
                </a:solidFill>
              </a:rPr>
              <a:t>Cinq étapes, de la donnée à la note approuvée</a:t>
            </a: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lIns="0" tIns="0" rIns="0" bIns="0" rtlCol="0"/>
          <a:lstStyle/>
          <a:p>
            <a:pPr algn="l" indent="0" marL="0">
              <a:buNone/>
            </a:pPr>
            <a:r>
              <a:rPr lang="en-US" sz="1300" i="1" dirty="0">
                <a:solidFill>
                  <a:schemeClr val="tx2"/>
                </a:solidFill>
              </a:rPr>
              <a:t>La mécanique</a:t>
            </a:r>
            <a:endParaRPr lang="en-US" sz="1300" dirty="0"/>
          </a:p>
        </p:txBody>
      </p:sp>
      <p:sp>
        <p:nvSpPr>
          <p:cNvPr id="5" name="etape1"/>
          <p:cNvSpPr/>
          <p:nvPr/>
        </p:nvSpPr>
        <p:spPr>
          <a:xfrm>
            <a:off x="457200" y="1783080"/>
            <a:ext cx="2036003" cy="2651760"/>
          </a:xfrm>
          <a:prstGeom prst="rect">
            <a:avLst/>
          </a:prstGeom>
          <a:solidFill>
            <a:schemeClr val="bg2"/>
          </a:solidFill>
          <a:ln w="12700">
            <a:solidFill>
              <a:schemeClr val="bg2"/>
            </a:solidFill>
            <a:prstDash val="solid"/>
          </a:ln>
        </p:spPr>
      </p:sp>
      <p:sp>
        <p:nvSpPr>
          <p:cNvPr id="6" name="Text 3"/>
          <p:cNvSpPr txBox="1"/>
          <p:nvPr/>
        </p:nvSpPr>
        <p:spPr>
          <a:xfrm>
            <a:off x="658368" y="1947672"/>
            <a:ext cx="1633667" cy="2322576"/>
          </a:xfrm>
          <a:prstGeom prst="rect">
            <a:avLst/>
          </a:prstGeom>
          <a:noFill/>
          <a:ln/>
        </p:spPr>
        <p:txBody>
          <a:bodyPr wrap="square" lIns="0" tIns="0" rIns="0" bIns="0" rtlCol="0" anchor="t"/>
          <a:lstStyle/>
          <a:p>
            <a:pPr indent="0" marL="0">
              <a:spcAft>
                <a:spcPts val="600"/>
              </a:spcAft>
              <a:buNone/>
            </a:pPr>
            <a:r>
              <a:rPr lang="en-US" sz="1700" b="1" dirty="0">
                <a:solidFill>
                  <a:schemeClr val="accent1"/>
                </a:solidFill>
              </a:rPr>
              <a:t>1 · Routage</a:t>
            </a:r>
            <a:endParaRPr lang="en-US" sz="1700" dirty="0"/>
          </a:p>
          <a:p>
            <a:pPr indent="0" marL="0">
              <a:buNone/>
            </a:pPr>
            <a:r>
              <a:rPr lang="en-US" sz="1400" dirty="0">
                <a:solidFill>
                  <a:schemeClr val="tx1"/>
                </a:solidFill>
              </a:rPr>
              <a:t>Régime de revenus, secteur, phase : fixent les seuils DSCR et les poids.</a:t>
            </a:r>
            <a:endParaRPr lang="en-US" sz="1700" dirty="0"/>
          </a:p>
        </p:txBody>
      </p:sp>
      <p:sp>
        <p:nvSpPr>
          <p:cNvPr id="7" name="fleche1"/>
          <p:cNvSpPr/>
          <p:nvPr/>
        </p:nvSpPr>
        <p:spPr>
          <a:xfrm>
            <a:off x="2520635" y="2697480"/>
            <a:ext cx="219456" cy="274320"/>
          </a:xfrm>
          <a:prstGeom prst="rightArrow">
            <a:avLst/>
          </a:prstGeom>
          <a:solidFill>
            <a:schemeClr val="accent1"/>
          </a:solidFill>
          <a:ln w="12700">
            <a:solidFill>
              <a:schemeClr val="accent1"/>
            </a:solidFill>
            <a:prstDash val="solid"/>
          </a:ln>
        </p:spPr>
      </p:sp>
      <p:sp>
        <p:nvSpPr>
          <p:cNvPr id="8" name="etape2"/>
          <p:cNvSpPr/>
          <p:nvPr/>
        </p:nvSpPr>
        <p:spPr>
          <a:xfrm>
            <a:off x="2767523" y="1783080"/>
            <a:ext cx="2036003" cy="2651760"/>
          </a:xfrm>
          <a:prstGeom prst="rect">
            <a:avLst/>
          </a:prstGeom>
          <a:solidFill>
            <a:schemeClr val="bg2"/>
          </a:solidFill>
          <a:ln w="12700">
            <a:solidFill>
              <a:schemeClr val="bg2"/>
            </a:solidFill>
            <a:prstDash val="solid"/>
          </a:ln>
        </p:spPr>
      </p:sp>
      <p:sp>
        <p:nvSpPr>
          <p:cNvPr id="9" name="Text 6"/>
          <p:cNvSpPr txBox="1"/>
          <p:nvPr/>
        </p:nvSpPr>
        <p:spPr>
          <a:xfrm>
            <a:off x="2968691" y="1947672"/>
            <a:ext cx="1633667" cy="2322576"/>
          </a:xfrm>
          <a:prstGeom prst="rect">
            <a:avLst/>
          </a:prstGeom>
          <a:noFill/>
          <a:ln/>
        </p:spPr>
        <p:txBody>
          <a:bodyPr wrap="square" lIns="0" tIns="0" rIns="0" bIns="0" rtlCol="0" anchor="t"/>
          <a:lstStyle/>
          <a:p>
            <a:pPr indent="0" marL="0">
              <a:spcAft>
                <a:spcPts val="600"/>
              </a:spcAft>
              <a:buNone/>
            </a:pPr>
            <a:r>
              <a:rPr lang="en-US" sz="1700" b="1" dirty="0">
                <a:solidFill>
                  <a:schemeClr val="accent1"/>
                </a:solidFill>
              </a:rPr>
              <a:t>2 · Noyau D7</a:t>
            </a:r>
            <a:endParaRPr lang="en-US" sz="1700" dirty="0"/>
          </a:p>
          <a:p>
            <a:pPr indent="0" marL="0">
              <a:buNone/>
            </a:pPr>
            <a:r>
              <a:rPr lang="en-US" sz="1400" dirty="0">
                <a:solidFill>
                  <a:schemeClr val="tx1"/>
                </a:solidFill>
              </a:rPr>
              <a:t>Six indicateurs financiers : DSCR, stress, LLCR, liquidité, levier, change.</a:t>
            </a:r>
            <a:endParaRPr lang="en-US" sz="1700" dirty="0"/>
          </a:p>
        </p:txBody>
      </p:sp>
      <p:sp>
        <p:nvSpPr>
          <p:cNvPr id="10" name="fleche2"/>
          <p:cNvSpPr/>
          <p:nvPr/>
        </p:nvSpPr>
        <p:spPr>
          <a:xfrm>
            <a:off x="4830958" y="2697480"/>
            <a:ext cx="219456" cy="274320"/>
          </a:xfrm>
          <a:prstGeom prst="rightArrow">
            <a:avLst/>
          </a:prstGeom>
          <a:solidFill>
            <a:schemeClr val="accent1"/>
          </a:solidFill>
          <a:ln w="12700">
            <a:solidFill>
              <a:schemeClr val="accent1"/>
            </a:solidFill>
            <a:prstDash val="solid"/>
          </a:ln>
        </p:spPr>
      </p:sp>
      <p:sp>
        <p:nvSpPr>
          <p:cNvPr id="11" name="etape3"/>
          <p:cNvSpPr/>
          <p:nvPr/>
        </p:nvSpPr>
        <p:spPr>
          <a:xfrm>
            <a:off x="5077846" y="1783080"/>
            <a:ext cx="2036003" cy="2651760"/>
          </a:xfrm>
          <a:prstGeom prst="rect">
            <a:avLst/>
          </a:prstGeom>
          <a:solidFill>
            <a:schemeClr val="bg2"/>
          </a:solidFill>
          <a:ln w="12700">
            <a:solidFill>
              <a:schemeClr val="bg2"/>
            </a:solidFill>
            <a:prstDash val="solid"/>
          </a:ln>
        </p:spPr>
      </p:sp>
      <p:sp>
        <p:nvSpPr>
          <p:cNvPr id="12" name="Text 9"/>
          <p:cNvSpPr txBox="1"/>
          <p:nvPr/>
        </p:nvSpPr>
        <p:spPr>
          <a:xfrm>
            <a:off x="5279014" y="1947672"/>
            <a:ext cx="1633667" cy="2322576"/>
          </a:xfrm>
          <a:prstGeom prst="rect">
            <a:avLst/>
          </a:prstGeom>
          <a:noFill/>
          <a:ln/>
        </p:spPr>
        <p:txBody>
          <a:bodyPr wrap="square" lIns="0" tIns="0" rIns="0" bIns="0" rtlCol="0" anchor="t"/>
          <a:lstStyle/>
          <a:p>
            <a:pPr indent="0" marL="0">
              <a:spcAft>
                <a:spcPts val="600"/>
              </a:spcAft>
              <a:buNone/>
            </a:pPr>
            <a:r>
              <a:rPr lang="en-US" sz="1700" b="1" dirty="0">
                <a:solidFill>
                  <a:schemeClr val="accent1"/>
                </a:solidFill>
              </a:rPr>
              <a:t>3 · Grille</a:t>
            </a:r>
            <a:endParaRPr lang="en-US" sz="1700" dirty="0"/>
          </a:p>
          <a:p>
            <a:pPr indent="0" marL="0">
              <a:buNone/>
            </a:pPr>
            <a:r>
              <a:rPr lang="en-US" sz="1400" dirty="0">
                <a:solidFill>
                  <a:schemeClr val="tx1"/>
                </a:solidFill>
              </a:rPr>
              <a:t>Huit domaines qualitatifs, 25 sous-critères notés par situation.</a:t>
            </a:r>
            <a:endParaRPr lang="en-US" sz="1700" dirty="0"/>
          </a:p>
        </p:txBody>
      </p:sp>
      <p:sp>
        <p:nvSpPr>
          <p:cNvPr id="13" name="fleche3"/>
          <p:cNvSpPr/>
          <p:nvPr/>
        </p:nvSpPr>
        <p:spPr>
          <a:xfrm>
            <a:off x="7141281" y="2697480"/>
            <a:ext cx="219456" cy="274320"/>
          </a:xfrm>
          <a:prstGeom prst="rightArrow">
            <a:avLst/>
          </a:prstGeom>
          <a:solidFill>
            <a:schemeClr val="accent1"/>
          </a:solidFill>
          <a:ln w="12700">
            <a:solidFill>
              <a:schemeClr val="accent1"/>
            </a:solidFill>
            <a:prstDash val="solid"/>
          </a:ln>
        </p:spPr>
      </p:sp>
      <p:sp>
        <p:nvSpPr>
          <p:cNvPr id="14" name="etape4"/>
          <p:cNvSpPr/>
          <p:nvPr/>
        </p:nvSpPr>
        <p:spPr>
          <a:xfrm>
            <a:off x="7388169" y="1783080"/>
            <a:ext cx="2036003" cy="2651760"/>
          </a:xfrm>
          <a:prstGeom prst="rect">
            <a:avLst/>
          </a:prstGeom>
          <a:solidFill>
            <a:schemeClr val="bg2"/>
          </a:solidFill>
          <a:ln w="12700">
            <a:solidFill>
              <a:schemeClr val="bg2"/>
            </a:solidFill>
            <a:prstDash val="solid"/>
          </a:ln>
        </p:spPr>
      </p:sp>
      <p:sp>
        <p:nvSpPr>
          <p:cNvPr id="15" name="Text 12"/>
          <p:cNvSpPr txBox="1"/>
          <p:nvPr/>
        </p:nvSpPr>
        <p:spPr>
          <a:xfrm>
            <a:off x="7589337" y="1947672"/>
            <a:ext cx="1633667" cy="2322576"/>
          </a:xfrm>
          <a:prstGeom prst="rect">
            <a:avLst/>
          </a:prstGeom>
          <a:noFill/>
          <a:ln/>
        </p:spPr>
        <p:txBody>
          <a:bodyPr wrap="square" lIns="0" tIns="0" rIns="0" bIns="0" rtlCol="0" anchor="t"/>
          <a:lstStyle/>
          <a:p>
            <a:pPr indent="0" marL="0">
              <a:spcAft>
                <a:spcPts val="600"/>
              </a:spcAft>
              <a:buNone/>
            </a:pPr>
            <a:r>
              <a:rPr lang="en-US" sz="1700" b="1" dirty="0">
                <a:solidFill>
                  <a:schemeClr val="accent1"/>
                </a:solidFill>
              </a:rPr>
              <a:t>4 · Score</a:t>
            </a:r>
            <a:endParaRPr lang="en-US" sz="1700" dirty="0"/>
          </a:p>
          <a:p>
            <a:pPr indent="0" marL="0">
              <a:buNone/>
            </a:pPr>
            <a:r>
              <a:rPr lang="en-US" sz="1400" dirty="0">
                <a:solidFill>
                  <a:schemeClr val="tx1"/>
                </a:solidFill>
              </a:rPr>
              <a:t>Moyenne pondérée sur 100, convertie en note de 1 à 10.</a:t>
            </a:r>
            <a:endParaRPr lang="en-US" sz="1700" dirty="0"/>
          </a:p>
        </p:txBody>
      </p:sp>
      <p:sp>
        <p:nvSpPr>
          <p:cNvPr id="16" name="fleche4"/>
          <p:cNvSpPr/>
          <p:nvPr/>
        </p:nvSpPr>
        <p:spPr>
          <a:xfrm>
            <a:off x="9451604" y="2697480"/>
            <a:ext cx="219456" cy="274320"/>
          </a:xfrm>
          <a:prstGeom prst="rightArrow">
            <a:avLst/>
          </a:prstGeom>
          <a:solidFill>
            <a:schemeClr val="accent1"/>
          </a:solidFill>
          <a:ln w="12700">
            <a:solidFill>
              <a:schemeClr val="accent1"/>
            </a:solidFill>
            <a:prstDash val="solid"/>
          </a:ln>
        </p:spPr>
      </p:sp>
      <p:sp>
        <p:nvSpPr>
          <p:cNvPr id="17" name="etape5"/>
          <p:cNvSpPr/>
          <p:nvPr/>
        </p:nvSpPr>
        <p:spPr>
          <a:xfrm>
            <a:off x="9698492" y="1783080"/>
            <a:ext cx="2036003" cy="2651760"/>
          </a:xfrm>
          <a:prstGeom prst="rect">
            <a:avLst/>
          </a:prstGeom>
          <a:solidFill>
            <a:schemeClr val="accent1"/>
          </a:solidFill>
          <a:ln w="12700">
            <a:solidFill>
              <a:schemeClr val="accent1"/>
            </a:solidFill>
            <a:prstDash val="solid"/>
          </a:ln>
        </p:spPr>
      </p:sp>
      <p:sp>
        <p:nvSpPr>
          <p:cNvPr id="18" name="Text 15"/>
          <p:cNvSpPr txBox="1"/>
          <p:nvPr/>
        </p:nvSpPr>
        <p:spPr>
          <a:xfrm>
            <a:off x="9899660" y="1947672"/>
            <a:ext cx="1633667" cy="2322576"/>
          </a:xfrm>
          <a:prstGeom prst="rect">
            <a:avLst/>
          </a:prstGeom>
          <a:noFill/>
          <a:ln/>
        </p:spPr>
        <p:txBody>
          <a:bodyPr wrap="square" lIns="0" tIns="0" rIns="0" bIns="0" rtlCol="0" anchor="t"/>
          <a:lstStyle/>
          <a:p>
            <a:pPr indent="0" marL="0">
              <a:spcAft>
                <a:spcPts val="600"/>
              </a:spcAft>
              <a:buNone/>
            </a:pPr>
            <a:r>
              <a:rPr lang="en-US" sz="1700" b="1" i="1" dirty="0">
                <a:solidFill>
                  <a:schemeClr val="bg1"/>
                </a:solidFill>
              </a:rPr>
              <a:t>5 · Garde-fous</a:t>
            </a:r>
            <a:endParaRPr lang="en-US" sz="1700" dirty="0"/>
          </a:p>
          <a:p>
            <a:pPr indent="0" marL="0">
              <a:buNone/>
            </a:pPr>
            <a:r>
              <a:rPr lang="en-US" sz="1400" b="1" dirty="0">
                <a:solidFill>
                  <a:schemeClr val="bg1"/>
                </a:solidFill>
              </a:rPr>
              <a:t>15 plafonds et 12 verrous : la note approuvée est le minimum.</a:t>
            </a:r>
            <a:endParaRPr lang="en-US" sz="1700" dirty="0"/>
          </a:p>
        </p:txBody>
      </p:sp>
      <p:sp>
        <p:nvSpPr>
          <p:cNvPr id="19" name="Text 16"/>
          <p:cNvSpPr txBox="1"/>
          <p:nvPr/>
        </p:nvSpPr>
        <p:spPr>
          <a:xfrm>
            <a:off x="457200" y="4572000"/>
            <a:ext cx="11277295" cy="457200"/>
          </a:xfrm>
          <a:prstGeom prst="rect">
            <a:avLst/>
          </a:prstGeom>
          <a:noFill/>
          <a:ln/>
        </p:spPr>
        <p:txBody>
          <a:bodyPr wrap="square" lIns="0" tIns="0" rIns="0" bIns="0" rtlCol="0" anchor="t"/>
          <a:lstStyle/>
          <a:p>
            <a:pPr indent="0" marL="0">
              <a:buNone/>
            </a:pPr>
            <a:r>
              <a:rPr lang="en-US" sz="1800" b="1" dirty="0">
                <a:solidFill>
                  <a:schemeClr val="tx2"/>
                </a:solidFill>
              </a:rPr>
              <a:t>Note approuvée = min (note calculée ; plafonds actifs), sauf exclusion X : aucune note.</a:t>
            </a:r>
            <a:endParaRPr lang="en-US" sz="18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lIns="0" tIns="0" rIns="0" bIns="0" rtlCol="0" anchor="t"/>
          <a:lstStyle/>
          <a:p>
            <a:pPr algn="l" indent="0" marL="0">
              <a:buNone/>
            </a:pPr>
            <a:r>
              <a:rPr lang="en-US" sz="2400" b="1" dirty="0">
                <a:solidFill>
                  <a:schemeClr val="accent1"/>
                </a:solidFill>
              </a:rPr>
              <a:t>Qui porte le risque de recettes fixe l'exigence</a:t>
            </a: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lIns="0" tIns="0" rIns="0" bIns="0" rtlCol="0"/>
          <a:lstStyle/>
          <a:p>
            <a:pPr algn="l" indent="0" marL="0">
              <a:buNone/>
            </a:pPr>
            <a:r>
              <a:rPr lang="en-US" sz="1300" i="1" dirty="0">
                <a:solidFill>
                  <a:schemeClr val="tx2"/>
                </a:solidFill>
              </a:rPr>
              <a:t>Étape 1 · Routage</a:t>
            </a:r>
            <a:endParaRPr lang="en-US" sz="1300" dirty="0"/>
          </a:p>
        </p:txBody>
      </p:sp>
      <p:graphicFrame>
        <p:nvGraphicFramePr>
          <p:cNvPr id="5" name="tableau"/>
          <p:cNvGraphicFramePr>
            <a:graphicFrameLocks noGrp="1"/>
          </p:cNvGraphicFramePr>
          <p:nvPr>
            <p:extLst>
              <p:ext uri="{D42A27DB-BD31-4B8C-83A1-F6EECF244321}">
                <p14:modId xmlns:p14="http://schemas.microsoft.com/office/powerpoint/2010/main" val="1579011935"/>
              </p:ext>
            </p:extLst>
          </p:nvPr>
        </p:nvGraphicFramePr>
        <p:xfrm>
          <a:off x="457200" y="1417320"/>
          <a:ext cx="11277295" cy="914400"/>
        </p:xfrm>
        <a:graphic>
          <a:graphicData uri="http://schemas.openxmlformats.org/drawingml/2006/table">
            <a:tbl>
              <a:tblPr/>
              <a:tblGrid>
                <a:gridCol w="1097280"/>
                <a:gridCol w="4754880"/>
                <a:gridCol w="5239512"/>
              </a:tblGrid>
              <a:tr h="457200">
                <a:tc>
                  <a:txBody>
                    <a:bodyPr/>
                    <a:lstStyle/>
                    <a:p>
                      <a:pPr algn="l" indent="0" marL="0">
                        <a:buNone/>
                      </a:pPr>
                      <a:r>
                        <a:rPr lang="en-US" sz="1600" b="1" i="1" dirty="0">
                          <a:solidFill>
                            <a:schemeClr val="tx2"/>
                          </a:solidFill>
                          <a:latin typeface="Segoe UI" pitchFamily="34" charset="0"/>
                          <a:ea typeface="Segoe UI" pitchFamily="34" charset="-122"/>
                          <a:cs typeface="Segoe UI" pitchFamily="34" charset="-120"/>
                        </a:rPr>
                        <a:t>Régime</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600" b="1" i="1" dirty="0">
                          <a:solidFill>
                            <a:schemeClr val="tx2"/>
                          </a:solidFill>
                          <a:latin typeface="Segoe UI" pitchFamily="34" charset="0"/>
                          <a:ea typeface="Segoe UI" pitchFamily="34" charset="-122"/>
                          <a:cs typeface="Segoe UI" pitchFamily="34" charset="-120"/>
                        </a:rPr>
                        <a:t>Recettes</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600" b="1" i="1" dirty="0">
                          <a:solidFill>
                            <a:schemeClr val="tx2"/>
                          </a:solidFill>
                          <a:latin typeface="Segoe UI" pitchFamily="34" charset="0"/>
                          <a:ea typeface="Segoe UI" pitchFamily="34" charset="-122"/>
                          <a:cs typeface="Segoe UI" pitchFamily="34" charset="-120"/>
                        </a:rPr>
                        <a:t>Exemple</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r>
              <a:tr h="457200">
                <a:tc>
                  <a:txBody>
                    <a:bodyPr/>
                    <a:lstStyle/>
                    <a:p>
                      <a:pPr algn="l" indent="0" marL="0">
                        <a:buNone/>
                      </a:pPr>
                      <a:r>
                        <a:rPr lang="en-US" sz="1600" b="1" i="1" dirty="0">
                          <a:solidFill>
                            <a:schemeClr val="bg1"/>
                          </a:solidFill>
                          <a:latin typeface="Segoe UI" pitchFamily="34" charset="0"/>
                          <a:ea typeface="Segoe UI" pitchFamily="34" charset="-122"/>
                          <a:cs typeface="Segoe UI" pitchFamily="34" charset="-120"/>
                        </a:rPr>
                        <a:t>R1</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600" dirty="0">
                          <a:solidFill>
                            <a:schemeClr val="tx1"/>
                          </a:solidFill>
                          <a:latin typeface="Segoe UI" pitchFamily="34" charset="0"/>
                          <a:ea typeface="Segoe UI" pitchFamily="34" charset="-122"/>
                          <a:cs typeface="Segoe UI" pitchFamily="34" charset="-120"/>
                        </a:rPr>
                        <a:t>Contrat ferme, quantité garantie (take-or-pay)</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600" dirty="0">
                          <a:solidFill>
                            <a:schemeClr val="tx1"/>
                          </a:solidFill>
                          <a:latin typeface="Segoe UI" pitchFamily="34" charset="0"/>
                          <a:ea typeface="Segoe UI" pitchFamily="34" charset="-122"/>
                          <a:cs typeface="Segoe UI" pitchFamily="34" charset="-120"/>
                        </a:rPr>
                        <a:t>Centrale vendant toute sa production à l'acheteur public</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57200">
                <a:tc>
                  <a:txBody>
                    <a:bodyPr/>
                    <a:lstStyle/>
                    <a:p>
                      <a:pPr algn="l" indent="0" marL="0">
                        <a:buNone/>
                      </a:pPr>
                      <a:r>
                        <a:rPr lang="en-US" sz="1600" b="1" i="1" dirty="0">
                          <a:solidFill>
                            <a:schemeClr val="bg1"/>
                          </a:solidFill>
                          <a:latin typeface="Segoe UI" pitchFamily="34" charset="0"/>
                          <a:ea typeface="Segoe UI" pitchFamily="34" charset="-122"/>
                          <a:cs typeface="Segoe UI" pitchFamily="34" charset="-120"/>
                        </a:rPr>
                        <a:t>R2</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600" dirty="0">
                          <a:solidFill>
                            <a:schemeClr val="tx1"/>
                          </a:solidFill>
                          <a:latin typeface="Segoe UI" pitchFamily="34" charset="0"/>
                          <a:ea typeface="Segoe UI" pitchFamily="34" charset="-122"/>
                          <a:cs typeface="Segoe UI" pitchFamily="34" charset="-120"/>
                        </a:rPr>
                        <a:t>Paiement à la disponibilité</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600" dirty="0">
                          <a:solidFill>
                            <a:schemeClr val="tx1"/>
                          </a:solidFill>
                          <a:latin typeface="Segoe UI" pitchFamily="34" charset="0"/>
                          <a:ea typeface="Segoe UI" pitchFamily="34" charset="-122"/>
                          <a:cs typeface="Segoe UI" pitchFamily="34" charset="-120"/>
                        </a:rPr>
                        <a:t>Hôpital en PPP, payé s'il est disponible</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57200">
                <a:tc>
                  <a:txBody>
                    <a:bodyPr/>
                    <a:lstStyle/>
                    <a:p>
                      <a:pPr algn="l" indent="0" marL="0">
                        <a:buNone/>
                      </a:pPr>
                      <a:r>
                        <a:rPr lang="en-US" sz="1600" b="1" i="1" dirty="0">
                          <a:solidFill>
                            <a:schemeClr val="bg1"/>
                          </a:solidFill>
                          <a:latin typeface="Segoe UI" pitchFamily="34" charset="0"/>
                          <a:ea typeface="Segoe UI" pitchFamily="34" charset="-122"/>
                          <a:cs typeface="Segoe UI" pitchFamily="34" charset="-120"/>
                        </a:rPr>
                        <a:t>R3</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600" dirty="0">
                          <a:solidFill>
                            <a:schemeClr val="tx1"/>
                          </a:solidFill>
                          <a:latin typeface="Segoe UI" pitchFamily="34" charset="0"/>
                          <a:ea typeface="Segoe UI" pitchFamily="34" charset="-122"/>
                          <a:cs typeface="Segoe UI" pitchFamily="34" charset="-120"/>
                        </a:rPr>
                        <a:t>Contrat avec risque de volume</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600" dirty="0">
                          <a:solidFill>
                            <a:schemeClr val="tx1"/>
                          </a:solidFill>
                          <a:latin typeface="Segoe UI" pitchFamily="34" charset="0"/>
                          <a:ea typeface="Segoe UI" pitchFamily="34" charset="-122"/>
                          <a:cs typeface="Segoe UI" pitchFamily="34" charset="-120"/>
                        </a:rPr>
                        <a:t>Terminal portuaire avec un volume minimum garanti</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57200">
                <a:tc>
                  <a:txBody>
                    <a:bodyPr/>
                    <a:lstStyle/>
                    <a:p>
                      <a:pPr algn="l" indent="0" marL="0">
                        <a:buNone/>
                      </a:pPr>
                      <a:r>
                        <a:rPr lang="en-US" sz="1600" b="1" i="1" dirty="0">
                          <a:solidFill>
                            <a:schemeClr val="bg1"/>
                          </a:solidFill>
                          <a:latin typeface="Segoe UI" pitchFamily="34" charset="0"/>
                          <a:ea typeface="Segoe UI" pitchFamily="34" charset="-122"/>
                          <a:cs typeface="Segoe UI" pitchFamily="34" charset="-120"/>
                        </a:rPr>
                        <a:t>R4</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600" dirty="0">
                          <a:solidFill>
                            <a:schemeClr val="tx1"/>
                          </a:solidFill>
                          <a:latin typeface="Segoe UI" pitchFamily="34" charset="0"/>
                          <a:ea typeface="Segoe UI" pitchFamily="34" charset="-122"/>
                          <a:cs typeface="Segoe UI" pitchFamily="34" charset="-120"/>
                        </a:rPr>
                        <a:t>Exposition au marché</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600" dirty="0">
                          <a:solidFill>
                            <a:schemeClr val="tx1"/>
                          </a:solidFill>
                          <a:latin typeface="Segoe UI" pitchFamily="34" charset="0"/>
                          <a:ea typeface="Segoe UI" pitchFamily="34" charset="-122"/>
                          <a:cs typeface="Segoe UI" pitchFamily="34" charset="-120"/>
                        </a:rPr>
                        <a:t>Autoroute à péage, hôtel, mine</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bl>
          </a:graphicData>
        </a:graphic>
      </p:graphicFrame>
      <p:sp>
        <p:nvSpPr>
          <p:cNvPr id="6" name="Text 2"/>
          <p:cNvSpPr txBox="1"/>
          <p:nvPr/>
        </p:nvSpPr>
        <p:spPr>
          <a:xfrm>
            <a:off x="457200" y="4069080"/>
            <a:ext cx="11277295" cy="822960"/>
          </a:xfrm>
          <a:prstGeom prst="rect">
            <a:avLst/>
          </a:prstGeom>
          <a:noFill/>
          <a:ln/>
        </p:spPr>
        <p:txBody>
          <a:bodyPr wrap="square" lIns="0" tIns="0" rIns="0" bIns="0" rtlCol="0" anchor="t"/>
          <a:lstStyle/>
          <a:p>
            <a:pPr indent="0" marL="0">
              <a:buNone/>
            </a:pPr>
            <a:r>
              <a:rPr lang="en-US" sz="1800" dirty="0">
                <a:solidFill>
                  <a:schemeClr val="tx1"/>
                </a:solidFill>
              </a:rPr>
              <a:t>Le secteur ajoute un écart Δ au seuil (éolien −0,05 ; mines +0,25) et la phase (construction, montée en charge, exploitation) fixe les poids des domaines.</a:t>
            </a:r>
            <a:endParaRPr lang="en-US" sz="18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lIns="0" tIns="0" rIns="0" bIns="0" rtlCol="0" anchor="t"/>
          <a:lstStyle/>
          <a:p>
            <a:pPr algn="l" indent="0" marL="0">
              <a:buNone/>
            </a:pPr>
            <a:r>
              <a:rPr lang="en-US" sz="2400" b="1" dirty="0">
                <a:solidFill>
                  <a:schemeClr val="accent1"/>
                </a:solidFill>
              </a:rPr>
              <a:t>Seuil applicable = base du régime + Δ secteur + phase</a:t>
            </a: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lIns="0" tIns="0" rIns="0" bIns="0" rtlCol="0"/>
          <a:lstStyle/>
          <a:p>
            <a:pPr algn="l" indent="0" marL="0">
              <a:buNone/>
            </a:pPr>
            <a:r>
              <a:rPr lang="en-US" sz="1300" i="1" dirty="0">
                <a:solidFill>
                  <a:schemeClr val="tx2"/>
                </a:solidFill>
              </a:rPr>
              <a:t>Étape 1 · Seuils DSCR</a:t>
            </a:r>
            <a:endParaRPr lang="en-US" sz="1300" dirty="0"/>
          </a:p>
        </p:txBody>
      </p:sp>
      <p:graphicFrame>
        <p:nvGraphicFramePr>
          <p:cNvPr id="6" name="tableau"/>
          <p:cNvGraphicFramePr>
            <a:graphicFrameLocks noGrp="1"/>
          </p:cNvGraphicFramePr>
          <p:nvPr>
            <p:extLst>
              <p:ext uri="{D42A27DB-BD31-4B8C-83A1-F6EECF244321}">
                <p14:modId xmlns:p14="http://schemas.microsoft.com/office/powerpoint/2010/main" val="1579011935"/>
              </p:ext>
            </p:extLst>
          </p:nvPr>
        </p:nvGraphicFramePr>
        <p:xfrm>
          <a:off x="457200" y="1417320"/>
          <a:ext cx="6126480" cy="914400"/>
        </p:xfrm>
        <a:graphic>
          <a:graphicData uri="http://schemas.openxmlformats.org/drawingml/2006/table">
            <a:tbl>
              <a:tblPr/>
              <a:tblGrid>
                <a:gridCol w="1188720"/>
                <a:gridCol w="1645920"/>
                <a:gridCol w="1645920"/>
                <a:gridCol w="1645920"/>
              </a:tblGrid>
              <a:tr h="457200">
                <a:tc>
                  <a:txBody>
                    <a:bodyPr/>
                    <a:lstStyle/>
                    <a:p>
                      <a:pPr algn="l" indent="0" marL="0">
                        <a:buNone/>
                      </a:pPr>
                      <a:r>
                        <a:rPr lang="en-US" sz="1600" b="1" i="1" dirty="0">
                          <a:solidFill>
                            <a:schemeClr val="tx2"/>
                          </a:solidFill>
                          <a:latin typeface="Segoe UI" pitchFamily="34" charset="0"/>
                          <a:ea typeface="Segoe UI" pitchFamily="34" charset="-122"/>
                          <a:cs typeface="Segoe UI" pitchFamily="34" charset="-120"/>
                        </a:rPr>
                        <a:t>Régime</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r" indent="0" marL="0">
                        <a:buNone/>
                      </a:pPr>
                      <a:r>
                        <a:rPr lang="en-US" sz="1600" b="1" i="1" dirty="0">
                          <a:solidFill>
                            <a:schemeClr val="tx2"/>
                          </a:solidFill>
                          <a:latin typeface="Segoe UI" pitchFamily="34" charset="0"/>
                          <a:ea typeface="Segoe UI" pitchFamily="34" charset="-122"/>
                          <a:cs typeface="Segoe UI" pitchFamily="34" charset="-120"/>
                        </a:rPr>
                        <a:t>Critique &lt;</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r" indent="0" marL="0">
                        <a:buNone/>
                      </a:pPr>
                      <a:r>
                        <a:rPr lang="en-US" sz="1600" b="1" i="1" dirty="0">
                          <a:solidFill>
                            <a:schemeClr val="tx2"/>
                          </a:solidFill>
                          <a:latin typeface="Segoe UI" pitchFamily="34" charset="0"/>
                          <a:ea typeface="Segoe UI" pitchFamily="34" charset="-122"/>
                          <a:cs typeface="Segoe UI" pitchFamily="34" charset="-120"/>
                        </a:rPr>
                        <a:t>Vigilance &lt;</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r" indent="0" marL="0">
                        <a:buNone/>
                      </a:pPr>
                      <a:r>
                        <a:rPr lang="en-US" sz="1600" b="1" i="1" dirty="0">
                          <a:solidFill>
                            <a:schemeClr val="tx2"/>
                          </a:solidFill>
                          <a:latin typeface="Segoe UI" pitchFamily="34" charset="0"/>
                          <a:ea typeface="Segoe UI" pitchFamily="34" charset="-122"/>
                          <a:cs typeface="Segoe UI" pitchFamily="34" charset="-120"/>
                        </a:rPr>
                        <a:t>Favorable &lt;</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r>
              <a:tr h="457200">
                <a:tc>
                  <a:txBody>
                    <a:bodyPr/>
                    <a:lstStyle/>
                    <a:p>
                      <a:pPr algn="l" indent="0" marL="0">
                        <a:buNone/>
                      </a:pPr>
                      <a:r>
                        <a:rPr lang="en-US" sz="1600" b="1" i="1" dirty="0">
                          <a:solidFill>
                            <a:schemeClr val="bg1"/>
                          </a:solidFill>
                          <a:latin typeface="Segoe UI" pitchFamily="34" charset="0"/>
                          <a:ea typeface="Segoe UI" pitchFamily="34" charset="-122"/>
                          <a:cs typeface="Segoe UI" pitchFamily="34" charset="-120"/>
                        </a:rPr>
                        <a:t>R1</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r" indent="0" marL="0">
                        <a:buNone/>
                      </a:pPr>
                      <a:r>
                        <a:rPr lang="en-US" sz="1600" dirty="0">
                          <a:solidFill>
                            <a:schemeClr val="tx1"/>
                          </a:solidFill>
                          <a:latin typeface="Segoe UI" pitchFamily="34" charset="0"/>
                          <a:ea typeface="Segoe UI" pitchFamily="34" charset="-122"/>
                          <a:cs typeface="Segoe UI" pitchFamily="34" charset="-120"/>
                        </a:rPr>
                        <a:t>1,10</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600" dirty="0">
                          <a:solidFill>
                            <a:schemeClr val="tx1"/>
                          </a:solidFill>
                          <a:latin typeface="Segoe UI" pitchFamily="34" charset="0"/>
                          <a:ea typeface="Segoe UI" pitchFamily="34" charset="-122"/>
                          <a:cs typeface="Segoe UI" pitchFamily="34" charset="-120"/>
                        </a:rPr>
                        <a:t>1,20</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600" dirty="0">
                          <a:solidFill>
                            <a:schemeClr val="tx1"/>
                          </a:solidFill>
                          <a:latin typeface="Segoe UI" pitchFamily="34" charset="0"/>
                          <a:ea typeface="Segoe UI" pitchFamily="34" charset="-122"/>
                          <a:cs typeface="Segoe UI" pitchFamily="34" charset="-120"/>
                        </a:rPr>
                        <a:t>1,30</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57200">
                <a:tc>
                  <a:txBody>
                    <a:bodyPr/>
                    <a:lstStyle/>
                    <a:p>
                      <a:pPr algn="l" indent="0" marL="0">
                        <a:buNone/>
                      </a:pPr>
                      <a:r>
                        <a:rPr lang="en-US" sz="1600" b="1" i="1" dirty="0">
                          <a:solidFill>
                            <a:schemeClr val="bg1"/>
                          </a:solidFill>
                          <a:latin typeface="Segoe UI" pitchFamily="34" charset="0"/>
                          <a:ea typeface="Segoe UI" pitchFamily="34" charset="-122"/>
                          <a:cs typeface="Segoe UI" pitchFamily="34" charset="-120"/>
                        </a:rPr>
                        <a:t>R2</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r" indent="0" marL="0">
                        <a:buNone/>
                      </a:pPr>
                      <a:r>
                        <a:rPr lang="en-US" sz="1600" dirty="0">
                          <a:solidFill>
                            <a:schemeClr val="tx1"/>
                          </a:solidFill>
                          <a:latin typeface="Segoe UI" pitchFamily="34" charset="0"/>
                          <a:ea typeface="Segoe UI" pitchFamily="34" charset="-122"/>
                          <a:cs typeface="Segoe UI" pitchFamily="34" charset="-120"/>
                        </a:rPr>
                        <a:t>1,12</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600" dirty="0">
                          <a:solidFill>
                            <a:schemeClr val="tx1"/>
                          </a:solidFill>
                          <a:latin typeface="Segoe UI" pitchFamily="34" charset="0"/>
                          <a:ea typeface="Segoe UI" pitchFamily="34" charset="-122"/>
                          <a:cs typeface="Segoe UI" pitchFamily="34" charset="-120"/>
                        </a:rPr>
                        <a:t>1,22</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600" dirty="0">
                          <a:solidFill>
                            <a:schemeClr val="tx1"/>
                          </a:solidFill>
                          <a:latin typeface="Segoe UI" pitchFamily="34" charset="0"/>
                          <a:ea typeface="Segoe UI" pitchFamily="34" charset="-122"/>
                          <a:cs typeface="Segoe UI" pitchFamily="34" charset="-120"/>
                        </a:rPr>
                        <a:t>1,32</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57200">
                <a:tc>
                  <a:txBody>
                    <a:bodyPr/>
                    <a:lstStyle/>
                    <a:p>
                      <a:pPr algn="l" indent="0" marL="0">
                        <a:buNone/>
                      </a:pPr>
                      <a:r>
                        <a:rPr lang="en-US" sz="1600" b="1" i="1" dirty="0">
                          <a:solidFill>
                            <a:schemeClr val="bg1"/>
                          </a:solidFill>
                          <a:latin typeface="Segoe UI" pitchFamily="34" charset="0"/>
                          <a:ea typeface="Segoe UI" pitchFamily="34" charset="-122"/>
                          <a:cs typeface="Segoe UI" pitchFamily="34" charset="-120"/>
                        </a:rPr>
                        <a:t>R3</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r" indent="0" marL="0">
                        <a:buNone/>
                      </a:pPr>
                      <a:r>
                        <a:rPr lang="en-US" sz="1600" dirty="0">
                          <a:solidFill>
                            <a:schemeClr val="tx1"/>
                          </a:solidFill>
                          <a:latin typeface="Segoe UI" pitchFamily="34" charset="0"/>
                          <a:ea typeface="Segoe UI" pitchFamily="34" charset="-122"/>
                          <a:cs typeface="Segoe UI" pitchFamily="34" charset="-120"/>
                        </a:rPr>
                        <a:t>1,20</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600" dirty="0">
                          <a:solidFill>
                            <a:schemeClr val="tx1"/>
                          </a:solidFill>
                          <a:latin typeface="Segoe UI" pitchFamily="34" charset="0"/>
                          <a:ea typeface="Segoe UI" pitchFamily="34" charset="-122"/>
                          <a:cs typeface="Segoe UI" pitchFamily="34" charset="-120"/>
                        </a:rPr>
                        <a:t>1,35</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600" dirty="0">
                          <a:solidFill>
                            <a:schemeClr val="tx1"/>
                          </a:solidFill>
                          <a:latin typeface="Segoe UI" pitchFamily="34" charset="0"/>
                          <a:ea typeface="Segoe UI" pitchFamily="34" charset="-122"/>
                          <a:cs typeface="Segoe UI" pitchFamily="34" charset="-120"/>
                        </a:rPr>
                        <a:t>1,50</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57200">
                <a:tc>
                  <a:txBody>
                    <a:bodyPr/>
                    <a:lstStyle/>
                    <a:p>
                      <a:pPr algn="l" indent="0" marL="0">
                        <a:buNone/>
                      </a:pPr>
                      <a:r>
                        <a:rPr lang="en-US" sz="1600" b="1" i="1" dirty="0">
                          <a:solidFill>
                            <a:schemeClr val="bg1"/>
                          </a:solidFill>
                          <a:latin typeface="Segoe UI" pitchFamily="34" charset="0"/>
                          <a:ea typeface="Segoe UI" pitchFamily="34" charset="-122"/>
                          <a:cs typeface="Segoe UI" pitchFamily="34" charset="-120"/>
                        </a:rPr>
                        <a:t>R4</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r" indent="0" marL="0">
                        <a:buNone/>
                      </a:pPr>
                      <a:r>
                        <a:rPr lang="en-US" sz="1600" dirty="0">
                          <a:solidFill>
                            <a:schemeClr val="tx1"/>
                          </a:solidFill>
                          <a:latin typeface="Segoe UI" pitchFamily="34" charset="0"/>
                          <a:ea typeface="Segoe UI" pitchFamily="34" charset="-122"/>
                          <a:cs typeface="Segoe UI" pitchFamily="34" charset="-120"/>
                        </a:rPr>
                        <a:t>1,35</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600" dirty="0">
                          <a:solidFill>
                            <a:schemeClr val="tx1"/>
                          </a:solidFill>
                          <a:latin typeface="Segoe UI" pitchFamily="34" charset="0"/>
                          <a:ea typeface="Segoe UI" pitchFamily="34" charset="-122"/>
                          <a:cs typeface="Segoe UI" pitchFamily="34" charset="-120"/>
                        </a:rPr>
                        <a:t>1,55</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600" dirty="0">
                          <a:solidFill>
                            <a:schemeClr val="tx1"/>
                          </a:solidFill>
                          <a:latin typeface="Segoe UI" pitchFamily="34" charset="0"/>
                          <a:ea typeface="Segoe UI" pitchFamily="34" charset="-122"/>
                          <a:cs typeface="Segoe UI" pitchFamily="34" charset="-120"/>
                        </a:rPr>
                        <a:t>1,80</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bl>
          </a:graphicData>
        </a:graphic>
      </p:graphicFrame>
      <p:sp>
        <p:nvSpPr>
          <p:cNvPr id="6" name="exemple"/>
          <p:cNvSpPr/>
          <p:nvPr/>
        </p:nvSpPr>
        <p:spPr>
          <a:xfrm>
            <a:off x="7040880" y="1691640"/>
            <a:ext cx="4599432" cy="2377440"/>
          </a:xfrm>
          <a:prstGeom prst="rect">
            <a:avLst/>
          </a:prstGeom>
          <a:solidFill>
            <a:schemeClr val="bg2"/>
          </a:solidFill>
          <a:ln w="12700">
            <a:solidFill>
              <a:schemeClr val="bg2"/>
            </a:solidFill>
            <a:prstDash val="solid"/>
          </a:ln>
        </p:spPr>
      </p:sp>
      <p:sp>
        <p:nvSpPr>
          <p:cNvPr id="7" name="Text 3"/>
          <p:cNvSpPr txBox="1"/>
          <p:nvPr/>
        </p:nvSpPr>
        <p:spPr>
          <a:xfrm>
            <a:off x="7242048" y="1856232"/>
            <a:ext cx="4197096" cy="2048256"/>
          </a:xfrm>
          <a:prstGeom prst="rect">
            <a:avLst/>
          </a:prstGeom>
          <a:noFill/>
          <a:ln/>
        </p:spPr>
        <p:txBody>
          <a:bodyPr wrap="square" lIns="0" tIns="0" rIns="0" bIns="0" rtlCol="0" anchor="t"/>
          <a:lstStyle/>
          <a:p>
            <a:pPr indent="0" marL="0">
              <a:spcAft>
                <a:spcPts val="600"/>
              </a:spcAft>
              <a:buNone/>
            </a:pPr>
            <a:r>
              <a:rPr lang="en-US" sz="1700" b="1" dirty="0">
                <a:solidFill>
                  <a:schemeClr val="accent1"/>
                </a:solidFill>
              </a:rPr>
              <a:t>Exemple</a:t>
            </a:r>
            <a:endParaRPr lang="en-US" sz="1700" dirty="0"/>
          </a:p>
          <a:p>
            <a:pPr indent="0" marL="0">
              <a:buNone/>
            </a:pPr>
            <a:r>
              <a:rPr lang="en-US" sz="1400" dirty="0">
                <a:solidFill>
                  <a:schemeClr val="tx1"/>
                </a:solidFill>
              </a:rPr>
              <a:t>Hôtel (R4, tourisme Δ +0,20) en montée en charge (+0,05) : seuil critique 1,35 + 0,20 + 0,05 = 1,60. Un DSCR de 1,06 sur le semestre creux est donc Critique.</a:t>
            </a:r>
            <a:endParaRPr lang="en-US" sz="1700" dirty="0"/>
          </a:p>
        </p:txBody>
      </p:sp>
      <p:sp>
        <p:nvSpPr>
          <p:cNvPr id="8" name="Text 4"/>
          <p:cNvSpPr txBox="1"/>
          <p:nvPr/>
        </p:nvSpPr>
        <p:spPr>
          <a:xfrm>
            <a:off x="457200" y="4206240"/>
            <a:ext cx="11277295" cy="548640"/>
          </a:xfrm>
          <a:prstGeom prst="rect">
            <a:avLst/>
          </a:prstGeom>
          <a:noFill/>
          <a:ln/>
        </p:spPr>
        <p:txBody>
          <a:bodyPr wrap="square" lIns="0" tIns="0" rIns="0" bIns="0" rtlCol="0" anchor="t"/>
          <a:lstStyle/>
          <a:p>
            <a:pPr indent="0" marL="0">
              <a:buNone/>
            </a:pPr>
            <a:r>
              <a:rPr lang="en-US" sz="1800" b="1" dirty="0">
                <a:solidFill>
                  <a:schemeClr val="tx2"/>
                </a:solidFill>
              </a:rPr>
              <a:t>DSCR = flux disponible pour la dette (CFADS) ÷ service de la dette, mesuré à chaque échéance.</a:t>
            </a:r>
            <a:endParaRPr lang="en-US" sz="18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lIns="0" tIns="0" rIns="0" bIns="0" rtlCol="0" anchor="t"/>
          <a:lstStyle/>
          <a:p>
            <a:pPr algn="l" indent="0" marL="0">
              <a:buNone/>
            </a:pPr>
            <a:r>
              <a:rPr lang="en-US" sz="2400" b="1" dirty="0">
                <a:solidFill>
                  <a:schemeClr val="accent1"/>
                </a:solidFill>
              </a:rPr>
              <a:t>L'effort d'analyse suit la taille et la complexité</a:t>
            </a: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lIns="0" tIns="0" rIns="0" bIns="0" rtlCol="0"/>
          <a:lstStyle/>
          <a:p>
            <a:pPr algn="l" indent="0" marL="0">
              <a:buNone/>
            </a:pPr>
            <a:r>
              <a:rPr lang="en-US" sz="1300" i="1" dirty="0">
                <a:solidFill>
                  <a:schemeClr val="tx2"/>
                </a:solidFill>
              </a:rPr>
              <a:t>Proportionnalité</a:t>
            </a:r>
            <a:endParaRPr lang="en-US" sz="1300" dirty="0"/>
          </a:p>
        </p:txBody>
      </p:sp>
      <p:sp>
        <p:nvSpPr>
          <p:cNvPr id="5" name="regime1"/>
          <p:cNvSpPr/>
          <p:nvPr/>
        </p:nvSpPr>
        <p:spPr>
          <a:xfrm>
            <a:off x="457200" y="1691640"/>
            <a:ext cx="3515258" cy="2103120"/>
          </a:xfrm>
          <a:prstGeom prst="rect">
            <a:avLst/>
          </a:prstGeom>
          <a:solidFill>
            <a:schemeClr val="bg2"/>
          </a:solidFill>
          <a:ln w="12700">
            <a:solidFill>
              <a:schemeClr val="bg2"/>
            </a:solidFill>
            <a:prstDash val="solid"/>
          </a:ln>
        </p:spPr>
      </p:sp>
      <p:sp>
        <p:nvSpPr>
          <p:cNvPr id="6" name="Text 3"/>
          <p:cNvSpPr txBox="1"/>
          <p:nvPr/>
        </p:nvSpPr>
        <p:spPr>
          <a:xfrm>
            <a:off x="658368" y="1856232"/>
            <a:ext cx="3112922" cy="1773936"/>
          </a:xfrm>
          <a:prstGeom prst="rect">
            <a:avLst/>
          </a:prstGeom>
          <a:noFill/>
          <a:ln/>
        </p:spPr>
        <p:txBody>
          <a:bodyPr wrap="square" lIns="0" tIns="0" rIns="0" bIns="0" rtlCol="0" anchor="t"/>
          <a:lstStyle/>
          <a:p>
            <a:pPr indent="0" marL="0">
              <a:spcAft>
                <a:spcPts val="600"/>
              </a:spcAft>
              <a:buNone/>
            </a:pPr>
            <a:r>
              <a:rPr lang="en-US" sz="1700" b="1" dirty="0">
                <a:solidFill>
                  <a:schemeClr val="accent1"/>
                </a:solidFill>
              </a:rPr>
              <a:t>S · Simplifié</a:t>
            </a:r>
            <a:endParaRPr lang="en-US" sz="1700" dirty="0"/>
          </a:p>
          <a:p>
            <a:pPr indent="0" marL="0">
              <a:buNone/>
            </a:pPr>
            <a:r>
              <a:rPr lang="en-US" sz="1400" dirty="0">
                <a:solidFill>
                  <a:schemeClr val="tx1"/>
                </a:solidFill>
              </a:rPr>
              <a:t>CAPEX ≤ 200 MMAD, exposition ≤ 100, R1 ou R2, tout en MAD, technologie éprouvée, durée ≤ 12 ans.</a:t>
            </a:r>
            <a:endParaRPr lang="en-US" sz="1700" dirty="0"/>
          </a:p>
        </p:txBody>
      </p:sp>
      <p:sp>
        <p:nvSpPr>
          <p:cNvPr id="7" name="regime2"/>
          <p:cNvSpPr/>
          <p:nvPr/>
        </p:nvSpPr>
        <p:spPr>
          <a:xfrm>
            <a:off x="4338218" y="1691640"/>
            <a:ext cx="3515258" cy="2103120"/>
          </a:xfrm>
          <a:prstGeom prst="rect">
            <a:avLst/>
          </a:prstGeom>
          <a:solidFill>
            <a:schemeClr val="bg2"/>
          </a:solidFill>
          <a:ln w="12700">
            <a:solidFill>
              <a:schemeClr val="bg2"/>
            </a:solidFill>
            <a:prstDash val="solid"/>
          </a:ln>
        </p:spPr>
      </p:sp>
      <p:sp>
        <p:nvSpPr>
          <p:cNvPr id="8" name="Text 5"/>
          <p:cNvSpPr txBox="1"/>
          <p:nvPr/>
        </p:nvSpPr>
        <p:spPr>
          <a:xfrm>
            <a:off x="4539386" y="1856232"/>
            <a:ext cx="3112922" cy="1773936"/>
          </a:xfrm>
          <a:prstGeom prst="rect">
            <a:avLst/>
          </a:prstGeom>
          <a:noFill/>
          <a:ln/>
        </p:spPr>
        <p:txBody>
          <a:bodyPr wrap="square" lIns="0" tIns="0" rIns="0" bIns="0" rtlCol="0" anchor="t"/>
          <a:lstStyle/>
          <a:p>
            <a:pPr indent="0" marL="0">
              <a:spcAft>
                <a:spcPts val="600"/>
              </a:spcAft>
              <a:buNone/>
            </a:pPr>
            <a:r>
              <a:rPr lang="en-US" sz="1700" b="1" dirty="0">
                <a:solidFill>
                  <a:schemeClr val="accent1"/>
                </a:solidFill>
              </a:rPr>
              <a:t>M · Standard</a:t>
            </a:r>
            <a:endParaRPr lang="en-US" sz="1700" dirty="0"/>
          </a:p>
          <a:p>
            <a:pPr indent="0" marL="0">
              <a:buNone/>
            </a:pPr>
            <a:r>
              <a:rPr lang="en-US" sz="1400" dirty="0">
                <a:solidFill>
                  <a:schemeClr val="tx1"/>
                </a:solidFill>
              </a:rPr>
              <a:t>Par défaut : une condition de S manque et aucune condition d'escalade n'est remplie.</a:t>
            </a:r>
            <a:endParaRPr lang="en-US" sz="1700" dirty="0"/>
          </a:p>
        </p:txBody>
      </p:sp>
      <p:sp>
        <p:nvSpPr>
          <p:cNvPr id="9" name="regime3"/>
          <p:cNvSpPr/>
          <p:nvPr/>
        </p:nvSpPr>
        <p:spPr>
          <a:xfrm>
            <a:off x="8219237" y="1691640"/>
            <a:ext cx="3515258" cy="2103120"/>
          </a:xfrm>
          <a:prstGeom prst="rect">
            <a:avLst/>
          </a:prstGeom>
          <a:solidFill>
            <a:schemeClr val="accent1"/>
          </a:solidFill>
          <a:ln w="12700">
            <a:solidFill>
              <a:schemeClr val="accent1"/>
            </a:solidFill>
            <a:prstDash val="solid"/>
          </a:ln>
        </p:spPr>
      </p:sp>
      <p:sp>
        <p:nvSpPr>
          <p:cNvPr id="10" name="Text 7"/>
          <p:cNvSpPr txBox="1"/>
          <p:nvPr/>
        </p:nvSpPr>
        <p:spPr>
          <a:xfrm>
            <a:off x="8420405" y="1856232"/>
            <a:ext cx="3112922" cy="1773936"/>
          </a:xfrm>
          <a:prstGeom prst="rect">
            <a:avLst/>
          </a:prstGeom>
          <a:noFill/>
          <a:ln/>
        </p:spPr>
        <p:txBody>
          <a:bodyPr wrap="square" lIns="0" tIns="0" rIns="0" bIns="0" rtlCol="0" anchor="t"/>
          <a:lstStyle/>
          <a:p>
            <a:pPr indent="0" marL="0">
              <a:spcAft>
                <a:spcPts val="600"/>
              </a:spcAft>
              <a:buNone/>
            </a:pPr>
            <a:r>
              <a:rPr lang="en-US" sz="1700" b="1" i="1" dirty="0">
                <a:solidFill>
                  <a:schemeClr val="bg1"/>
                </a:solidFill>
              </a:rPr>
              <a:t>L · Renforcé</a:t>
            </a:r>
            <a:endParaRPr lang="en-US" sz="1700" dirty="0"/>
          </a:p>
          <a:p>
            <a:pPr indent="0" marL="0">
              <a:buNone/>
            </a:pPr>
            <a:r>
              <a:rPr lang="en-US" sz="1400" b="1" dirty="0">
                <a:solidFill>
                  <a:schemeClr val="bg1"/>
                </a:solidFill>
              </a:rPr>
              <a:t>CAPEX &gt; 1 500 MMAD, R4, devises, consortium, contrat &gt; 20 ans, climat élevé, &gt; 3 contreparties clés.</a:t>
            </a:r>
            <a:endParaRPr lang="en-US" sz="1700" dirty="0"/>
          </a:p>
        </p:txBody>
      </p:sp>
      <p:sp>
        <p:nvSpPr>
          <p:cNvPr id="11" name="Text 8"/>
          <p:cNvSpPr txBox="1"/>
          <p:nvPr/>
        </p:nvSpPr>
        <p:spPr>
          <a:xfrm>
            <a:off x="457200" y="3840480"/>
            <a:ext cx="11277295" cy="822960"/>
          </a:xfrm>
          <a:prstGeom prst="rect">
            <a:avLst/>
          </a:prstGeom>
          <a:noFill/>
          <a:ln/>
        </p:spPr>
        <p:txBody>
          <a:bodyPr wrap="square" lIns="0" tIns="0" rIns="0" bIns="0" rtlCol="0" anchor="t"/>
          <a:lstStyle/>
          <a:p>
            <a:pPr indent="0" marL="0">
              <a:buNone/>
            </a:pPr>
            <a:r>
              <a:rPr lang="en-US" sz="1800" dirty="0">
                <a:solidFill>
                  <a:schemeClr val="tx1"/>
                </a:solidFill>
              </a:rPr>
              <a:t>Escalade automatique : un verrou fait passer S en M, un plafond fait passer M en L. Le régime S allège l'analyse, jamais les plafonds.</a:t>
            </a:r>
            <a:endParaRPr lang="en-US" sz="18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lIns="0" tIns="0" rIns="0" bIns="0" rtlCol="0" anchor="t"/>
          <a:lstStyle/>
          <a:p>
            <a:pPr algn="l" indent="0" marL="0">
              <a:buNone/>
            </a:pPr>
            <a:r>
              <a:rPr lang="en-US" sz="2400" b="1" dirty="0">
                <a:solidFill>
                  <a:schemeClr val="accent1"/>
                </a:solidFill>
              </a:rPr>
              <a:t>Six indicateurs, 25 à 30 % de la note</a:t>
            </a: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lIns="0" tIns="0" rIns="0" bIns="0" rtlCol="0"/>
          <a:lstStyle/>
          <a:p>
            <a:pPr algn="l" indent="0" marL="0">
              <a:buNone/>
            </a:pPr>
            <a:r>
              <a:rPr lang="en-US" sz="1300" i="1" dirty="0">
                <a:solidFill>
                  <a:schemeClr val="tx2"/>
                </a:solidFill>
              </a:rPr>
              <a:t>Étape 2 · Noyau financier D7</a:t>
            </a:r>
            <a:endParaRPr lang="en-US" sz="1300" dirty="0"/>
          </a:p>
        </p:txBody>
      </p:sp>
      <p:graphicFrame>
        <p:nvGraphicFramePr>
          <p:cNvPr id="8" name="tableau"/>
          <p:cNvGraphicFramePr>
            <a:graphicFrameLocks noGrp="1"/>
          </p:cNvGraphicFramePr>
          <p:nvPr>
            <p:extLst>
              <p:ext uri="{D42A27DB-BD31-4B8C-83A1-F6EECF244321}">
                <p14:modId xmlns:p14="http://schemas.microsoft.com/office/powerpoint/2010/main" val="1579011935"/>
              </p:ext>
            </p:extLst>
          </p:nvPr>
        </p:nvGraphicFramePr>
        <p:xfrm>
          <a:off x="457200" y="1417320"/>
          <a:ext cx="11277295" cy="914400"/>
        </p:xfrm>
        <a:graphic>
          <a:graphicData uri="http://schemas.openxmlformats.org/drawingml/2006/table">
            <a:tbl>
              <a:tblPr/>
              <a:tblGrid>
                <a:gridCol w="914400"/>
                <a:gridCol w="5120640"/>
                <a:gridCol w="1188720"/>
                <a:gridCol w="3867912"/>
              </a:tblGrid>
              <a:tr h="411480">
                <a:tc>
                  <a:txBody>
                    <a:bodyPr/>
                    <a:lstStyle/>
                    <a:p>
                      <a:pPr algn="l" indent="0" marL="0">
                        <a:buNone/>
                      </a:pPr>
                      <a:r>
                        <a:rPr lang="en-US" sz="1500" b="1" i="1" dirty="0">
                          <a:solidFill>
                            <a:schemeClr val="tx2"/>
                          </a:solidFill>
                          <a:latin typeface="Segoe UI" pitchFamily="34" charset="0"/>
                          <a:ea typeface="Segoe UI" pitchFamily="34" charset="-122"/>
                          <a:cs typeface="Segoe UI" pitchFamily="34" charset="-120"/>
                        </a:rPr>
                        <a:t>Code</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500" b="1" i="1" dirty="0">
                          <a:solidFill>
                            <a:schemeClr val="tx2"/>
                          </a:solidFill>
                          <a:latin typeface="Segoe UI" pitchFamily="34" charset="0"/>
                          <a:ea typeface="Segoe UI" pitchFamily="34" charset="-122"/>
                          <a:cs typeface="Segoe UI" pitchFamily="34" charset="-120"/>
                        </a:rPr>
                        <a:t>Indicateur</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r" indent="0" marL="0">
                        <a:buNone/>
                      </a:pPr>
                      <a:r>
                        <a:rPr lang="en-US" sz="1500" b="1" i="1" dirty="0">
                          <a:solidFill>
                            <a:schemeClr val="tx2"/>
                          </a:solidFill>
                          <a:latin typeface="Segoe UI" pitchFamily="34" charset="0"/>
                          <a:ea typeface="Segoe UI" pitchFamily="34" charset="-122"/>
                          <a:cs typeface="Segoe UI" pitchFamily="34" charset="-120"/>
                        </a:rPr>
                        <a:t>Poids</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500" b="1" i="1" dirty="0">
                          <a:solidFill>
                            <a:schemeClr val="tx2"/>
                          </a:solidFill>
                          <a:latin typeface="Segoe UI" pitchFamily="34" charset="0"/>
                          <a:ea typeface="Segoe UI" pitchFamily="34" charset="-122"/>
                          <a:cs typeface="Segoe UI" pitchFamily="34" charset="-120"/>
                        </a:rPr>
                        <a:t>Comment il est noté</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r>
              <a:tr h="411480">
                <a:tc>
                  <a:txBody>
                    <a:bodyPr/>
                    <a:lstStyle/>
                    <a:p>
                      <a:pPr algn="l" indent="0" marL="0">
                        <a:buNone/>
                      </a:pPr>
                      <a:r>
                        <a:rPr lang="en-US" sz="1500" b="1" i="1" dirty="0">
                          <a:solidFill>
                            <a:schemeClr val="bg1"/>
                          </a:solidFill>
                          <a:latin typeface="Segoe UI" pitchFamily="34" charset="0"/>
                          <a:ea typeface="Segoe UI" pitchFamily="34" charset="-122"/>
                          <a:cs typeface="Segoe UI" pitchFamily="34" charset="-120"/>
                        </a:rPr>
                        <a:t>N1</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500" dirty="0">
                          <a:solidFill>
                            <a:schemeClr val="tx1"/>
                          </a:solidFill>
                          <a:latin typeface="Segoe UI" pitchFamily="34" charset="0"/>
                          <a:ea typeface="Segoe UI" pitchFamily="34" charset="-122"/>
                          <a:cs typeface="Segoe UI" pitchFamily="34" charset="-120"/>
                        </a:rPr>
                        <a:t>DSCR minimum, scénario central</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latin typeface="Segoe UI" pitchFamily="34" charset="0"/>
                          <a:ea typeface="Segoe UI" pitchFamily="34" charset="-122"/>
                          <a:cs typeface="Segoe UI" pitchFamily="34" charset="-120"/>
                        </a:rPr>
                        <a:t>25 %</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latin typeface="Segoe UI" pitchFamily="34" charset="0"/>
                          <a:ea typeface="Segoe UI" pitchFamily="34" charset="-122"/>
                          <a:cs typeface="Segoe UI" pitchFamily="34" charset="-120"/>
                        </a:rPr>
                        <a:t>Calculé sur l'échéancier</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11480">
                <a:tc>
                  <a:txBody>
                    <a:bodyPr/>
                    <a:lstStyle/>
                    <a:p>
                      <a:pPr algn="l" indent="0" marL="0">
                        <a:buNone/>
                      </a:pPr>
                      <a:r>
                        <a:rPr lang="en-US" sz="1500" b="1" i="1" dirty="0">
                          <a:solidFill>
                            <a:schemeClr val="bg1"/>
                          </a:solidFill>
                          <a:latin typeface="Segoe UI" pitchFamily="34" charset="0"/>
                          <a:ea typeface="Segoe UI" pitchFamily="34" charset="-122"/>
                          <a:cs typeface="Segoe UI" pitchFamily="34" charset="-120"/>
                        </a:rPr>
                        <a:t>N2</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500" dirty="0">
                          <a:solidFill>
                            <a:schemeClr val="tx1"/>
                          </a:solidFill>
                          <a:latin typeface="Segoe UI" pitchFamily="34" charset="0"/>
                          <a:ea typeface="Segoe UI" pitchFamily="34" charset="-122"/>
                          <a:cs typeface="Segoe UI" pitchFamily="34" charset="-120"/>
                        </a:rPr>
                        <a:t>DSCR minimum, scénario défavorable</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latin typeface="Segoe UI" pitchFamily="34" charset="0"/>
                          <a:ea typeface="Segoe UI" pitchFamily="34" charset="-122"/>
                          <a:cs typeface="Segoe UI" pitchFamily="34" charset="-120"/>
                        </a:rPr>
                        <a:t>20 %</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latin typeface="Segoe UI" pitchFamily="34" charset="0"/>
                          <a:ea typeface="Segoe UI" pitchFamily="34" charset="-122"/>
                          <a:cs typeface="Segoe UI" pitchFamily="34" charset="-120"/>
                        </a:rPr>
                        <a:t>Calculé après le choc</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11480">
                <a:tc>
                  <a:txBody>
                    <a:bodyPr/>
                    <a:lstStyle/>
                    <a:p>
                      <a:pPr algn="l" indent="0" marL="0">
                        <a:buNone/>
                      </a:pPr>
                      <a:r>
                        <a:rPr lang="en-US" sz="1500" b="1" i="1" dirty="0">
                          <a:solidFill>
                            <a:schemeClr val="bg1"/>
                          </a:solidFill>
                          <a:latin typeface="Segoe UI" pitchFamily="34" charset="0"/>
                          <a:ea typeface="Segoe UI" pitchFamily="34" charset="-122"/>
                          <a:cs typeface="Segoe UI" pitchFamily="34" charset="-120"/>
                        </a:rPr>
                        <a:t>N3</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500" dirty="0">
                          <a:solidFill>
                            <a:schemeClr val="tx1"/>
                          </a:solidFill>
                          <a:latin typeface="Segoe UI" pitchFamily="34" charset="0"/>
                          <a:ea typeface="Segoe UI" pitchFamily="34" charset="-122"/>
                          <a:cs typeface="Segoe UI" pitchFamily="34" charset="-120"/>
                        </a:rPr>
                        <a:t>LLCR, ou financement à terminaison en P1</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latin typeface="Segoe UI" pitchFamily="34" charset="0"/>
                          <a:ea typeface="Segoe UI" pitchFamily="34" charset="-122"/>
                          <a:cs typeface="Segoe UI" pitchFamily="34" charset="-120"/>
                        </a:rPr>
                        <a:t>15 %</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latin typeface="Segoe UI" pitchFamily="34" charset="0"/>
                          <a:ea typeface="Segoe UI" pitchFamily="34" charset="-122"/>
                          <a:cs typeface="Segoe UI" pitchFamily="34" charset="-120"/>
                        </a:rPr>
                        <a:t>Calculé en construction</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11480">
                <a:tc>
                  <a:txBody>
                    <a:bodyPr/>
                    <a:lstStyle/>
                    <a:p>
                      <a:pPr algn="l" indent="0" marL="0">
                        <a:buNone/>
                      </a:pPr>
                      <a:r>
                        <a:rPr lang="en-US" sz="1500" b="1" i="1" dirty="0">
                          <a:solidFill>
                            <a:schemeClr val="bg1"/>
                          </a:solidFill>
                          <a:latin typeface="Segoe UI" pitchFamily="34" charset="0"/>
                          <a:ea typeface="Segoe UI" pitchFamily="34" charset="-122"/>
                          <a:cs typeface="Segoe UI" pitchFamily="34" charset="-120"/>
                        </a:rPr>
                        <a:t>N4</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500" dirty="0">
                          <a:solidFill>
                            <a:schemeClr val="tx1"/>
                          </a:solidFill>
                          <a:latin typeface="Segoe UI" pitchFamily="34" charset="0"/>
                          <a:ea typeface="Segoe UI" pitchFamily="34" charset="-122"/>
                          <a:cs typeface="Segoe UI" pitchFamily="34" charset="-120"/>
                        </a:rPr>
                        <a:t>Liquidité : DSRA, réserves, cascade</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latin typeface="Segoe UI" pitchFamily="34" charset="0"/>
                          <a:ea typeface="Segoe UI" pitchFamily="34" charset="-122"/>
                          <a:cs typeface="Segoe UI" pitchFamily="34" charset="-120"/>
                        </a:rPr>
                        <a:t>15 %</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latin typeface="Segoe UI" pitchFamily="34" charset="0"/>
                          <a:ea typeface="Segoe UI" pitchFamily="34" charset="-122"/>
                          <a:cs typeface="Segoe UI" pitchFamily="34" charset="-120"/>
                        </a:rPr>
                        <a:t>Situation choisie</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11480">
                <a:tc>
                  <a:txBody>
                    <a:bodyPr/>
                    <a:lstStyle/>
                    <a:p>
                      <a:pPr algn="l" indent="0" marL="0">
                        <a:buNone/>
                      </a:pPr>
                      <a:r>
                        <a:rPr lang="en-US" sz="1500" b="1" i="1" dirty="0">
                          <a:solidFill>
                            <a:schemeClr val="bg1"/>
                          </a:solidFill>
                          <a:latin typeface="Segoe UI" pitchFamily="34" charset="0"/>
                          <a:ea typeface="Segoe UI" pitchFamily="34" charset="-122"/>
                          <a:cs typeface="Segoe UI" pitchFamily="34" charset="-120"/>
                        </a:rPr>
                        <a:t>N5</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500" dirty="0">
                          <a:solidFill>
                            <a:schemeClr val="tx1"/>
                          </a:solidFill>
                          <a:latin typeface="Segoe UI" pitchFamily="34" charset="0"/>
                          <a:ea typeface="Segoe UI" pitchFamily="34" charset="-122"/>
                          <a:cs typeface="Segoe UI" pitchFamily="34" charset="-120"/>
                        </a:rPr>
                        <a:t>Levier et fonds propres à risque</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latin typeface="Segoe UI" pitchFamily="34" charset="0"/>
                          <a:ea typeface="Segoe UI" pitchFamily="34" charset="-122"/>
                          <a:cs typeface="Segoe UI" pitchFamily="34" charset="-120"/>
                        </a:rPr>
                        <a:t>15 %</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latin typeface="Segoe UI" pitchFamily="34" charset="0"/>
                          <a:ea typeface="Segoe UI" pitchFamily="34" charset="-122"/>
                          <a:cs typeface="Segoe UI" pitchFamily="34" charset="-120"/>
                        </a:rPr>
                        <a:t>Situation choisie</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11480">
                <a:tc>
                  <a:txBody>
                    <a:bodyPr/>
                    <a:lstStyle/>
                    <a:p>
                      <a:pPr algn="l" indent="0" marL="0">
                        <a:buNone/>
                      </a:pPr>
                      <a:r>
                        <a:rPr lang="en-US" sz="1500" b="1" i="1" dirty="0">
                          <a:solidFill>
                            <a:schemeClr val="bg1"/>
                          </a:solidFill>
                          <a:latin typeface="Segoe UI" pitchFamily="34" charset="0"/>
                          <a:ea typeface="Segoe UI" pitchFamily="34" charset="-122"/>
                          <a:cs typeface="Segoe UI" pitchFamily="34" charset="-120"/>
                        </a:rPr>
                        <a:t>N6</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500" dirty="0">
                          <a:solidFill>
                            <a:schemeClr val="tx1"/>
                          </a:solidFill>
                          <a:latin typeface="Segoe UI" pitchFamily="34" charset="0"/>
                          <a:ea typeface="Segoe UI" pitchFamily="34" charset="-122"/>
                          <a:cs typeface="Segoe UI" pitchFamily="34" charset="-120"/>
                        </a:rPr>
                        <a:t>Exposition taux, change, refinancement</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latin typeface="Segoe UI" pitchFamily="34" charset="0"/>
                          <a:ea typeface="Segoe UI" pitchFamily="34" charset="-122"/>
                          <a:cs typeface="Segoe UI" pitchFamily="34" charset="-120"/>
                        </a:rPr>
                        <a:t>10 %</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latin typeface="Segoe UI" pitchFamily="34" charset="0"/>
                          <a:ea typeface="Segoe UI" pitchFamily="34" charset="-122"/>
                          <a:cs typeface="Segoe UI" pitchFamily="34" charset="-120"/>
                        </a:rPr>
                        <a:t>Situation choisie</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bl>
          </a:graphicData>
        </a:graphic>
      </p:graphicFrame>
      <p:sp>
        <p:nvSpPr>
          <p:cNvPr id="6" name="Text 2"/>
          <p:cNvSpPr txBox="1"/>
          <p:nvPr/>
        </p:nvSpPr>
        <p:spPr>
          <a:xfrm>
            <a:off x="457200" y="4572000"/>
            <a:ext cx="11277295" cy="548640"/>
          </a:xfrm>
          <a:prstGeom prst="rect">
            <a:avLst/>
          </a:prstGeom>
          <a:noFill/>
          <a:ln/>
        </p:spPr>
        <p:txBody>
          <a:bodyPr wrap="square" lIns="0" tIns="0" rIns="0" bIns="0" rtlCol="0" anchor="t"/>
          <a:lstStyle/>
          <a:p>
            <a:pPr indent="0" marL="0">
              <a:buNone/>
            </a:pPr>
            <a:r>
              <a:rPr lang="en-US" sz="1800" dirty="0">
                <a:solidFill>
                  <a:schemeClr val="tx1"/>
                </a:solidFill>
              </a:rPr>
              <a:t>Chaque indicateur vaut 100, 80, 50 ou 20. Une information insuffisante compte 20 et rend la note provisoire.</a:t>
            </a:r>
            <a:endParaRPr lang="en-US" sz="18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lIns="0" tIns="0" rIns="0" bIns="0" rtlCol="0" anchor="t"/>
          <a:lstStyle/>
          <a:p>
            <a:pPr algn="l" indent="0" marL="0">
              <a:buNone/>
            </a:pPr>
            <a:r>
              <a:rPr lang="en-US" sz="2400" b="1" dirty="0">
                <a:solidFill>
                  <a:schemeClr val="accent1"/>
                </a:solidFill>
              </a:rPr>
              <a:t>Le DSCR se mesure échéance par échéance</a:t>
            </a: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lIns="0" tIns="0" rIns="0" bIns="0" rtlCol="0"/>
          <a:lstStyle/>
          <a:p>
            <a:pPr algn="l" indent="0" marL="0">
              <a:buNone/>
            </a:pPr>
            <a:r>
              <a:rPr lang="en-US" sz="1300" i="1" dirty="0">
                <a:solidFill>
                  <a:schemeClr val="tx2"/>
                </a:solidFill>
              </a:rPr>
              <a:t>Le piège du ratio annuel · cas C4A</a:t>
            </a:r>
            <a:endParaRPr lang="en-US" sz="1300" dirty="0"/>
          </a:p>
        </p:txBody>
      </p:sp>
      <p:sp>
        <p:nvSpPr>
          <p:cNvPr id="5" name="Text 2"/>
          <p:cNvSpPr txBox="1"/>
          <p:nvPr/>
        </p:nvSpPr>
        <p:spPr>
          <a:xfrm>
            <a:off x="457200" y="1371600"/>
            <a:ext cx="5029200" cy="1280160"/>
          </a:xfrm>
          <a:prstGeom prst="rect">
            <a:avLst/>
          </a:prstGeom>
          <a:noFill/>
          <a:ln/>
        </p:spPr>
        <p:txBody>
          <a:bodyPr wrap="square" lIns="0" tIns="0" rIns="0" bIns="0" rtlCol="0" anchor="t"/>
          <a:lstStyle/>
          <a:p>
            <a:pPr indent="0" marL="0">
              <a:buNone/>
            </a:pPr>
            <a:r>
              <a:rPr lang="en-US" sz="8000" b="1" dirty="0">
                <a:solidFill>
                  <a:schemeClr val="tx2"/>
                </a:solidFill>
              </a:rPr>
              <a:t>1,53</a:t>
            </a:r>
            <a:endParaRPr lang="en-US" sz="8000" dirty="0"/>
          </a:p>
        </p:txBody>
      </p:sp>
      <p:sp>
        <p:nvSpPr>
          <p:cNvPr id="6" name="Text 3"/>
          <p:cNvSpPr txBox="1"/>
          <p:nvPr/>
        </p:nvSpPr>
        <p:spPr>
          <a:xfrm>
            <a:off x="457200" y="2697480"/>
            <a:ext cx="5029200" cy="457200"/>
          </a:xfrm>
          <a:prstGeom prst="rect">
            <a:avLst/>
          </a:prstGeom>
          <a:noFill/>
          <a:ln/>
        </p:spPr>
        <p:txBody>
          <a:bodyPr wrap="square" lIns="0" tIns="0" rIns="0" bIns="0" rtlCol="0" anchor="t"/>
          <a:lstStyle/>
          <a:p>
            <a:pPr indent="0" marL="0">
              <a:buNone/>
            </a:pPr>
            <a:r>
              <a:rPr lang="en-US" sz="1800" dirty="0">
                <a:solidFill>
                  <a:schemeClr val="tx1"/>
                </a:solidFill>
              </a:rPr>
              <a:t>DSCR annuel : semble Favorable</a:t>
            </a:r>
            <a:endParaRPr lang="en-US" sz="1800" dirty="0"/>
          </a:p>
        </p:txBody>
      </p:sp>
      <p:sp>
        <p:nvSpPr>
          <p:cNvPr id="7" name="Text 4"/>
          <p:cNvSpPr txBox="1"/>
          <p:nvPr/>
        </p:nvSpPr>
        <p:spPr>
          <a:xfrm>
            <a:off x="6309360" y="1371600"/>
            <a:ext cx="5029200" cy="1280160"/>
          </a:xfrm>
          <a:prstGeom prst="rect">
            <a:avLst/>
          </a:prstGeom>
          <a:noFill/>
          <a:ln/>
        </p:spPr>
        <p:txBody>
          <a:bodyPr wrap="square" lIns="0" tIns="0" rIns="0" bIns="0" rtlCol="0" anchor="t"/>
          <a:lstStyle/>
          <a:p>
            <a:pPr indent="0" marL="0">
              <a:buNone/>
            </a:pPr>
            <a:r>
              <a:rPr lang="en-US" sz="8000" b="1" dirty="0">
                <a:solidFill>
                  <a:schemeClr val="accent1"/>
                </a:solidFill>
              </a:rPr>
              <a:t>0,59</a:t>
            </a:r>
            <a:endParaRPr lang="en-US" sz="8000" dirty="0"/>
          </a:p>
        </p:txBody>
      </p:sp>
      <p:sp>
        <p:nvSpPr>
          <p:cNvPr id="8" name="Text 5"/>
          <p:cNvSpPr txBox="1"/>
          <p:nvPr/>
        </p:nvSpPr>
        <p:spPr>
          <a:xfrm>
            <a:off x="6309360" y="2697480"/>
            <a:ext cx="5303520" cy="457200"/>
          </a:xfrm>
          <a:prstGeom prst="rect">
            <a:avLst/>
          </a:prstGeom>
          <a:noFill/>
          <a:ln/>
        </p:spPr>
        <p:txBody>
          <a:bodyPr wrap="square" lIns="0" tIns="0" rIns="0" bIns="0" rtlCol="0" anchor="t"/>
          <a:lstStyle/>
          <a:p>
            <a:pPr indent="0" marL="0">
              <a:buNone/>
            </a:pPr>
            <a:r>
              <a:rPr lang="en-US" sz="1800" dirty="0">
                <a:solidFill>
                  <a:schemeClr val="tx1"/>
                </a:solidFill>
              </a:rPr>
              <a:t>DSCR du semestre d'intercampagne : Critique</a:t>
            </a:r>
            <a:endParaRPr lang="en-US" sz="1800" dirty="0"/>
          </a:p>
        </p:txBody>
      </p:sp>
      <p:sp>
        <p:nvSpPr>
          <p:cNvPr id="9" name="Text 6"/>
          <p:cNvSpPr txBox="1"/>
          <p:nvPr/>
        </p:nvSpPr>
        <p:spPr>
          <a:xfrm>
            <a:off x="457200" y="3657600"/>
            <a:ext cx="11277295" cy="1371600"/>
          </a:xfrm>
          <a:prstGeom prst="rect">
            <a:avLst/>
          </a:prstGeom>
          <a:noFill/>
          <a:ln/>
        </p:spPr>
        <p:txBody>
          <a:bodyPr wrap="square" lIns="0" tIns="0" rIns="0" bIns="0" rtlCol="0" anchor="t"/>
          <a:lstStyle/>
          <a:p>
            <a:pPr indent="0" marL="0">
              <a:buNone/>
            </a:pPr>
            <a:r>
              <a:rPr lang="en-US" sz="1800" dirty="0">
                <a:solidFill>
                  <a:schemeClr val="tx1"/>
                </a:solidFill>
              </a:rPr>
              <a:t>Une huilerie encaisse 42 MMAD en campagne et 10 MMAD hors campagne, pour 17 MMAD dus chaque semestre. L'année « passe », le semestre creux fait défaut. Après sculpture de l'amortissement et ligne de campagne (C4B), la note passe de 3 à 6.</a:t>
            </a:r>
            <a:endParaRPr lang="en-US" sz="18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lIns="0" tIns="0" rIns="0" bIns="0" rtlCol="0" anchor="t"/>
          <a:lstStyle/>
          <a:p>
            <a:pPr algn="l" indent="0" marL="0">
              <a:buNone/>
            </a:pPr>
            <a:r>
              <a:rPr lang="en-US" sz="2400" b="1" dirty="0">
                <a:solidFill>
                  <a:schemeClr val="accent1"/>
                </a:solidFill>
              </a:rPr>
              <a:t>Neuf domaines dont le poids suit la phase</a:t>
            </a: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lIns="0" tIns="0" rIns="0" bIns="0" rtlCol="0"/>
          <a:lstStyle/>
          <a:p>
            <a:pPr algn="l" indent="0" marL="0">
              <a:buNone/>
            </a:pPr>
            <a:r>
              <a:rPr lang="en-US" sz="1300" i="1" dirty="0">
                <a:solidFill>
                  <a:schemeClr val="tx2"/>
                </a:solidFill>
              </a:rPr>
              <a:t>Étape 3 · Grille qualitative</a:t>
            </a:r>
            <a:endParaRPr lang="en-US" sz="1300" dirty="0"/>
          </a:p>
        </p:txBody>
      </p:sp>
      <p:graphicFrame>
        <p:nvGraphicFramePr>
          <p:cNvPr id="10" name="tableau"/>
          <p:cNvGraphicFramePr>
            <a:graphicFrameLocks noGrp="1"/>
          </p:cNvGraphicFramePr>
          <p:nvPr>
            <p:extLst>
              <p:ext uri="{D42A27DB-BD31-4B8C-83A1-F6EECF244321}">
                <p14:modId xmlns:p14="http://schemas.microsoft.com/office/powerpoint/2010/main" val="1579011935"/>
              </p:ext>
            </p:extLst>
          </p:nvPr>
        </p:nvGraphicFramePr>
        <p:xfrm>
          <a:off x="457200" y="1325880"/>
          <a:ext cx="11277295" cy="914400"/>
        </p:xfrm>
        <a:graphic>
          <a:graphicData uri="http://schemas.openxmlformats.org/drawingml/2006/table">
            <a:tbl>
              <a:tblPr/>
              <a:tblGrid>
                <a:gridCol w="5056632"/>
                <a:gridCol w="2011680"/>
                <a:gridCol w="2011680"/>
                <a:gridCol w="2011680"/>
              </a:tblGrid>
              <a:tr h="429768">
                <a:tc>
                  <a:txBody>
                    <a:bodyPr/>
                    <a:lstStyle/>
                    <a:p>
                      <a:pPr algn="l" indent="0" marL="0">
                        <a:buNone/>
                      </a:pPr>
                      <a:r>
                        <a:rPr lang="en-US" sz="1500" b="1" i="1" dirty="0">
                          <a:solidFill>
                            <a:schemeClr val="tx2"/>
                          </a:solidFill>
                          <a:latin typeface="Segoe UI" pitchFamily="34" charset="0"/>
                          <a:ea typeface="Segoe UI" pitchFamily="34" charset="-122"/>
                          <a:cs typeface="Segoe UI" pitchFamily="34" charset="-120"/>
                        </a:rPr>
                        <a:t>Domaine</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r" indent="0" marL="0">
                        <a:buNone/>
                      </a:pPr>
                      <a:r>
                        <a:rPr lang="en-US" sz="1500" b="1" i="1" dirty="0">
                          <a:solidFill>
                            <a:schemeClr val="tx2"/>
                          </a:solidFill>
                          <a:latin typeface="Segoe UI" pitchFamily="34" charset="0"/>
                          <a:ea typeface="Segoe UI" pitchFamily="34" charset="-122"/>
                          <a:cs typeface="Segoe UI" pitchFamily="34" charset="-120"/>
                        </a:rPr>
                        <a:t>P1 construction</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r" indent="0" marL="0">
                        <a:buNone/>
                      </a:pPr>
                      <a:r>
                        <a:rPr lang="en-US" sz="1500" b="1" i="1" dirty="0">
                          <a:solidFill>
                            <a:schemeClr val="tx2"/>
                          </a:solidFill>
                          <a:latin typeface="Segoe UI" pitchFamily="34" charset="0"/>
                          <a:ea typeface="Segoe UI" pitchFamily="34" charset="-122"/>
                          <a:cs typeface="Segoe UI" pitchFamily="34" charset="-120"/>
                        </a:rPr>
                        <a:t>P2 montée en charge</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r" indent="0" marL="0">
                        <a:buNone/>
                      </a:pPr>
                      <a:r>
                        <a:rPr lang="en-US" sz="1500" b="1" i="1" dirty="0">
                          <a:solidFill>
                            <a:schemeClr val="tx2"/>
                          </a:solidFill>
                          <a:latin typeface="Segoe UI" pitchFamily="34" charset="0"/>
                          <a:ea typeface="Segoe UI" pitchFamily="34" charset="-122"/>
                          <a:cs typeface="Segoe UI" pitchFamily="34" charset="-120"/>
                        </a:rPr>
                        <a:t>P3 exploitation</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r>
              <a:tr h="429768">
                <a:tc>
                  <a:txBody>
                    <a:bodyPr/>
                    <a:lstStyle/>
                    <a:p>
                      <a:pPr algn="l" indent="0" marL="0">
                        <a:buNone/>
                      </a:pPr>
                      <a:r>
                        <a:rPr lang="en-US" sz="1500" b="1" i="1" dirty="0">
                          <a:solidFill>
                            <a:schemeClr val="bg1"/>
                          </a:solidFill>
                          <a:latin typeface="Segoe UI" pitchFamily="34" charset="0"/>
                          <a:ea typeface="Segoe UI" pitchFamily="34" charset="-122"/>
                          <a:cs typeface="Segoe UI" pitchFamily="34" charset="-120"/>
                        </a:rPr>
                        <a:t>D1 Sponsors et actionnariat</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r" indent="0" marL="0">
                        <a:buNone/>
                      </a:pPr>
                      <a:r>
                        <a:rPr lang="en-US" sz="1500" dirty="0">
                          <a:solidFill>
                            <a:schemeClr val="tx1"/>
                          </a:solidFill>
                          <a:latin typeface="Segoe UI" pitchFamily="34" charset="0"/>
                          <a:ea typeface="Segoe UI" pitchFamily="34" charset="-122"/>
                          <a:cs typeface="Segoe UI" pitchFamily="34" charset="-120"/>
                        </a:rPr>
                        <a:t>10 %</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latin typeface="Segoe UI" pitchFamily="34" charset="0"/>
                          <a:ea typeface="Segoe UI" pitchFamily="34" charset="-122"/>
                          <a:cs typeface="Segoe UI" pitchFamily="34" charset="-120"/>
                        </a:rPr>
                        <a:t>8 %</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latin typeface="Segoe UI" pitchFamily="34" charset="0"/>
                          <a:ea typeface="Segoe UI" pitchFamily="34" charset="-122"/>
                          <a:cs typeface="Segoe UI" pitchFamily="34" charset="-120"/>
                        </a:rPr>
                        <a:t>5 %</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29768">
                <a:tc>
                  <a:txBody>
                    <a:bodyPr/>
                    <a:lstStyle/>
                    <a:p>
                      <a:pPr algn="l" indent="0" marL="0">
                        <a:buNone/>
                      </a:pPr>
                      <a:r>
                        <a:rPr lang="en-US" sz="1500" b="1" i="1" dirty="0">
                          <a:solidFill>
                            <a:schemeClr val="bg1"/>
                          </a:solidFill>
                          <a:latin typeface="Segoe UI" pitchFamily="34" charset="0"/>
                          <a:ea typeface="Segoe UI" pitchFamily="34" charset="-122"/>
                          <a:cs typeface="Segoe UI" pitchFamily="34" charset="-120"/>
                        </a:rPr>
                        <a:t>D2 Projet, site, technologie</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r" indent="0" marL="0">
                        <a:buNone/>
                      </a:pPr>
                      <a:r>
                        <a:rPr lang="en-US" sz="1500" dirty="0">
                          <a:solidFill>
                            <a:schemeClr val="tx1"/>
                          </a:solidFill>
                          <a:latin typeface="Segoe UI" pitchFamily="34" charset="0"/>
                          <a:ea typeface="Segoe UI" pitchFamily="34" charset="-122"/>
                          <a:cs typeface="Segoe UI" pitchFamily="34" charset="-120"/>
                        </a:rPr>
                        <a:t>10 %</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latin typeface="Segoe UI" pitchFamily="34" charset="0"/>
                          <a:ea typeface="Segoe UI" pitchFamily="34" charset="-122"/>
                          <a:cs typeface="Segoe UI" pitchFamily="34" charset="-120"/>
                        </a:rPr>
                        <a:t>7 %</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latin typeface="Segoe UI" pitchFamily="34" charset="0"/>
                          <a:ea typeface="Segoe UI" pitchFamily="34" charset="-122"/>
                          <a:cs typeface="Segoe UI" pitchFamily="34" charset="-120"/>
                        </a:rPr>
                        <a:t>5 %</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29768">
                <a:tc>
                  <a:txBody>
                    <a:bodyPr/>
                    <a:lstStyle/>
                    <a:p>
                      <a:pPr algn="l" indent="0" marL="0">
                        <a:buNone/>
                      </a:pPr>
                      <a:r>
                        <a:rPr lang="en-US" sz="1500" b="1" i="1" dirty="0">
                          <a:solidFill>
                            <a:schemeClr val="bg1"/>
                          </a:solidFill>
                          <a:latin typeface="Segoe UI" pitchFamily="34" charset="0"/>
                          <a:ea typeface="Segoe UI" pitchFamily="34" charset="-122"/>
                          <a:cs typeface="Segoe UI" pitchFamily="34" charset="-120"/>
                        </a:rPr>
                        <a:t>D3 Construction et achèvement</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r" indent="0" marL="0">
                        <a:buNone/>
                      </a:pPr>
                      <a:r>
                        <a:rPr lang="en-US" sz="1500" dirty="0">
                          <a:solidFill>
                            <a:schemeClr val="tx1"/>
                          </a:solidFill>
                          <a:latin typeface="Segoe UI" pitchFamily="34" charset="0"/>
                          <a:ea typeface="Segoe UI" pitchFamily="34" charset="-122"/>
                          <a:cs typeface="Segoe UI" pitchFamily="34" charset="-120"/>
                        </a:rPr>
                        <a:t>20 %</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latin typeface="Segoe UI" pitchFamily="34" charset="0"/>
                          <a:ea typeface="Segoe UI" pitchFamily="34" charset="-122"/>
                          <a:cs typeface="Segoe UI" pitchFamily="34" charset="-120"/>
                        </a:rPr>
                        <a:t>8 %</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latin typeface="Segoe UI" pitchFamily="34" charset="0"/>
                          <a:ea typeface="Segoe UI" pitchFamily="34" charset="-122"/>
                          <a:cs typeface="Segoe UI" pitchFamily="34" charset="-120"/>
                        </a:rPr>
                        <a:t>0 %</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29768">
                <a:tc>
                  <a:txBody>
                    <a:bodyPr/>
                    <a:lstStyle/>
                    <a:p>
                      <a:pPr algn="l" indent="0" marL="0">
                        <a:buNone/>
                      </a:pPr>
                      <a:r>
                        <a:rPr lang="en-US" sz="1500" b="1" i="1" dirty="0">
                          <a:solidFill>
                            <a:schemeClr val="bg1"/>
                          </a:solidFill>
                          <a:latin typeface="Segoe UI" pitchFamily="34" charset="0"/>
                          <a:ea typeface="Segoe UI" pitchFamily="34" charset="-122"/>
                          <a:cs typeface="Segoe UI" pitchFamily="34" charset="-120"/>
                        </a:rPr>
                        <a:t>D4 Mécanisme des recettes</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r" indent="0" marL="0">
                        <a:buNone/>
                      </a:pPr>
                      <a:r>
                        <a:rPr lang="en-US" sz="1500" dirty="0">
                          <a:solidFill>
                            <a:schemeClr val="tx1"/>
                          </a:solidFill>
                          <a:latin typeface="Segoe UI" pitchFamily="34" charset="0"/>
                          <a:ea typeface="Segoe UI" pitchFamily="34" charset="-122"/>
                          <a:cs typeface="Segoe UI" pitchFamily="34" charset="-120"/>
                        </a:rPr>
                        <a:t>5 %</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latin typeface="Segoe UI" pitchFamily="34" charset="0"/>
                          <a:ea typeface="Segoe UI" pitchFamily="34" charset="-122"/>
                          <a:cs typeface="Segoe UI" pitchFamily="34" charset="-120"/>
                        </a:rPr>
                        <a:t>12 %</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latin typeface="Segoe UI" pitchFamily="34" charset="0"/>
                          <a:ea typeface="Segoe UI" pitchFamily="34" charset="-122"/>
                          <a:cs typeface="Segoe UI" pitchFamily="34" charset="-120"/>
                        </a:rPr>
                        <a:t>15 %</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29768">
                <a:tc>
                  <a:txBody>
                    <a:bodyPr/>
                    <a:lstStyle/>
                    <a:p>
                      <a:pPr algn="l" indent="0" marL="0">
                        <a:buNone/>
                      </a:pPr>
                      <a:r>
                        <a:rPr lang="en-US" sz="1500" b="1" i="1" dirty="0">
                          <a:solidFill>
                            <a:schemeClr val="bg1"/>
                          </a:solidFill>
                          <a:latin typeface="Segoe UI" pitchFamily="34" charset="0"/>
                          <a:ea typeface="Segoe UI" pitchFamily="34" charset="-122"/>
                          <a:cs typeface="Segoe UI" pitchFamily="34" charset="-120"/>
                        </a:rPr>
                        <a:t>D5 Exploitation et maintenance</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r" indent="0" marL="0">
                        <a:buNone/>
                      </a:pPr>
                      <a:r>
                        <a:rPr lang="en-US" sz="1500" dirty="0">
                          <a:solidFill>
                            <a:schemeClr val="tx1"/>
                          </a:solidFill>
                          <a:latin typeface="Segoe UI" pitchFamily="34" charset="0"/>
                          <a:ea typeface="Segoe UI" pitchFamily="34" charset="-122"/>
                          <a:cs typeface="Segoe UI" pitchFamily="34" charset="-120"/>
                        </a:rPr>
                        <a:t>5 %</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latin typeface="Segoe UI" pitchFamily="34" charset="0"/>
                          <a:ea typeface="Segoe UI" pitchFamily="34" charset="-122"/>
                          <a:cs typeface="Segoe UI" pitchFamily="34" charset="-120"/>
                        </a:rPr>
                        <a:t>12 %</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latin typeface="Segoe UI" pitchFamily="34" charset="0"/>
                          <a:ea typeface="Segoe UI" pitchFamily="34" charset="-122"/>
                          <a:cs typeface="Segoe UI" pitchFamily="34" charset="-120"/>
                        </a:rPr>
                        <a:t>15 %</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29768">
                <a:tc>
                  <a:txBody>
                    <a:bodyPr/>
                    <a:lstStyle/>
                    <a:p>
                      <a:pPr algn="l" indent="0" marL="0">
                        <a:buNone/>
                      </a:pPr>
                      <a:r>
                        <a:rPr lang="en-US" sz="1500" b="1" i="1" dirty="0">
                          <a:solidFill>
                            <a:schemeClr val="bg1"/>
                          </a:solidFill>
                          <a:latin typeface="Segoe UI" pitchFamily="34" charset="0"/>
                          <a:ea typeface="Segoe UI" pitchFamily="34" charset="-122"/>
                          <a:cs typeface="Segoe UI" pitchFamily="34" charset="-120"/>
                        </a:rPr>
                        <a:t>D6 Contreparties et consortium</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r" indent="0" marL="0">
                        <a:buNone/>
                      </a:pPr>
                      <a:r>
                        <a:rPr lang="en-US" sz="1500" dirty="0">
                          <a:solidFill>
                            <a:schemeClr val="tx1"/>
                          </a:solidFill>
                          <a:latin typeface="Segoe UI" pitchFamily="34" charset="0"/>
                          <a:ea typeface="Segoe UI" pitchFamily="34" charset="-122"/>
                          <a:cs typeface="Segoe UI" pitchFamily="34" charset="-120"/>
                        </a:rPr>
                        <a:t>10 %</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latin typeface="Segoe UI" pitchFamily="34" charset="0"/>
                          <a:ea typeface="Segoe UI" pitchFamily="34" charset="-122"/>
                          <a:cs typeface="Segoe UI" pitchFamily="34" charset="-120"/>
                        </a:rPr>
                        <a:t>12 %</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latin typeface="Segoe UI" pitchFamily="34" charset="0"/>
                          <a:ea typeface="Segoe UI" pitchFamily="34" charset="-122"/>
                          <a:cs typeface="Segoe UI" pitchFamily="34" charset="-120"/>
                        </a:rPr>
                        <a:t>15 %</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29768">
                <a:tc>
                  <a:txBody>
                    <a:bodyPr/>
                    <a:lstStyle/>
                    <a:p>
                      <a:pPr algn="l" indent="0" marL="0">
                        <a:buNone/>
                      </a:pPr>
                      <a:r>
                        <a:rPr lang="en-US" sz="1500" b="1" i="1" dirty="0">
                          <a:solidFill>
                            <a:schemeClr val="bg1"/>
                          </a:solidFill>
                          <a:latin typeface="Segoe UI" pitchFamily="34" charset="0"/>
                          <a:ea typeface="Segoe UI" pitchFamily="34" charset="-122"/>
                          <a:cs typeface="Segoe UI" pitchFamily="34" charset="-120"/>
                        </a:rPr>
                        <a:t>D7 Noyau financier</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r" indent="0" marL="0">
                        <a:buNone/>
                      </a:pPr>
                      <a:r>
                        <a:rPr lang="en-US" sz="1500" b="1" dirty="0">
                          <a:solidFill>
                            <a:schemeClr val="tx1"/>
                          </a:solidFill>
                          <a:latin typeface="Segoe UI" pitchFamily="34" charset="0"/>
                          <a:ea typeface="Segoe UI" pitchFamily="34" charset="-122"/>
                          <a:cs typeface="Segoe UI" pitchFamily="34" charset="-120"/>
                        </a:rPr>
                        <a:t>25 %</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6"/>
                    </a:solidFill>
                  </a:tcPr>
                </a:tc>
                <a:tc>
                  <a:txBody>
                    <a:bodyPr/>
                    <a:lstStyle/>
                    <a:p>
                      <a:pPr algn="r" indent="0" marL="0">
                        <a:buNone/>
                      </a:pPr>
                      <a:r>
                        <a:rPr lang="en-US" sz="1500" b="1" dirty="0">
                          <a:solidFill>
                            <a:schemeClr val="tx1"/>
                          </a:solidFill>
                          <a:latin typeface="Segoe UI" pitchFamily="34" charset="0"/>
                          <a:ea typeface="Segoe UI" pitchFamily="34" charset="-122"/>
                          <a:cs typeface="Segoe UI" pitchFamily="34" charset="-120"/>
                        </a:rPr>
                        <a:t>28 %</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6"/>
                    </a:solidFill>
                  </a:tcPr>
                </a:tc>
                <a:tc>
                  <a:txBody>
                    <a:bodyPr/>
                    <a:lstStyle/>
                    <a:p>
                      <a:pPr algn="r" indent="0" marL="0">
                        <a:buNone/>
                      </a:pPr>
                      <a:r>
                        <a:rPr lang="en-US" sz="1500" b="1" dirty="0">
                          <a:solidFill>
                            <a:schemeClr val="tx1"/>
                          </a:solidFill>
                          <a:latin typeface="Segoe UI" pitchFamily="34" charset="0"/>
                          <a:ea typeface="Segoe UI" pitchFamily="34" charset="-122"/>
                          <a:cs typeface="Segoe UI" pitchFamily="34" charset="-120"/>
                        </a:rPr>
                        <a:t>30 %</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6"/>
                    </a:solidFill>
                  </a:tcPr>
                </a:tc>
              </a:tr>
              <a:tr h="429768">
                <a:tc>
                  <a:txBody>
                    <a:bodyPr/>
                    <a:lstStyle/>
                    <a:p>
                      <a:pPr algn="l" indent="0" marL="0">
                        <a:buNone/>
                      </a:pPr>
                      <a:r>
                        <a:rPr lang="en-US" sz="1500" b="1" i="1" dirty="0">
                          <a:solidFill>
                            <a:schemeClr val="bg1"/>
                          </a:solidFill>
                          <a:latin typeface="Segoe UI" pitchFamily="34" charset="0"/>
                          <a:ea typeface="Segoe UI" pitchFamily="34" charset="-122"/>
                          <a:cs typeface="Segoe UI" pitchFamily="34" charset="-120"/>
                        </a:rPr>
                        <a:t>D8 Juridique, sûretés, continuité</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r" indent="0" marL="0">
                        <a:buNone/>
                      </a:pPr>
                      <a:r>
                        <a:rPr lang="en-US" sz="1500" dirty="0">
                          <a:solidFill>
                            <a:schemeClr val="tx1"/>
                          </a:solidFill>
                          <a:latin typeface="Segoe UI" pitchFamily="34" charset="0"/>
                          <a:ea typeface="Segoe UI" pitchFamily="34" charset="-122"/>
                          <a:cs typeface="Segoe UI" pitchFamily="34" charset="-120"/>
                        </a:rPr>
                        <a:t>10 %</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latin typeface="Segoe UI" pitchFamily="34" charset="0"/>
                          <a:ea typeface="Segoe UI" pitchFamily="34" charset="-122"/>
                          <a:cs typeface="Segoe UI" pitchFamily="34" charset="-120"/>
                        </a:rPr>
                        <a:t>8 %</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latin typeface="Segoe UI" pitchFamily="34" charset="0"/>
                          <a:ea typeface="Segoe UI" pitchFamily="34" charset="-122"/>
                          <a:cs typeface="Segoe UI" pitchFamily="34" charset="-120"/>
                        </a:rPr>
                        <a:t>10 %</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29768">
                <a:tc>
                  <a:txBody>
                    <a:bodyPr/>
                    <a:lstStyle/>
                    <a:p>
                      <a:pPr algn="l" indent="0" marL="0">
                        <a:buNone/>
                      </a:pPr>
                      <a:r>
                        <a:rPr lang="en-US" sz="1500" b="1" i="1" dirty="0">
                          <a:solidFill>
                            <a:schemeClr val="bg1"/>
                          </a:solidFill>
                          <a:latin typeface="Segoe UI" pitchFamily="34" charset="0"/>
                          <a:ea typeface="Segoe UI" pitchFamily="34" charset="-122"/>
                          <a:cs typeface="Segoe UI" pitchFamily="34" charset="-120"/>
                        </a:rPr>
                        <a:t>D9 ESG et climat (IFC, EBRD)</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r" indent="0" marL="0">
                        <a:buNone/>
                      </a:pPr>
                      <a:r>
                        <a:rPr lang="en-US" sz="1500" dirty="0">
                          <a:solidFill>
                            <a:schemeClr val="tx1"/>
                          </a:solidFill>
                          <a:latin typeface="Segoe UI" pitchFamily="34" charset="0"/>
                          <a:ea typeface="Segoe UI" pitchFamily="34" charset="-122"/>
                          <a:cs typeface="Segoe UI" pitchFamily="34" charset="-120"/>
                        </a:rPr>
                        <a:t>5 %</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latin typeface="Segoe UI" pitchFamily="34" charset="0"/>
                          <a:ea typeface="Segoe UI" pitchFamily="34" charset="-122"/>
                          <a:cs typeface="Segoe UI" pitchFamily="34" charset="-120"/>
                        </a:rPr>
                        <a:t>5 %</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latin typeface="Segoe UI" pitchFamily="34" charset="0"/>
                          <a:ea typeface="Segoe UI" pitchFamily="34" charset="-122"/>
                          <a:cs typeface="Segoe UI" pitchFamily="34" charset="-120"/>
                        </a:rPr>
                        <a:t>5 %</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lIns="0" tIns="0" rIns="0" bIns="0" rtlCol="0" anchor="t"/>
          <a:lstStyle/>
          <a:p>
            <a:pPr algn="l" indent="0" marL="0">
              <a:buNone/>
            </a:pPr>
            <a:r>
              <a:rPr lang="en-US" sz="2400" b="1" dirty="0">
                <a:solidFill>
                  <a:schemeClr val="accent1"/>
                </a:solidFill>
              </a:rPr>
              <a:t>On choisit une situation, la note en découle</a:t>
            </a: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lIns="0" tIns="0" rIns="0" bIns="0" rtlCol="0"/>
          <a:lstStyle/>
          <a:p>
            <a:pPr algn="l" indent="0" marL="0">
              <a:buNone/>
            </a:pPr>
            <a:r>
              <a:rPr lang="en-US" sz="1300" i="1" dirty="0">
                <a:solidFill>
                  <a:schemeClr val="tx2"/>
                </a:solidFill>
              </a:rPr>
              <a:t>Nouveauté V8 · situations décrites</a:t>
            </a:r>
            <a:endParaRPr lang="en-US" sz="1300" dirty="0"/>
          </a:p>
        </p:txBody>
      </p:sp>
      <p:graphicFrame>
        <p:nvGraphicFramePr>
          <p:cNvPr id="11" name="tableau"/>
          <p:cNvGraphicFramePr>
            <a:graphicFrameLocks noGrp="1"/>
          </p:cNvGraphicFramePr>
          <p:nvPr>
            <p:extLst>
              <p:ext uri="{D42A27DB-BD31-4B8C-83A1-F6EECF244321}">
                <p14:modId xmlns:p14="http://schemas.microsoft.com/office/powerpoint/2010/main" val="1579011935"/>
              </p:ext>
            </p:extLst>
          </p:nvPr>
        </p:nvGraphicFramePr>
        <p:xfrm>
          <a:off x="457200" y="1325880"/>
          <a:ext cx="11277295" cy="914400"/>
        </p:xfrm>
        <a:graphic>
          <a:graphicData uri="http://schemas.openxmlformats.org/drawingml/2006/table">
            <a:tbl>
              <a:tblPr/>
              <a:tblGrid>
                <a:gridCol w="1097280"/>
                <a:gridCol w="9994392"/>
              </a:tblGrid>
              <a:tr h="438912">
                <a:tc>
                  <a:txBody>
                    <a:bodyPr/>
                    <a:lstStyle/>
                    <a:p>
                      <a:pPr algn="r" indent="0" marL="0">
                        <a:buNone/>
                      </a:pPr>
                      <a:r>
                        <a:rPr lang="en-US" sz="1600" b="1" i="1" dirty="0">
                          <a:solidFill>
                            <a:schemeClr val="tx2"/>
                          </a:solidFill>
                          <a:latin typeface="Segoe UI" pitchFamily="34" charset="0"/>
                          <a:ea typeface="Segoe UI" pitchFamily="34" charset="-122"/>
                          <a:cs typeface="Segoe UI" pitchFamily="34" charset="-120"/>
                        </a:rPr>
                        <a:t>Note</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600" b="1" i="1" dirty="0">
                          <a:solidFill>
                            <a:schemeClr val="tx2"/>
                          </a:solidFill>
                          <a:latin typeface="Segoe UI" pitchFamily="34" charset="0"/>
                          <a:ea typeface="Segoe UI" pitchFamily="34" charset="-122"/>
                          <a:cs typeface="Segoe UI" pitchFamily="34" charset="-120"/>
                        </a:rPr>
                        <a:t>D2.1 Technologie — variante éolien et solaire (ENR)</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r>
              <a:tr h="438912">
                <a:tc>
                  <a:txBody>
                    <a:bodyPr/>
                    <a:lstStyle/>
                    <a:p>
                      <a:pPr algn="r" indent="0" marL="0">
                        <a:buNone/>
                      </a:pPr>
                      <a:r>
                        <a:rPr lang="en-US" sz="1600" b="1" i="1" dirty="0">
                          <a:solidFill>
                            <a:schemeClr val="bg1"/>
                          </a:solidFill>
                          <a:latin typeface="Segoe UI" pitchFamily="34" charset="0"/>
                          <a:ea typeface="Segoe UI" pitchFamily="34" charset="-122"/>
                          <a:cs typeface="Segoe UI" pitchFamily="34" charset="-120"/>
                        </a:rPr>
                        <a:t>100</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600" dirty="0">
                          <a:solidFill>
                            <a:schemeClr val="tx1"/>
                          </a:solidFill>
                          <a:latin typeface="Segoe UI" pitchFamily="34" charset="0"/>
                          <a:ea typeface="Segoe UI" pitchFamily="34" charset="-122"/>
                          <a:cs typeface="Segoe UI" pitchFamily="34" charset="-120"/>
                        </a:rPr>
                        <a:t>Équipements de premier rang, productible P90 établi par un expert</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38912">
                <a:tc>
                  <a:txBody>
                    <a:bodyPr/>
                    <a:lstStyle/>
                    <a:p>
                      <a:pPr algn="r" indent="0" marL="0">
                        <a:buNone/>
                      </a:pPr>
                      <a:r>
                        <a:rPr lang="en-US" sz="1600" b="1" i="1" dirty="0">
                          <a:solidFill>
                            <a:schemeClr val="bg1"/>
                          </a:solidFill>
                          <a:latin typeface="Segoe UI" pitchFamily="34" charset="0"/>
                          <a:ea typeface="Segoe UI" pitchFamily="34" charset="-122"/>
                          <a:cs typeface="Segoe UI" pitchFamily="34" charset="-120"/>
                        </a:rPr>
                        <a:t>80</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600" dirty="0">
                          <a:solidFill>
                            <a:schemeClr val="tx1"/>
                          </a:solidFill>
                          <a:latin typeface="Segoe UI" pitchFamily="34" charset="0"/>
                          <a:ea typeface="Segoe UI" pitchFamily="34" charset="-122"/>
                          <a:cs typeface="Segoe UI" pitchFamily="34" charset="-120"/>
                        </a:rPr>
                        <a:t>Équipements reconnus, productible P90 établi sur des données courtes</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38912">
                <a:tc>
                  <a:txBody>
                    <a:bodyPr/>
                    <a:lstStyle/>
                    <a:p>
                      <a:pPr algn="r" indent="0" marL="0">
                        <a:buNone/>
                      </a:pPr>
                      <a:r>
                        <a:rPr lang="en-US" sz="1600" b="1" i="1" dirty="0">
                          <a:solidFill>
                            <a:schemeClr val="bg1"/>
                          </a:solidFill>
                          <a:latin typeface="Segoe UI" pitchFamily="34" charset="0"/>
                          <a:ea typeface="Segoe UI" pitchFamily="34" charset="-122"/>
                          <a:cs typeface="Segoe UI" pitchFamily="34" charset="-120"/>
                        </a:rPr>
                        <a:t>50</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600" dirty="0">
                          <a:solidFill>
                            <a:schemeClr val="tx1"/>
                          </a:solidFill>
                          <a:latin typeface="Segoe UI" pitchFamily="34" charset="0"/>
                          <a:ea typeface="Segoe UI" pitchFamily="34" charset="-122"/>
                          <a:cs typeface="Segoe UI" pitchFamily="34" charset="-120"/>
                        </a:rPr>
                        <a:t>Équipement récent ou productible établi par le développeur seul</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38912">
                <a:tc>
                  <a:txBody>
                    <a:bodyPr/>
                    <a:lstStyle/>
                    <a:p>
                      <a:pPr algn="r" indent="0" marL="0">
                        <a:buNone/>
                      </a:pPr>
                      <a:r>
                        <a:rPr lang="en-US" sz="1600" b="1" i="1" dirty="0">
                          <a:solidFill>
                            <a:schemeClr val="bg1"/>
                          </a:solidFill>
                          <a:latin typeface="Segoe UI" pitchFamily="34" charset="0"/>
                          <a:ea typeface="Segoe UI" pitchFamily="34" charset="-122"/>
                          <a:cs typeface="Segoe UI" pitchFamily="34" charset="-120"/>
                        </a:rPr>
                        <a:t>20</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600" dirty="0">
                          <a:solidFill>
                            <a:schemeClr val="tx1"/>
                          </a:solidFill>
                          <a:latin typeface="Segoe UI" pitchFamily="34" charset="0"/>
                          <a:ea typeface="Segoe UI" pitchFamily="34" charset="-122"/>
                          <a:cs typeface="Segoe UI" pitchFamily="34" charset="-120"/>
                        </a:rPr>
                        <a:t>Productible non établi de façon indépendante</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38912">
                <a:tc>
                  <a:txBody>
                    <a:bodyPr/>
                    <a:lstStyle/>
                    <a:p>
                      <a:pPr algn="r" indent="0" marL="0">
                        <a:buNone/>
                      </a:pPr>
                      <a:r>
                        <a:rPr lang="en-US" sz="1600" b="1" i="1" dirty="0">
                          <a:solidFill>
                            <a:schemeClr val="bg1"/>
                          </a:solidFill>
                          <a:latin typeface="Segoe UI" pitchFamily="34" charset="0"/>
                          <a:ea typeface="Segoe UI" pitchFamily="34" charset="-122"/>
                          <a:cs typeface="Segoe UI" pitchFamily="34" charset="-120"/>
                        </a:rPr>
                        <a:t>20</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600" dirty="0">
                          <a:solidFill>
                            <a:schemeClr val="tx1"/>
                          </a:solidFill>
                          <a:latin typeface="Segoe UI" pitchFamily="34" charset="0"/>
                          <a:ea typeface="Segoe UI" pitchFamily="34" charset="-122"/>
                          <a:cs typeface="Segoe UI" pitchFamily="34" charset="-120"/>
                        </a:rPr>
                        <a:t>Info. insuffisante : note provisoire, commentaire exigé</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bl>
          </a:graphicData>
        </a:graphic>
      </p:graphicFrame>
      <p:sp>
        <p:nvSpPr>
          <p:cNvPr id="6" name="Text 2"/>
          <p:cNvSpPr txBox="1"/>
          <p:nvPr/>
        </p:nvSpPr>
        <p:spPr>
          <a:xfrm>
            <a:off x="457200" y="4251960"/>
            <a:ext cx="11277295" cy="914400"/>
          </a:xfrm>
          <a:prstGeom prst="rect">
            <a:avLst/>
          </a:prstGeom>
          <a:noFill/>
          <a:ln/>
        </p:spPr>
        <p:txBody>
          <a:bodyPr wrap="square" lIns="0" tIns="0" rIns="0" bIns="0" rtlCol="0" anchor="t"/>
          <a:lstStyle/>
          <a:p>
            <a:pPr indent="0" marL="0">
              <a:buNone/>
            </a:pPr>
            <a:r>
              <a:rPr lang="en-US" sz="1800" dirty="0">
                <a:solidFill>
                  <a:schemeClr val="tx1"/>
                </a:solidFill>
              </a:rPr>
              <a:t>25 sous-critères et N4 à N6 sont décrits ainsi. D2.1, D4.1, D4.3 et D5.2 ont une variante pour chacun des 12 secteurs. Critique ou Info. insuffisante : commentaire obligatoire.</a:t>
            </a:r>
            <a:endParaRPr lang="en-US" sz="18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lIns="0" tIns="0" rIns="0" bIns="0" rtlCol="0" anchor="t"/>
          <a:lstStyle/>
          <a:p>
            <a:pPr algn="l" indent="0" marL="0">
              <a:buNone/>
            </a:pPr>
            <a:r>
              <a:rPr lang="en-US" sz="2400" b="1" dirty="0">
                <a:solidFill>
                  <a:schemeClr val="accent1"/>
                </a:solidFill>
              </a:rPr>
              <a:t>Un score sur 100 converti en note de 1 à 10</a:t>
            </a: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lIns="0" tIns="0" rIns="0" bIns="0" rtlCol="0"/>
          <a:lstStyle/>
          <a:p>
            <a:pPr algn="l" indent="0" marL="0">
              <a:buNone/>
            </a:pPr>
            <a:r>
              <a:rPr lang="en-US" sz="1300" i="1" dirty="0">
                <a:solidFill>
                  <a:schemeClr val="tx2"/>
                </a:solidFill>
              </a:rPr>
              <a:t>Étape 4 · Score et note calculée</a:t>
            </a:r>
            <a:endParaRPr lang="en-US" sz="1300" dirty="0"/>
          </a:p>
        </p:txBody>
      </p:sp>
      <p:graphicFrame>
        <p:nvGraphicFramePr>
          <p:cNvPr id="12" name="tableau"/>
          <p:cNvGraphicFramePr>
            <a:graphicFrameLocks noGrp="1"/>
          </p:cNvGraphicFramePr>
          <p:nvPr>
            <p:extLst>
              <p:ext uri="{D42A27DB-BD31-4B8C-83A1-F6EECF244321}">
                <p14:modId xmlns:p14="http://schemas.microsoft.com/office/powerpoint/2010/main" val="1579011935"/>
              </p:ext>
            </p:extLst>
          </p:nvPr>
        </p:nvGraphicFramePr>
        <p:xfrm>
          <a:off x="457200" y="1417320"/>
          <a:ext cx="11277295" cy="914400"/>
        </p:xfrm>
        <a:graphic>
          <a:graphicData uri="http://schemas.openxmlformats.org/drawingml/2006/table">
            <a:tbl>
              <a:tblPr/>
              <a:tblGrid>
                <a:gridCol w="1673352"/>
                <a:gridCol w="941832"/>
                <a:gridCol w="941832"/>
                <a:gridCol w="941832"/>
                <a:gridCol w="941832"/>
                <a:gridCol w="941832"/>
                <a:gridCol w="941832"/>
                <a:gridCol w="941832"/>
                <a:gridCol w="941832"/>
                <a:gridCol w="941832"/>
                <a:gridCol w="941832"/>
              </a:tblGrid>
              <a:tr h="457200">
                <a:tc>
                  <a:txBody>
                    <a:bodyPr/>
                    <a:lstStyle/>
                    <a:p>
                      <a:pPr algn="l" indent="0" marL="0">
                        <a:buNone/>
                      </a:pPr>
                      <a:r>
                        <a:rPr lang="en-US" sz="1600" b="1" i="1" dirty="0">
                          <a:solidFill>
                            <a:schemeClr val="tx2"/>
                          </a:solidFill>
                          <a:latin typeface="Segoe UI" pitchFamily="34" charset="0"/>
                          <a:ea typeface="Segoe UI" pitchFamily="34" charset="-122"/>
                          <a:cs typeface="Segoe UI" pitchFamily="34" charset="-120"/>
                        </a:rPr>
                        <a:t>Score ≥</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600" b="1" i="1" dirty="0">
                          <a:solidFill>
                            <a:schemeClr val="tx2"/>
                          </a:solidFill>
                          <a:latin typeface="Segoe UI" pitchFamily="34" charset="0"/>
                          <a:ea typeface="Segoe UI" pitchFamily="34" charset="-122"/>
                          <a:cs typeface="Segoe UI" pitchFamily="34" charset="-120"/>
                        </a:rPr>
                        <a:t>0</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600" b="1" i="1" dirty="0">
                          <a:solidFill>
                            <a:schemeClr val="tx2"/>
                          </a:solidFill>
                          <a:latin typeface="Segoe UI" pitchFamily="34" charset="0"/>
                          <a:ea typeface="Segoe UI" pitchFamily="34" charset="-122"/>
                          <a:cs typeface="Segoe UI" pitchFamily="34" charset="-120"/>
                        </a:rPr>
                        <a:t>32</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600" b="1" i="1" dirty="0">
                          <a:solidFill>
                            <a:schemeClr val="tx2"/>
                          </a:solidFill>
                          <a:latin typeface="Segoe UI" pitchFamily="34" charset="0"/>
                          <a:ea typeface="Segoe UI" pitchFamily="34" charset="-122"/>
                          <a:cs typeface="Segoe UI" pitchFamily="34" charset="-120"/>
                        </a:rPr>
                        <a:t>42</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600" b="1" i="1" dirty="0">
                          <a:solidFill>
                            <a:schemeClr val="tx2"/>
                          </a:solidFill>
                          <a:latin typeface="Segoe UI" pitchFamily="34" charset="0"/>
                          <a:ea typeface="Segoe UI" pitchFamily="34" charset="-122"/>
                          <a:cs typeface="Segoe UI" pitchFamily="34" charset="-120"/>
                        </a:rPr>
                        <a:t>50</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600" b="1" i="1" dirty="0">
                          <a:solidFill>
                            <a:schemeClr val="tx2"/>
                          </a:solidFill>
                          <a:latin typeface="Segoe UI" pitchFamily="34" charset="0"/>
                          <a:ea typeface="Segoe UI" pitchFamily="34" charset="-122"/>
                          <a:cs typeface="Segoe UI" pitchFamily="34" charset="-120"/>
                        </a:rPr>
                        <a:t>58</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600" b="1" i="1" dirty="0">
                          <a:solidFill>
                            <a:schemeClr val="tx2"/>
                          </a:solidFill>
                          <a:latin typeface="Segoe UI" pitchFamily="34" charset="0"/>
                          <a:ea typeface="Segoe UI" pitchFamily="34" charset="-122"/>
                          <a:cs typeface="Segoe UI" pitchFamily="34" charset="-120"/>
                        </a:rPr>
                        <a:t>66</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600" b="1" i="1" dirty="0">
                          <a:solidFill>
                            <a:schemeClr val="tx2"/>
                          </a:solidFill>
                          <a:latin typeface="Segoe UI" pitchFamily="34" charset="0"/>
                          <a:ea typeface="Segoe UI" pitchFamily="34" charset="-122"/>
                          <a:cs typeface="Segoe UI" pitchFamily="34" charset="-120"/>
                        </a:rPr>
                        <a:t>73</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600" b="1" i="1" dirty="0">
                          <a:solidFill>
                            <a:schemeClr val="tx2"/>
                          </a:solidFill>
                          <a:latin typeface="Segoe UI" pitchFamily="34" charset="0"/>
                          <a:ea typeface="Segoe UI" pitchFamily="34" charset="-122"/>
                          <a:cs typeface="Segoe UI" pitchFamily="34" charset="-120"/>
                        </a:rPr>
                        <a:t>80</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600" b="1" i="1" dirty="0">
                          <a:solidFill>
                            <a:schemeClr val="tx2"/>
                          </a:solidFill>
                          <a:latin typeface="Segoe UI" pitchFamily="34" charset="0"/>
                          <a:ea typeface="Segoe UI" pitchFamily="34" charset="-122"/>
                          <a:cs typeface="Segoe UI" pitchFamily="34" charset="-120"/>
                        </a:rPr>
                        <a:t>86</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600" b="1" i="1" dirty="0">
                          <a:solidFill>
                            <a:schemeClr val="tx2"/>
                          </a:solidFill>
                          <a:latin typeface="Segoe UI" pitchFamily="34" charset="0"/>
                          <a:ea typeface="Segoe UI" pitchFamily="34" charset="-122"/>
                          <a:cs typeface="Segoe UI" pitchFamily="34" charset="-120"/>
                        </a:rPr>
                        <a:t>92</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r>
              <a:tr h="457200">
                <a:tc>
                  <a:txBody>
                    <a:bodyPr/>
                    <a:lstStyle/>
                    <a:p>
                      <a:pPr algn="l" indent="0" marL="0">
                        <a:buNone/>
                      </a:pPr>
                      <a:r>
                        <a:rPr lang="en-US" sz="1600" b="1" i="1" dirty="0">
                          <a:solidFill>
                            <a:schemeClr val="bg1"/>
                          </a:solidFill>
                          <a:latin typeface="Segoe UI" pitchFamily="34" charset="0"/>
                          <a:ea typeface="Segoe UI" pitchFamily="34" charset="-122"/>
                          <a:cs typeface="Segoe UI" pitchFamily="34" charset="-120"/>
                        </a:rPr>
                        <a:t>Note</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600" dirty="0">
                          <a:solidFill>
                            <a:schemeClr val="tx1"/>
                          </a:solidFill>
                          <a:latin typeface="Segoe UI" pitchFamily="34" charset="0"/>
                          <a:ea typeface="Segoe UI" pitchFamily="34" charset="-122"/>
                          <a:cs typeface="Segoe UI" pitchFamily="34" charset="-120"/>
                        </a:rPr>
                        <a:t>1</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600" dirty="0">
                          <a:solidFill>
                            <a:schemeClr val="tx1"/>
                          </a:solidFill>
                          <a:latin typeface="Segoe UI" pitchFamily="34" charset="0"/>
                          <a:ea typeface="Segoe UI" pitchFamily="34" charset="-122"/>
                          <a:cs typeface="Segoe UI" pitchFamily="34" charset="-120"/>
                        </a:rPr>
                        <a:t>2</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600" dirty="0">
                          <a:solidFill>
                            <a:schemeClr val="tx1"/>
                          </a:solidFill>
                          <a:latin typeface="Segoe UI" pitchFamily="34" charset="0"/>
                          <a:ea typeface="Segoe UI" pitchFamily="34" charset="-122"/>
                          <a:cs typeface="Segoe UI" pitchFamily="34" charset="-120"/>
                        </a:rPr>
                        <a:t>3</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600" dirty="0">
                          <a:solidFill>
                            <a:schemeClr val="tx1"/>
                          </a:solidFill>
                          <a:latin typeface="Segoe UI" pitchFamily="34" charset="0"/>
                          <a:ea typeface="Segoe UI" pitchFamily="34" charset="-122"/>
                          <a:cs typeface="Segoe UI" pitchFamily="34" charset="-120"/>
                        </a:rPr>
                        <a:t>4</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600" dirty="0">
                          <a:solidFill>
                            <a:schemeClr val="tx1"/>
                          </a:solidFill>
                          <a:latin typeface="Segoe UI" pitchFamily="34" charset="0"/>
                          <a:ea typeface="Segoe UI" pitchFamily="34" charset="-122"/>
                          <a:cs typeface="Segoe UI" pitchFamily="34" charset="-120"/>
                        </a:rPr>
                        <a:t>5</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600" dirty="0">
                          <a:solidFill>
                            <a:schemeClr val="tx1"/>
                          </a:solidFill>
                          <a:latin typeface="Segoe UI" pitchFamily="34" charset="0"/>
                          <a:ea typeface="Segoe UI" pitchFamily="34" charset="-122"/>
                          <a:cs typeface="Segoe UI" pitchFamily="34" charset="-120"/>
                        </a:rPr>
                        <a:t>6</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600" dirty="0">
                          <a:solidFill>
                            <a:schemeClr val="tx1"/>
                          </a:solidFill>
                          <a:latin typeface="Segoe UI" pitchFamily="34" charset="0"/>
                          <a:ea typeface="Segoe UI" pitchFamily="34" charset="-122"/>
                          <a:cs typeface="Segoe UI" pitchFamily="34" charset="-120"/>
                        </a:rPr>
                        <a:t>7</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600" dirty="0">
                          <a:solidFill>
                            <a:schemeClr val="tx1"/>
                          </a:solidFill>
                          <a:latin typeface="Segoe UI" pitchFamily="34" charset="0"/>
                          <a:ea typeface="Segoe UI" pitchFamily="34" charset="-122"/>
                          <a:cs typeface="Segoe UI" pitchFamily="34" charset="-120"/>
                        </a:rPr>
                        <a:t>8</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600" dirty="0">
                          <a:solidFill>
                            <a:schemeClr val="tx1"/>
                          </a:solidFill>
                          <a:latin typeface="Segoe UI" pitchFamily="34" charset="0"/>
                          <a:ea typeface="Segoe UI" pitchFamily="34" charset="-122"/>
                          <a:cs typeface="Segoe UI" pitchFamily="34" charset="-120"/>
                        </a:rPr>
                        <a:t>9</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600" dirty="0">
                          <a:solidFill>
                            <a:schemeClr val="tx1"/>
                          </a:solidFill>
                          <a:latin typeface="Segoe UI" pitchFamily="34" charset="0"/>
                          <a:ea typeface="Segoe UI" pitchFamily="34" charset="-122"/>
                          <a:cs typeface="Segoe UI" pitchFamily="34" charset="-120"/>
                        </a:rPr>
                        <a:t>10</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bl>
          </a:graphicData>
        </a:graphic>
      </p:graphicFrame>
      <p:sp>
        <p:nvSpPr>
          <p:cNvPr id="6" name="domaine"/>
          <p:cNvSpPr/>
          <p:nvPr/>
        </p:nvSpPr>
        <p:spPr>
          <a:xfrm>
            <a:off x="457200" y="2926080"/>
            <a:ext cx="5455768" cy="1554480"/>
          </a:xfrm>
          <a:prstGeom prst="rect">
            <a:avLst/>
          </a:prstGeom>
          <a:solidFill>
            <a:schemeClr val="bg2"/>
          </a:solidFill>
          <a:ln w="12700">
            <a:solidFill>
              <a:schemeClr val="bg2"/>
            </a:solidFill>
            <a:prstDash val="solid"/>
          </a:ln>
        </p:spPr>
      </p:sp>
      <p:sp>
        <p:nvSpPr>
          <p:cNvPr id="7" name="Text 3"/>
          <p:cNvSpPr txBox="1"/>
          <p:nvPr/>
        </p:nvSpPr>
        <p:spPr>
          <a:xfrm>
            <a:off x="658368" y="3090672"/>
            <a:ext cx="5053432" cy="1225296"/>
          </a:xfrm>
          <a:prstGeom prst="rect">
            <a:avLst/>
          </a:prstGeom>
          <a:noFill/>
          <a:ln/>
        </p:spPr>
        <p:txBody>
          <a:bodyPr wrap="square" lIns="0" tIns="0" rIns="0" bIns="0" rtlCol="0" anchor="t"/>
          <a:lstStyle/>
          <a:p>
            <a:pPr indent="0" marL="0">
              <a:spcAft>
                <a:spcPts val="600"/>
              </a:spcAft>
              <a:buNone/>
            </a:pPr>
            <a:r>
              <a:rPr lang="en-US" sz="1700" b="1" dirty="0">
                <a:solidFill>
                  <a:schemeClr val="accent1"/>
                </a:solidFill>
              </a:rPr>
              <a:t>Score de domaine</a:t>
            </a:r>
            <a:endParaRPr lang="en-US" sz="1700" dirty="0"/>
          </a:p>
          <a:p>
            <a:pPr indent="0" marL="0">
              <a:buNone/>
            </a:pPr>
            <a:r>
              <a:rPr lang="en-US" sz="1400" dirty="0">
                <a:solidFill>
                  <a:schemeClr val="tx1"/>
                </a:solidFill>
              </a:rPr>
              <a:t>Moyenne des sous-critères pondérés. Exemple D1 : 80 × 40 % + 100 × 35 % + 80 × 25 % = 87.</a:t>
            </a:r>
            <a:endParaRPr lang="en-US" sz="1700" dirty="0"/>
          </a:p>
        </p:txBody>
      </p:sp>
      <p:sp>
        <p:nvSpPr>
          <p:cNvPr id="8" name="global"/>
          <p:cNvSpPr/>
          <p:nvPr/>
        </p:nvSpPr>
        <p:spPr>
          <a:xfrm>
            <a:off x="6278728" y="2926080"/>
            <a:ext cx="5455768" cy="1554480"/>
          </a:xfrm>
          <a:prstGeom prst="rect">
            <a:avLst/>
          </a:prstGeom>
          <a:solidFill>
            <a:schemeClr val="bg2"/>
          </a:solidFill>
          <a:ln w="12700">
            <a:solidFill>
              <a:schemeClr val="bg2"/>
            </a:solidFill>
            <a:prstDash val="solid"/>
          </a:ln>
        </p:spPr>
      </p:sp>
      <p:sp>
        <p:nvSpPr>
          <p:cNvPr id="9" name="Text 5"/>
          <p:cNvSpPr txBox="1"/>
          <p:nvPr/>
        </p:nvSpPr>
        <p:spPr>
          <a:xfrm>
            <a:off x="6479896" y="3090672"/>
            <a:ext cx="5053432" cy="1225296"/>
          </a:xfrm>
          <a:prstGeom prst="rect">
            <a:avLst/>
          </a:prstGeom>
          <a:noFill/>
          <a:ln/>
        </p:spPr>
        <p:txBody>
          <a:bodyPr wrap="square" lIns="0" tIns="0" rIns="0" bIns="0" rtlCol="0" anchor="t"/>
          <a:lstStyle/>
          <a:p>
            <a:pPr indent="0" marL="0">
              <a:spcAft>
                <a:spcPts val="600"/>
              </a:spcAft>
              <a:buNone/>
            </a:pPr>
            <a:r>
              <a:rPr lang="en-US" sz="1700" b="1" dirty="0">
                <a:solidFill>
                  <a:schemeClr val="accent1"/>
                </a:solidFill>
              </a:rPr>
              <a:t>Score global</a:t>
            </a:r>
            <a:endParaRPr lang="en-US" sz="1700" dirty="0"/>
          </a:p>
          <a:p>
            <a:pPr indent="0" marL="0">
              <a:buNone/>
            </a:pPr>
            <a:r>
              <a:rPr lang="en-US" sz="1400" dirty="0">
                <a:solidFill>
                  <a:schemeClr val="tx1"/>
                </a:solidFill>
              </a:rPr>
              <a:t>Somme des domaines × poids de la phase. Cas C1 : 86,25, donc note 9 « Très solide ».</a:t>
            </a:r>
            <a:endParaRPr lang="en-US" sz="17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lIns="0" tIns="0" rIns="0" bIns="0" rtlCol="0" anchor="t"/>
          <a:lstStyle/>
          <a:p>
            <a:pPr algn="l" indent="0" marL="0">
              <a:buNone/>
            </a:pPr>
            <a:r>
              <a:rPr lang="en-US" sz="2400" b="1" dirty="0">
                <a:solidFill>
                  <a:schemeClr val="accent1"/>
                </a:solidFill>
              </a:rPr>
              <a:t>Des données déclenchent un plafond, jamais un avis</a:t>
            </a: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lIns="0" tIns="0" rIns="0" bIns="0" rtlCol="0"/>
          <a:lstStyle/>
          <a:p>
            <a:pPr algn="l" indent="0" marL="0">
              <a:buNone/>
            </a:pPr>
            <a:r>
              <a:rPr lang="en-US" sz="1300" i="1" dirty="0">
                <a:solidFill>
                  <a:schemeClr val="tx2"/>
                </a:solidFill>
              </a:rPr>
              <a:t>Étape 5 · Plafonds C1 à C15</a:t>
            </a:r>
            <a:endParaRPr lang="en-US" sz="1300" dirty="0"/>
          </a:p>
        </p:txBody>
      </p:sp>
      <p:graphicFrame>
        <p:nvGraphicFramePr>
          <p:cNvPr id="13" name="tableau"/>
          <p:cNvGraphicFramePr>
            <a:graphicFrameLocks noGrp="1"/>
          </p:cNvGraphicFramePr>
          <p:nvPr>
            <p:extLst>
              <p:ext uri="{D42A27DB-BD31-4B8C-83A1-F6EECF244321}">
                <p14:modId xmlns:p14="http://schemas.microsoft.com/office/powerpoint/2010/main" val="1579011935"/>
              </p:ext>
            </p:extLst>
          </p:nvPr>
        </p:nvGraphicFramePr>
        <p:xfrm>
          <a:off x="457200" y="1325880"/>
          <a:ext cx="6675120" cy="914400"/>
        </p:xfrm>
        <a:graphic>
          <a:graphicData uri="http://schemas.openxmlformats.org/drawingml/2006/table">
            <a:tbl>
              <a:tblPr/>
              <a:tblGrid>
                <a:gridCol w="822960"/>
                <a:gridCol w="4754880"/>
                <a:gridCol w="1097280"/>
              </a:tblGrid>
              <a:tr h="384048">
                <a:tc>
                  <a:txBody>
                    <a:bodyPr/>
                    <a:lstStyle/>
                    <a:p>
                      <a:pPr algn="l" indent="0" marL="0">
                        <a:buNone/>
                      </a:pPr>
                      <a:r>
                        <a:rPr lang="en-US" sz="1500" b="1" i="1" dirty="0">
                          <a:solidFill>
                            <a:schemeClr val="tx2"/>
                          </a:solidFill>
                          <a:latin typeface="Segoe UI" pitchFamily="34" charset="0"/>
                          <a:ea typeface="Segoe UI" pitchFamily="34" charset="-122"/>
                          <a:cs typeface="Segoe UI" pitchFamily="34" charset="-120"/>
                        </a:rPr>
                        <a:t>Code</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500" b="1" i="1" dirty="0">
                          <a:solidFill>
                            <a:schemeClr val="tx2"/>
                          </a:solidFill>
                          <a:latin typeface="Segoe UI" pitchFamily="34" charset="0"/>
                          <a:ea typeface="Segoe UI" pitchFamily="34" charset="-122"/>
                          <a:cs typeface="Segoe UI" pitchFamily="34" charset="-120"/>
                        </a:rPr>
                        <a:t>Fait générateur</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r" indent="0" marL="0">
                        <a:buNone/>
                      </a:pPr>
                      <a:r>
                        <a:rPr lang="en-US" sz="1500" b="1" i="1" dirty="0">
                          <a:solidFill>
                            <a:schemeClr val="tx2"/>
                          </a:solidFill>
                          <a:latin typeface="Segoe UI" pitchFamily="34" charset="0"/>
                          <a:ea typeface="Segoe UI" pitchFamily="34" charset="-122"/>
                          <a:cs typeface="Segoe UI" pitchFamily="34" charset="-120"/>
                        </a:rPr>
                        <a:t>Note max</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r>
              <a:tr h="384048">
                <a:tc>
                  <a:txBody>
                    <a:bodyPr/>
                    <a:lstStyle/>
                    <a:p>
                      <a:pPr algn="l" indent="0" marL="0">
                        <a:buNone/>
                      </a:pPr>
                      <a:r>
                        <a:rPr lang="en-US" sz="1500" b="1" i="1" dirty="0">
                          <a:solidFill>
                            <a:schemeClr val="bg1"/>
                          </a:solidFill>
                          <a:latin typeface="Segoe UI" pitchFamily="34" charset="0"/>
                          <a:ea typeface="Segoe UI" pitchFamily="34" charset="-122"/>
                          <a:cs typeface="Segoe UI" pitchFamily="34" charset="-120"/>
                        </a:rPr>
                        <a:t>C1</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500" dirty="0">
                          <a:solidFill>
                            <a:schemeClr val="tx1"/>
                          </a:solidFill>
                          <a:latin typeface="Segoe UI" pitchFamily="34" charset="0"/>
                          <a:ea typeface="Segoe UI" pitchFamily="34" charset="-122"/>
                          <a:cs typeface="Segoe UI" pitchFamily="34" charset="-120"/>
                        </a:rPr>
                        <a:t>DSCR &lt; 1,05 sur une échéance</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latin typeface="Segoe UI" pitchFamily="34" charset="0"/>
                          <a:ea typeface="Segoe UI" pitchFamily="34" charset="-122"/>
                          <a:cs typeface="Segoe UI" pitchFamily="34" charset="-120"/>
                        </a:rPr>
                        <a:t>3</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84048">
                <a:tc>
                  <a:txBody>
                    <a:bodyPr/>
                    <a:lstStyle/>
                    <a:p>
                      <a:pPr algn="l" indent="0" marL="0">
                        <a:buNone/>
                      </a:pPr>
                      <a:r>
                        <a:rPr lang="en-US" sz="1500" b="1" i="1" dirty="0">
                          <a:solidFill>
                            <a:schemeClr val="bg1"/>
                          </a:solidFill>
                          <a:latin typeface="Segoe UI" pitchFamily="34" charset="0"/>
                          <a:ea typeface="Segoe UI" pitchFamily="34" charset="-122"/>
                          <a:cs typeface="Segoe UI" pitchFamily="34" charset="-120"/>
                        </a:rPr>
                        <a:t>C2</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500" dirty="0">
                          <a:solidFill>
                            <a:schemeClr val="tx1"/>
                          </a:solidFill>
                          <a:latin typeface="Segoe UI" pitchFamily="34" charset="0"/>
                          <a:ea typeface="Segoe UI" pitchFamily="34" charset="-122"/>
                          <a:cs typeface="Segoe UI" pitchFamily="34" charset="-120"/>
                        </a:rPr>
                        <a:t>DSCR sous le seuil critique applicable</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latin typeface="Segoe UI" pitchFamily="34" charset="0"/>
                          <a:ea typeface="Segoe UI" pitchFamily="34" charset="-122"/>
                          <a:cs typeface="Segoe UI" pitchFamily="34" charset="-120"/>
                        </a:rPr>
                        <a:t>5</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84048">
                <a:tc>
                  <a:txBody>
                    <a:bodyPr/>
                    <a:lstStyle/>
                    <a:p>
                      <a:pPr algn="l" indent="0" marL="0">
                        <a:buNone/>
                      </a:pPr>
                      <a:r>
                        <a:rPr lang="en-US" sz="1500" b="1" i="1" dirty="0">
                          <a:solidFill>
                            <a:schemeClr val="bg1"/>
                          </a:solidFill>
                          <a:latin typeface="Segoe UI" pitchFamily="34" charset="0"/>
                          <a:ea typeface="Segoe UI" pitchFamily="34" charset="-122"/>
                          <a:cs typeface="Segoe UI" pitchFamily="34" charset="-120"/>
                        </a:rPr>
                        <a:t>C3</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500" dirty="0">
                          <a:solidFill>
                            <a:schemeClr val="tx1"/>
                          </a:solidFill>
                          <a:latin typeface="Segoe UI" pitchFamily="34" charset="0"/>
                          <a:ea typeface="Segoe UI" pitchFamily="34" charset="-122"/>
                          <a:cs typeface="Segoe UI" pitchFamily="34" charset="-120"/>
                        </a:rPr>
                        <a:t>DSCR défavorable &lt; 1,00</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latin typeface="Segoe UI" pitchFamily="34" charset="0"/>
                          <a:ea typeface="Segoe UI" pitchFamily="34" charset="-122"/>
                          <a:cs typeface="Segoe UI" pitchFamily="34" charset="-120"/>
                        </a:rPr>
                        <a:t>4</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84048">
                <a:tc>
                  <a:txBody>
                    <a:bodyPr/>
                    <a:lstStyle/>
                    <a:p>
                      <a:pPr algn="l" indent="0" marL="0">
                        <a:buNone/>
                      </a:pPr>
                      <a:r>
                        <a:rPr lang="en-US" sz="1500" b="1" i="1" dirty="0">
                          <a:solidFill>
                            <a:schemeClr val="bg1"/>
                          </a:solidFill>
                          <a:latin typeface="Segoe UI" pitchFamily="34" charset="0"/>
                          <a:ea typeface="Segoe UI" pitchFamily="34" charset="-122"/>
                          <a:cs typeface="Segoe UI" pitchFamily="34" charset="-120"/>
                        </a:rPr>
                        <a:t>C4</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500" dirty="0">
                          <a:solidFill>
                            <a:schemeClr val="tx1"/>
                          </a:solidFill>
                          <a:latin typeface="Segoe UI" pitchFamily="34" charset="0"/>
                          <a:ea typeface="Segoe UI" pitchFamily="34" charset="-122"/>
                          <a:cs typeface="Segoe UI" pitchFamily="34" charset="-120"/>
                        </a:rPr>
                        <a:t>LLCR &lt; 1,10</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latin typeface="Segoe UI" pitchFamily="34" charset="0"/>
                          <a:ea typeface="Segoe UI" pitchFamily="34" charset="-122"/>
                          <a:cs typeface="Segoe UI" pitchFamily="34" charset="-120"/>
                        </a:rPr>
                        <a:t>4</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84048">
                <a:tc>
                  <a:txBody>
                    <a:bodyPr/>
                    <a:lstStyle/>
                    <a:p>
                      <a:pPr algn="l" indent="0" marL="0">
                        <a:buNone/>
                      </a:pPr>
                      <a:r>
                        <a:rPr lang="en-US" sz="1500" b="1" i="1" dirty="0">
                          <a:solidFill>
                            <a:schemeClr val="bg1"/>
                          </a:solidFill>
                          <a:latin typeface="Segoe UI" pitchFamily="34" charset="0"/>
                          <a:ea typeface="Segoe UI" pitchFamily="34" charset="-122"/>
                          <a:cs typeface="Segoe UI" pitchFamily="34" charset="-120"/>
                        </a:rPr>
                        <a:t>C7</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500" dirty="0">
                          <a:solidFill>
                            <a:schemeClr val="tx1"/>
                          </a:solidFill>
                          <a:latin typeface="Segoe UI" pitchFamily="34" charset="0"/>
                          <a:ea typeface="Segoe UI" pitchFamily="34" charset="-122"/>
                          <a:cs typeface="Segoe UI" pitchFamily="34" charset="-120"/>
                        </a:rPr>
                        <a:t>DSRA &lt; 3 mois de service</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latin typeface="Segoe UI" pitchFamily="34" charset="0"/>
                          <a:ea typeface="Segoe UI" pitchFamily="34" charset="-122"/>
                          <a:cs typeface="Segoe UI" pitchFamily="34" charset="-120"/>
                        </a:rPr>
                        <a:t>6</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84048">
                <a:tc>
                  <a:txBody>
                    <a:bodyPr/>
                    <a:lstStyle/>
                    <a:p>
                      <a:pPr algn="l" indent="0" marL="0">
                        <a:buNone/>
                      </a:pPr>
                      <a:r>
                        <a:rPr lang="en-US" sz="1500" b="1" i="1" dirty="0">
                          <a:solidFill>
                            <a:schemeClr val="bg1"/>
                          </a:solidFill>
                          <a:latin typeface="Segoe UI" pitchFamily="34" charset="0"/>
                          <a:ea typeface="Segoe UI" pitchFamily="34" charset="-122"/>
                          <a:cs typeface="Segoe UI" pitchFamily="34" charset="-120"/>
                        </a:rPr>
                        <a:t>C9</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500" dirty="0">
                          <a:solidFill>
                            <a:schemeClr val="tx1"/>
                          </a:solidFill>
                          <a:latin typeface="Segoe UI" pitchFamily="34" charset="0"/>
                          <a:ea typeface="Segoe UI" pitchFamily="34" charset="-122"/>
                          <a:cs typeface="Segoe UI" pitchFamily="34" charset="-120"/>
                        </a:rPr>
                        <a:t>Dette &gt; 85 % du plan de financement</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latin typeface="Segoe UI" pitchFamily="34" charset="0"/>
                          <a:ea typeface="Segoe UI" pitchFamily="34" charset="-122"/>
                          <a:cs typeface="Segoe UI" pitchFamily="34" charset="-120"/>
                        </a:rPr>
                        <a:t>5</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84048">
                <a:tc>
                  <a:txBody>
                    <a:bodyPr/>
                    <a:lstStyle/>
                    <a:p>
                      <a:pPr algn="l" indent="0" marL="0">
                        <a:buNone/>
                      </a:pPr>
                      <a:r>
                        <a:rPr lang="en-US" sz="1500" b="1" i="1" dirty="0">
                          <a:solidFill>
                            <a:schemeClr val="bg1"/>
                          </a:solidFill>
                          <a:latin typeface="Segoe UI" pitchFamily="34" charset="0"/>
                          <a:ea typeface="Segoe UI" pitchFamily="34" charset="-122"/>
                          <a:cs typeface="Segoe UI" pitchFamily="34" charset="-120"/>
                        </a:rPr>
                        <a:t>C10</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500" dirty="0">
                          <a:solidFill>
                            <a:schemeClr val="tx1"/>
                          </a:solidFill>
                          <a:latin typeface="Segoe UI" pitchFamily="34" charset="0"/>
                          <a:ea typeface="Segoe UI" pitchFamily="34" charset="-122"/>
                          <a:cs typeface="Segoe UI" pitchFamily="34" charset="-120"/>
                        </a:rPr>
                        <a:t>Acheteur &gt; 85 % des recettes, &lt; BBB−</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latin typeface="Segoe UI" pitchFamily="34" charset="0"/>
                          <a:ea typeface="Segoe UI" pitchFamily="34" charset="-122"/>
                          <a:cs typeface="Segoe UI" pitchFamily="34" charset="-120"/>
                        </a:rPr>
                        <a:t>6</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84048">
                <a:tc>
                  <a:txBody>
                    <a:bodyPr/>
                    <a:lstStyle/>
                    <a:p>
                      <a:pPr algn="l" indent="0" marL="0">
                        <a:buNone/>
                      </a:pPr>
                      <a:r>
                        <a:rPr lang="en-US" sz="1500" b="1" i="1" dirty="0">
                          <a:solidFill>
                            <a:schemeClr val="bg1"/>
                          </a:solidFill>
                          <a:latin typeface="Segoe UI" pitchFamily="34" charset="0"/>
                          <a:ea typeface="Segoe UI" pitchFamily="34" charset="-122"/>
                          <a:cs typeface="Segoe UI" pitchFamily="34" charset="-120"/>
                        </a:rPr>
                        <a:t>C15</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500" dirty="0">
                          <a:solidFill>
                            <a:schemeClr val="tx1"/>
                          </a:solidFill>
                          <a:latin typeface="Segoe UI" pitchFamily="34" charset="0"/>
                          <a:ea typeface="Segoe UI" pitchFamily="34" charset="-122"/>
                          <a:cs typeface="Segoe UI" pitchFamily="34" charset="-120"/>
                        </a:rPr>
                        <a:t>Évaluation partielle</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r" indent="0" marL="0">
                        <a:buNone/>
                      </a:pPr>
                      <a:r>
                        <a:rPr lang="en-US" sz="1500" dirty="0">
                          <a:solidFill>
                            <a:schemeClr val="tx1"/>
                          </a:solidFill>
                          <a:latin typeface="Segoe UI" pitchFamily="34" charset="0"/>
                          <a:ea typeface="Segoe UI" pitchFamily="34" charset="-122"/>
                          <a:cs typeface="Segoe UI" pitchFamily="34" charset="-120"/>
                        </a:rPr>
                        <a:t>6</a:t>
                      </a:r>
                      <a:endParaRPr lang="en-US" sz="15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bl>
          </a:graphicData>
        </a:graphic>
      </p:graphicFrame>
      <p:sp>
        <p:nvSpPr>
          <p:cNvPr id="6" name="casC3"/>
          <p:cNvSpPr/>
          <p:nvPr/>
        </p:nvSpPr>
        <p:spPr>
          <a:xfrm>
            <a:off x="7589520" y="1600200"/>
            <a:ext cx="4050792" cy="3474720"/>
          </a:xfrm>
          <a:prstGeom prst="rect">
            <a:avLst/>
          </a:prstGeom>
          <a:solidFill>
            <a:schemeClr val="accent1"/>
          </a:solidFill>
          <a:ln w="12700">
            <a:solidFill>
              <a:schemeClr val="accent1"/>
            </a:solidFill>
            <a:prstDash val="solid"/>
          </a:ln>
        </p:spPr>
      </p:sp>
      <p:sp>
        <p:nvSpPr>
          <p:cNvPr id="7" name="Text 3"/>
          <p:cNvSpPr txBox="1"/>
          <p:nvPr/>
        </p:nvSpPr>
        <p:spPr>
          <a:xfrm>
            <a:off x="7790688" y="1764792"/>
            <a:ext cx="3648456" cy="3145536"/>
          </a:xfrm>
          <a:prstGeom prst="rect">
            <a:avLst/>
          </a:prstGeom>
          <a:noFill/>
          <a:ln/>
        </p:spPr>
        <p:txBody>
          <a:bodyPr wrap="square" lIns="0" tIns="0" rIns="0" bIns="0" rtlCol="0" anchor="t"/>
          <a:lstStyle/>
          <a:p>
            <a:pPr indent="0" marL="0">
              <a:spcAft>
                <a:spcPts val="600"/>
              </a:spcAft>
              <a:buNone/>
            </a:pPr>
            <a:r>
              <a:rPr lang="en-US" sz="1700" b="1" i="1" dirty="0">
                <a:solidFill>
                  <a:schemeClr val="bg1"/>
                </a:solidFill>
              </a:rPr>
              <a:t>Cas C3 · hôtel</a:t>
            </a:r>
            <a:endParaRPr lang="en-US" sz="1700" dirty="0"/>
          </a:p>
          <a:p>
            <a:pPr indent="0" marL="0">
              <a:buNone/>
            </a:pPr>
            <a:r>
              <a:rPr lang="en-US" sz="1400" b="1" dirty="0">
                <a:solidFill>
                  <a:schemeClr val="bg1"/>
                </a:solidFill>
              </a:rPr>
              <a:t>Sponsor et documentation à 100, score 73,7 : note calculée 7.</a:t>
            </a:r>
            <a:endParaRPr lang="en-US" sz="1700" dirty="0"/>
          </a:p>
          <a:p>
            <a:pPr indent="0" marL="0">
              <a:buNone/>
            </a:pPr>
            <a:endParaRPr lang="en-US" sz="1700" dirty="0"/>
          </a:p>
          <a:p>
            <a:pPr indent="0" marL="0">
              <a:buNone/>
            </a:pPr>
            <a:r>
              <a:rPr lang="en-US" sz="1400" b="1" dirty="0">
                <a:solidFill>
                  <a:schemeClr val="bg1"/>
                </a:solidFill>
              </a:rPr>
              <a:t>DSCR du semestre creux 1,06, stressé 0,75 : C2 et C3 actifs.</a:t>
            </a:r>
            <a:endParaRPr lang="en-US" sz="1700" dirty="0"/>
          </a:p>
          <a:p>
            <a:pPr indent="0" marL="0">
              <a:buNone/>
            </a:pPr>
            <a:endParaRPr lang="en-US" sz="1700" dirty="0"/>
          </a:p>
          <a:p>
            <a:pPr indent="0" marL="0">
              <a:buNone/>
            </a:pPr>
            <a:r>
              <a:rPr lang="en-US" sz="1400" b="1" dirty="0">
                <a:solidFill>
                  <a:schemeClr val="bg1"/>
                </a:solidFill>
              </a:rPr>
              <a:t>Note approuvée : 4</a:t>
            </a:r>
            <a:endParaRPr lang="en-US" sz="1700" dirty="0"/>
          </a:p>
        </p:txBody>
      </p:sp>
      <p:sp>
        <p:nvSpPr>
          <p:cNvPr id="8" name="Text 4"/>
          <p:cNvSpPr txBox="1"/>
          <p:nvPr/>
        </p:nvSpPr>
        <p:spPr>
          <a:xfrm>
            <a:off x="457200" y="5029200"/>
            <a:ext cx="11277295" cy="365760"/>
          </a:xfrm>
          <a:prstGeom prst="rect">
            <a:avLst/>
          </a:prstGeom>
          <a:noFill/>
          <a:ln/>
        </p:spPr>
        <p:txBody>
          <a:bodyPr wrap="square" lIns="0" tIns="0" rIns="0" bIns="0" rtlCol="0" anchor="t"/>
          <a:lstStyle/>
          <a:p>
            <a:pPr indent="0" marL="0">
              <a:buNone/>
            </a:pPr>
            <a:r>
              <a:rPr lang="en-US" sz="1300" dirty="0">
                <a:solidFill>
                  <a:schemeClr val="accent5"/>
                </a:solidFill>
              </a:rPr>
              <a:t>8 plafonds sur 15 présentés ; la liste complète est dans la grille expliquée.</a:t>
            </a:r>
            <a:endParaRPr lang="en-US" sz="13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lIns="0" tIns="0" rIns="0" bIns="0" rtlCol="0" anchor="t"/>
          <a:lstStyle/>
          <a:p>
            <a:pPr algn="l" indent="0" marL="0">
              <a:buNone/>
            </a:pPr>
            <a:r>
              <a:rPr lang="en-US" sz="2400" b="1" dirty="0">
                <a:solidFill>
                  <a:schemeClr val="accent1"/>
                </a:solidFill>
              </a:rPr>
              <a:t>Certains faits empêchent ou suspendent la note</a:t>
            </a: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lIns="0" tIns="0" rIns="0" bIns="0" rtlCol="0"/>
          <a:lstStyle/>
          <a:p>
            <a:pPr algn="l" indent="0" marL="0">
              <a:buNone/>
            </a:pPr>
            <a:r>
              <a:rPr lang="en-US" sz="1300" i="1" dirty="0">
                <a:solidFill>
                  <a:schemeClr val="tx2"/>
                </a:solidFill>
              </a:rPr>
              <a:t>Étape 5 · Verrous</a:t>
            </a:r>
            <a:endParaRPr lang="en-US" sz="1300" dirty="0"/>
          </a:p>
        </p:txBody>
      </p:sp>
      <p:sp>
        <p:nvSpPr>
          <p:cNvPr id="5" name="exclusions"/>
          <p:cNvSpPr/>
          <p:nvPr/>
        </p:nvSpPr>
        <p:spPr>
          <a:xfrm>
            <a:off x="457200" y="1691640"/>
            <a:ext cx="5455768" cy="2560320"/>
          </a:xfrm>
          <a:prstGeom prst="rect">
            <a:avLst/>
          </a:prstGeom>
          <a:solidFill>
            <a:schemeClr val="accent1"/>
          </a:solidFill>
          <a:ln w="12700">
            <a:solidFill>
              <a:schemeClr val="accent1"/>
            </a:solidFill>
            <a:prstDash val="solid"/>
          </a:ln>
        </p:spPr>
      </p:sp>
      <p:sp>
        <p:nvSpPr>
          <p:cNvPr id="6" name="Text 3"/>
          <p:cNvSpPr txBox="1"/>
          <p:nvPr/>
        </p:nvSpPr>
        <p:spPr>
          <a:xfrm>
            <a:off x="658368" y="1856232"/>
            <a:ext cx="5053432" cy="2231136"/>
          </a:xfrm>
          <a:prstGeom prst="rect">
            <a:avLst/>
          </a:prstGeom>
          <a:noFill/>
          <a:ln/>
        </p:spPr>
        <p:txBody>
          <a:bodyPr wrap="square" lIns="0" tIns="0" rIns="0" bIns="0" rtlCol="0" anchor="t"/>
          <a:lstStyle/>
          <a:p>
            <a:pPr indent="0" marL="0">
              <a:spcAft>
                <a:spcPts val="600"/>
              </a:spcAft>
              <a:buNone/>
            </a:pPr>
            <a:r>
              <a:rPr lang="en-US" sz="1700" b="1" i="1" dirty="0">
                <a:solidFill>
                  <a:schemeClr val="bg1"/>
                </a:solidFill>
              </a:rPr>
              <a:t>Exclusions X1 à X4 · aucune note</a:t>
            </a:r>
            <a:endParaRPr lang="en-US" sz="1700" dirty="0"/>
          </a:p>
          <a:p>
            <a:pPr indent="0" marL="0">
              <a:buNone/>
            </a:pPr>
            <a:r>
              <a:rPr lang="en-US" sz="1400" b="1" dirty="0">
                <a:solidFill>
                  <a:schemeClr val="bg1"/>
                </a:solidFill>
              </a:rPr>
              <a:t>Activité interdite par la loi ou la politique de la banque</a:t>
            </a:r>
            <a:endParaRPr lang="en-US" sz="1700" dirty="0"/>
          </a:p>
          <a:p>
            <a:pPr indent="0" marL="0">
              <a:buNone/>
            </a:pPr>
            <a:r>
              <a:rPr lang="en-US" sz="1400" b="1" dirty="0">
                <a:solidFill>
                  <a:schemeClr val="bg1"/>
                </a:solidFill>
              </a:rPr>
              <a:t>Autorisation indispensable impossible à obtenir</a:t>
            </a:r>
            <a:endParaRPr lang="en-US" sz="1700" dirty="0"/>
          </a:p>
          <a:p>
            <a:pPr indent="0" marL="0">
              <a:buNone/>
            </a:pPr>
            <a:r>
              <a:rPr lang="en-US" sz="1400" b="1" dirty="0">
                <a:solidFill>
                  <a:schemeClr val="bg1"/>
                </a:solidFill>
              </a:rPr>
              <a:t>Contrepartie sous sanctions ou signalée LBC-FT</a:t>
            </a:r>
            <a:endParaRPr lang="en-US" sz="1700" dirty="0"/>
          </a:p>
          <a:p>
            <a:pPr indent="0" marL="0">
              <a:buNone/>
            </a:pPr>
            <a:r>
              <a:rPr lang="en-US" sz="1400" b="1" dirty="0">
                <a:solidFill>
                  <a:schemeClr val="bg1"/>
                </a:solidFill>
              </a:rPr>
              <a:t>Contrepartie clé en défaut avéré</a:t>
            </a:r>
            <a:endParaRPr lang="en-US" sz="1700" dirty="0"/>
          </a:p>
        </p:txBody>
      </p:sp>
      <p:sp>
        <p:nvSpPr>
          <p:cNvPr id="7" name="blocages"/>
          <p:cNvSpPr/>
          <p:nvPr/>
        </p:nvSpPr>
        <p:spPr>
          <a:xfrm>
            <a:off x="6278728" y="1691640"/>
            <a:ext cx="5455768" cy="2560320"/>
          </a:xfrm>
          <a:prstGeom prst="rect">
            <a:avLst/>
          </a:prstGeom>
          <a:solidFill>
            <a:schemeClr val="bg2"/>
          </a:solidFill>
          <a:ln w="12700">
            <a:solidFill>
              <a:schemeClr val="bg2"/>
            </a:solidFill>
            <a:prstDash val="solid"/>
          </a:ln>
        </p:spPr>
      </p:sp>
      <p:sp>
        <p:nvSpPr>
          <p:cNvPr id="8" name="Text 5"/>
          <p:cNvSpPr txBox="1"/>
          <p:nvPr/>
        </p:nvSpPr>
        <p:spPr>
          <a:xfrm>
            <a:off x="6479896" y="1856232"/>
            <a:ext cx="5053432" cy="2231136"/>
          </a:xfrm>
          <a:prstGeom prst="rect">
            <a:avLst/>
          </a:prstGeom>
          <a:noFill/>
          <a:ln/>
        </p:spPr>
        <p:txBody>
          <a:bodyPr wrap="square" lIns="0" tIns="0" rIns="0" bIns="0" rtlCol="0" anchor="t"/>
          <a:lstStyle/>
          <a:p>
            <a:pPr indent="0" marL="0">
              <a:spcAft>
                <a:spcPts val="600"/>
              </a:spcAft>
              <a:buNone/>
            </a:pPr>
            <a:r>
              <a:rPr lang="en-US" sz="1700" b="1" dirty="0">
                <a:solidFill>
                  <a:schemeClr val="accent1"/>
                </a:solidFill>
              </a:rPr>
              <a:t>Blocages B1 à B8 · note provisoire</a:t>
            </a:r>
            <a:endParaRPr lang="en-US" sz="1700" dirty="0"/>
          </a:p>
          <a:p>
            <a:pPr indent="0" marL="0">
              <a:buNone/>
            </a:pPr>
            <a:r>
              <a:rPr lang="en-US" sz="1400" dirty="0">
                <a:solidFill>
                  <a:schemeClr val="tx1"/>
                </a:solidFill>
              </a:rPr>
              <a:t>Contrat de recettes ou EPC non signé</a:t>
            </a:r>
            <a:endParaRPr lang="en-US" sz="1700" dirty="0"/>
          </a:p>
          <a:p>
            <a:pPr indent="0" marL="0">
              <a:buNone/>
            </a:pPr>
            <a:r>
              <a:rPr lang="en-US" sz="1400" dirty="0">
                <a:solidFill>
                  <a:schemeClr val="tx1"/>
                </a:solidFill>
              </a:rPr>
              <a:t>Couverture à terminaison &lt; 95 % en construction</a:t>
            </a:r>
            <a:endParaRPr lang="en-US" sz="1700" dirty="0"/>
          </a:p>
          <a:p>
            <a:pPr indent="0" marL="0">
              <a:buNone/>
            </a:pPr>
            <a:r>
              <a:rPr lang="en-US" sz="1400" dirty="0">
                <a:solidFill>
                  <a:schemeClr val="tx1"/>
                </a:solidFill>
              </a:rPr>
              <a:t>Foncier non établi, avis juridique avec réserve</a:t>
            </a:r>
            <a:endParaRPr lang="en-US" sz="1700" dirty="0"/>
          </a:p>
          <a:p>
            <a:pPr indent="0" marL="0">
              <a:buNone/>
            </a:pPr>
            <a:r>
              <a:rPr lang="en-US" sz="1400" dirty="0">
                <a:solidFill>
                  <a:schemeClr val="tx1"/>
                </a:solidFill>
              </a:rPr>
              <a:t>Modèle de flux absent, complétude &lt; 100 %</a:t>
            </a:r>
            <a:endParaRPr lang="en-US" sz="1700" dirty="0"/>
          </a:p>
        </p:txBody>
      </p:sp>
      <p:sp>
        <p:nvSpPr>
          <p:cNvPr id="9" name="Text 6"/>
          <p:cNvSpPr txBox="1"/>
          <p:nvPr/>
        </p:nvSpPr>
        <p:spPr>
          <a:xfrm>
            <a:off x="457200" y="4434840"/>
            <a:ext cx="11277295" cy="731520"/>
          </a:xfrm>
          <a:prstGeom prst="rect">
            <a:avLst/>
          </a:prstGeom>
          <a:noFill/>
          <a:ln/>
        </p:spPr>
        <p:txBody>
          <a:bodyPr wrap="square" lIns="0" tIns="0" rIns="0" bIns="0" rtlCol="0" anchor="t"/>
          <a:lstStyle/>
          <a:p>
            <a:pPr indent="0" marL="0">
              <a:buNone/>
            </a:pPr>
            <a:r>
              <a:rPr lang="en-US" sz="1800" dirty="0">
                <a:solidFill>
                  <a:schemeClr val="tx1"/>
                </a:solidFill>
              </a:rPr>
              <a:t>Chaque blocage indique le stade qu'il bloque : octroi, décaissement ou notation validée. Cas MIN : score 52,9 mais X3 actif, aucune note.</a:t>
            </a:r>
            <a:endParaRPr lang="en-US" sz="18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lIns="0" tIns="0" rIns="0" bIns="0" rtlCol="0" anchor="t"/>
          <a:lstStyle/>
          <a:p>
            <a:pPr algn="l" indent="0" marL="0">
              <a:buNone/>
            </a:pPr>
            <a:r>
              <a:rPr lang="en-US" sz="2400" b="1" dirty="0">
                <a:solidFill>
                  <a:schemeClr val="accent1"/>
                </a:solidFill>
              </a:rPr>
              <a:t>Un dossier par onglet, treize blocs de saisie</a:t>
            </a: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lIns="0" tIns="0" rIns="0" bIns="0" rtlCol="0"/>
          <a:lstStyle/>
          <a:p>
            <a:pPr algn="l" indent="0" marL="0">
              <a:buNone/>
            </a:pPr>
            <a:r>
              <a:rPr lang="en-US" sz="1300" i="1" dirty="0">
                <a:solidFill>
                  <a:schemeClr val="tx2"/>
                </a:solidFill>
              </a:rPr>
              <a:t>L'outil Excel · version 3</a:t>
            </a:r>
            <a:endParaRPr lang="en-US" sz="1300" dirty="0"/>
          </a:p>
        </p:txBody>
      </p:sp>
      <p:sp>
        <p:nvSpPr>
          <p:cNvPr id="5" name="bloc1"/>
          <p:cNvSpPr/>
          <p:nvPr/>
        </p:nvSpPr>
        <p:spPr>
          <a:xfrm>
            <a:off x="457200" y="1691640"/>
            <a:ext cx="5455768" cy="1645920"/>
          </a:xfrm>
          <a:prstGeom prst="rect">
            <a:avLst/>
          </a:prstGeom>
          <a:solidFill>
            <a:schemeClr val="bg2"/>
          </a:solidFill>
          <a:ln w="12700">
            <a:solidFill>
              <a:schemeClr val="bg2"/>
            </a:solidFill>
            <a:prstDash val="solid"/>
          </a:ln>
        </p:spPr>
      </p:sp>
      <p:sp>
        <p:nvSpPr>
          <p:cNvPr id="6" name="Text 3"/>
          <p:cNvSpPr txBox="1"/>
          <p:nvPr/>
        </p:nvSpPr>
        <p:spPr>
          <a:xfrm>
            <a:off x="658368" y="1856232"/>
            <a:ext cx="5053432" cy="1316736"/>
          </a:xfrm>
          <a:prstGeom prst="rect">
            <a:avLst/>
          </a:prstGeom>
          <a:noFill/>
          <a:ln/>
        </p:spPr>
        <p:txBody>
          <a:bodyPr wrap="square" lIns="0" tIns="0" rIns="0" bIns="0" rtlCol="0" anchor="t"/>
          <a:lstStyle/>
          <a:p>
            <a:pPr indent="0" marL="0">
              <a:spcAft>
                <a:spcPts val="600"/>
              </a:spcAft>
              <a:buNone/>
            </a:pPr>
            <a:r>
              <a:rPr lang="en-US" sz="1700" b="1" dirty="0">
                <a:solidFill>
                  <a:schemeClr val="accent1"/>
                </a:solidFill>
              </a:rPr>
              <a:t>Identification</a:t>
            </a:r>
            <a:endParaRPr lang="en-US" sz="1700" dirty="0"/>
          </a:p>
          <a:p>
            <a:pPr indent="0" marL="0">
              <a:buNone/>
            </a:pPr>
            <a:r>
              <a:rPr lang="en-US" sz="1400" dirty="0">
                <a:solidFill>
                  <a:schemeClr val="tx1"/>
                </a:solidFill>
              </a:rPr>
              <a:t>Code client T24, radical à 7 chiffres, code projet PF-AAAA-NNNN, crédits du projet.</a:t>
            </a:r>
            <a:endParaRPr lang="en-US" sz="1700" dirty="0"/>
          </a:p>
        </p:txBody>
      </p:sp>
      <p:sp>
        <p:nvSpPr>
          <p:cNvPr id="7" name="bloc2"/>
          <p:cNvSpPr/>
          <p:nvPr/>
        </p:nvSpPr>
        <p:spPr>
          <a:xfrm>
            <a:off x="6278728" y="1691640"/>
            <a:ext cx="5455768" cy="1645920"/>
          </a:xfrm>
          <a:prstGeom prst="rect">
            <a:avLst/>
          </a:prstGeom>
          <a:solidFill>
            <a:schemeClr val="bg2"/>
          </a:solidFill>
          <a:ln w="12700">
            <a:solidFill>
              <a:schemeClr val="bg2"/>
            </a:solidFill>
            <a:prstDash val="solid"/>
          </a:ln>
        </p:spPr>
      </p:sp>
      <p:sp>
        <p:nvSpPr>
          <p:cNvPr id="8" name="Text 5"/>
          <p:cNvSpPr txBox="1"/>
          <p:nvPr/>
        </p:nvSpPr>
        <p:spPr>
          <a:xfrm>
            <a:off x="6479896" y="1856232"/>
            <a:ext cx="5053432" cy="1316736"/>
          </a:xfrm>
          <a:prstGeom prst="rect">
            <a:avLst/>
          </a:prstGeom>
          <a:noFill/>
          <a:ln/>
        </p:spPr>
        <p:txBody>
          <a:bodyPr wrap="square" lIns="0" tIns="0" rIns="0" bIns="0" rtlCol="0" anchor="t"/>
          <a:lstStyle/>
          <a:p>
            <a:pPr indent="0" marL="0">
              <a:spcAft>
                <a:spcPts val="600"/>
              </a:spcAft>
              <a:buNone/>
            </a:pPr>
            <a:r>
              <a:rPr lang="en-US" sz="1700" b="1" dirty="0">
                <a:solidFill>
                  <a:schemeClr val="accent1"/>
                </a:solidFill>
              </a:rPr>
              <a:t>Saisie guidée</a:t>
            </a:r>
            <a:endParaRPr lang="en-US" sz="1700" dirty="0"/>
          </a:p>
          <a:p>
            <a:pPr indent="0" marL="0">
              <a:buNone/>
            </a:pPr>
            <a:r>
              <a:rPr lang="en-US" sz="1400" dirty="0">
                <a:solidFill>
                  <a:schemeClr val="tx1"/>
                </a:solidFill>
              </a:rPr>
              <a:t>Cellules orange à remplir, ligne « À SAISIR » et lien vers la prochaine, info-bulles, listes.</a:t>
            </a:r>
            <a:endParaRPr lang="en-US" sz="1700" dirty="0"/>
          </a:p>
        </p:txBody>
      </p:sp>
      <p:sp>
        <p:nvSpPr>
          <p:cNvPr id="9" name="bloc3"/>
          <p:cNvSpPr/>
          <p:nvPr/>
        </p:nvSpPr>
        <p:spPr>
          <a:xfrm>
            <a:off x="457200" y="3611880"/>
            <a:ext cx="5455768" cy="1645920"/>
          </a:xfrm>
          <a:prstGeom prst="rect">
            <a:avLst/>
          </a:prstGeom>
          <a:solidFill>
            <a:schemeClr val="bg2"/>
          </a:solidFill>
          <a:ln w="12700">
            <a:solidFill>
              <a:schemeClr val="bg2"/>
            </a:solidFill>
            <a:prstDash val="solid"/>
          </a:ln>
        </p:spPr>
      </p:sp>
      <p:sp>
        <p:nvSpPr>
          <p:cNvPr id="10" name="Text 7"/>
          <p:cNvSpPr txBox="1"/>
          <p:nvPr/>
        </p:nvSpPr>
        <p:spPr>
          <a:xfrm>
            <a:off x="658368" y="3776472"/>
            <a:ext cx="5053432" cy="1316736"/>
          </a:xfrm>
          <a:prstGeom prst="rect">
            <a:avLst/>
          </a:prstGeom>
          <a:noFill/>
          <a:ln/>
        </p:spPr>
        <p:txBody>
          <a:bodyPr wrap="square" lIns="0" tIns="0" rIns="0" bIns="0" rtlCol="0" anchor="t"/>
          <a:lstStyle/>
          <a:p>
            <a:pPr indent="0" marL="0">
              <a:spcAft>
                <a:spcPts val="600"/>
              </a:spcAft>
              <a:buNone/>
            </a:pPr>
            <a:r>
              <a:rPr lang="en-US" sz="1700" b="1" dirty="0">
                <a:solidFill>
                  <a:schemeClr val="accent1"/>
                </a:solidFill>
              </a:rPr>
              <a:t>Calcul automatique</a:t>
            </a:r>
            <a:endParaRPr lang="en-US" sz="1700" dirty="0"/>
          </a:p>
          <a:p>
            <a:pPr indent="0" marL="0">
              <a:buNone/>
            </a:pPr>
            <a:r>
              <a:rPr lang="en-US" sz="1400" dirty="0">
                <a:solidFill>
                  <a:schemeClr val="tx1"/>
                </a:solidFill>
              </a:rPr>
              <a:t>Seuils, DSCR par échéance et stressé, N1 à N3, plafonds, verrous, régime S / M / L.</a:t>
            </a:r>
            <a:endParaRPr lang="en-US" sz="1700" dirty="0"/>
          </a:p>
        </p:txBody>
      </p:sp>
      <p:sp>
        <p:nvSpPr>
          <p:cNvPr id="11" name="bloc4"/>
          <p:cNvSpPr/>
          <p:nvPr/>
        </p:nvSpPr>
        <p:spPr>
          <a:xfrm>
            <a:off x="6278728" y="3611880"/>
            <a:ext cx="5455768" cy="1645920"/>
          </a:xfrm>
          <a:prstGeom prst="rect">
            <a:avLst/>
          </a:prstGeom>
          <a:solidFill>
            <a:schemeClr val="bg2"/>
          </a:solidFill>
          <a:ln w="12700">
            <a:solidFill>
              <a:schemeClr val="bg2"/>
            </a:solidFill>
            <a:prstDash val="solid"/>
          </a:ln>
        </p:spPr>
      </p:sp>
      <p:sp>
        <p:nvSpPr>
          <p:cNvPr id="12" name="Text 9"/>
          <p:cNvSpPr txBox="1"/>
          <p:nvPr/>
        </p:nvSpPr>
        <p:spPr>
          <a:xfrm>
            <a:off x="6479896" y="3776472"/>
            <a:ext cx="5053432" cy="1316736"/>
          </a:xfrm>
          <a:prstGeom prst="rect">
            <a:avLst/>
          </a:prstGeom>
          <a:noFill/>
          <a:ln/>
        </p:spPr>
        <p:txBody>
          <a:bodyPr wrap="square" lIns="0" tIns="0" rIns="0" bIns="0" rtlCol="0" anchor="t"/>
          <a:lstStyle/>
          <a:p>
            <a:pPr indent="0" marL="0">
              <a:spcAft>
                <a:spcPts val="600"/>
              </a:spcAft>
              <a:buNone/>
            </a:pPr>
            <a:r>
              <a:rPr lang="en-US" sz="1700" b="1" dirty="0">
                <a:solidFill>
                  <a:schemeClr val="accent1"/>
                </a:solidFill>
              </a:rPr>
              <a:t>Comité</a:t>
            </a:r>
            <a:endParaRPr lang="en-US" sz="1700" dirty="0"/>
          </a:p>
          <a:p>
            <a:pPr indent="0" marL="0">
              <a:buNone/>
            </a:pPr>
            <a:r>
              <a:rPr lang="en-US" sz="1400" dirty="0">
                <a:solidFill>
                  <a:schemeClr val="tx1"/>
                </a:solidFill>
              </a:rPr>
              <a:t>Bloc 13 commentaires et conditions, fiche comité en PDF, comparaison, journal.</a:t>
            </a:r>
            <a:endParaRPr lang="en-US" sz="17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lIns="0" tIns="0" rIns="0" bIns="0" rtlCol="0" anchor="t"/>
          <a:lstStyle/>
          <a:p>
            <a:pPr algn="l" indent="0" marL="0">
              <a:buNone/>
            </a:pPr>
            <a:r>
              <a:rPr lang="en-US" sz="2400" b="1" dirty="0">
                <a:solidFill>
                  <a:schemeClr val="accent1"/>
                </a:solidFill>
              </a:rPr>
              <a:t>Note calculée, puis note approuvée après garde-fous</a:t>
            </a: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lIns="0" tIns="0" rIns="0" bIns="0" rtlCol="0"/>
          <a:lstStyle/>
          <a:p>
            <a:pPr algn="l" indent="0" marL="0">
              <a:buNone/>
            </a:pPr>
            <a:r>
              <a:rPr lang="en-US" sz="1300" i="1" dirty="0">
                <a:solidFill>
                  <a:schemeClr val="tx2"/>
                </a:solidFill>
              </a:rPr>
              <a:t>18 cas d'étude fictifs</a:t>
            </a:r>
            <a:endParaRPr lang="en-US" sz="1300" dirty="0"/>
          </a:p>
        </p:txBody>
      </p:sp>
      <p:graphicFrame>
        <p:nvGraphicFramePr>
          <p:cNvPr id="16" name="casGauche"/>
          <p:cNvGraphicFramePr>
            <a:graphicFrameLocks noGrp="1"/>
          </p:cNvGraphicFramePr>
          <p:nvPr>
            <p:extLst>
              <p:ext uri="{D42A27DB-BD31-4B8C-83A1-F6EECF244321}">
                <p14:modId xmlns:p14="http://schemas.microsoft.com/office/powerpoint/2010/main" val="1579011935"/>
              </p:ext>
            </p:extLst>
          </p:nvPr>
        </p:nvGraphicFramePr>
        <p:xfrm>
          <a:off x="457200" y="1280160"/>
          <a:ext cx="5455768" cy="914400"/>
        </p:xfrm>
        <a:graphic>
          <a:graphicData uri="http://schemas.openxmlformats.org/drawingml/2006/table">
            <a:tbl>
              <a:tblPr/>
              <a:tblGrid>
                <a:gridCol w="1463040"/>
                <a:gridCol w="731520"/>
                <a:gridCol w="1325880"/>
                <a:gridCol w="2025396"/>
              </a:tblGrid>
              <a:tr h="393192">
                <a:tc>
                  <a:txBody>
                    <a:bodyPr/>
                    <a:lstStyle/>
                    <a:p>
                      <a:pPr algn="l" indent="0" marL="0">
                        <a:buNone/>
                      </a:pPr>
                      <a:r>
                        <a:rPr lang="en-US" sz="1400" b="1" i="1" dirty="0">
                          <a:solidFill>
                            <a:schemeClr val="tx2"/>
                          </a:solidFill>
                          <a:latin typeface="Segoe UI" pitchFamily="34" charset="0"/>
                          <a:ea typeface="Segoe UI" pitchFamily="34" charset="-122"/>
                          <a:cs typeface="Segoe UI" pitchFamily="34" charset="-120"/>
                        </a:rPr>
                        <a:t>Cas</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400" b="1" i="1" dirty="0">
                          <a:solidFill>
                            <a:schemeClr val="tx2"/>
                          </a:solidFill>
                          <a:latin typeface="Segoe UI" pitchFamily="34" charset="0"/>
                          <a:ea typeface="Segoe UI" pitchFamily="34" charset="-122"/>
                          <a:cs typeface="Segoe UI" pitchFamily="34" charset="-120"/>
                        </a:rPr>
                        <a:t>Calc.</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400" b="1" i="1" dirty="0">
                          <a:solidFill>
                            <a:schemeClr val="tx2"/>
                          </a:solidFill>
                          <a:latin typeface="Segoe UI" pitchFamily="34" charset="0"/>
                          <a:ea typeface="Segoe UI" pitchFamily="34" charset="-122"/>
                          <a:cs typeface="Segoe UI" pitchFamily="34" charset="-120"/>
                        </a:rPr>
                        <a:t>Approuvée</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400" b="1" i="1" dirty="0">
                          <a:solidFill>
                            <a:schemeClr val="tx2"/>
                          </a:solidFill>
                          <a:latin typeface="Segoe UI" pitchFamily="34" charset="0"/>
                          <a:ea typeface="Segoe UI" pitchFamily="34" charset="-122"/>
                          <a:cs typeface="Segoe UI" pitchFamily="34" charset="-120"/>
                        </a:rPr>
                        <a:t>Raison</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r>
              <a:tr h="393192">
                <a:tc>
                  <a:txBody>
                    <a:bodyPr/>
                    <a:lstStyle/>
                    <a:p>
                      <a:pPr algn="l" indent="0" marL="0">
                        <a:buNone/>
                      </a:pPr>
                      <a:r>
                        <a:rPr lang="en-US" sz="1400" b="1" i="1" dirty="0">
                          <a:solidFill>
                            <a:schemeClr val="bg1"/>
                          </a:solidFill>
                          <a:latin typeface="Segoe UI" pitchFamily="34" charset="0"/>
                          <a:ea typeface="Segoe UI" pitchFamily="34" charset="-122"/>
                          <a:cs typeface="Segoe UI" pitchFamily="34" charset="-120"/>
                        </a:rPr>
                        <a:t>C1 solaire</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9</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9</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Aucun garde-fou</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93192">
                <a:tc>
                  <a:txBody>
                    <a:bodyPr/>
                    <a:lstStyle/>
                    <a:p>
                      <a:pPr algn="l" indent="0" marL="0">
                        <a:buNone/>
                      </a:pPr>
                      <a:r>
                        <a:rPr lang="en-US" sz="1400" b="1" i="1" dirty="0">
                          <a:solidFill>
                            <a:schemeClr val="bg1"/>
                          </a:solidFill>
                          <a:latin typeface="Segoe UI" pitchFamily="34" charset="0"/>
                          <a:ea typeface="Segoe UI" pitchFamily="34" charset="-122"/>
                          <a:cs typeface="Segoe UI" pitchFamily="34" charset="-120"/>
                        </a:rPr>
                        <a:t>C2 eau</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6</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6</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Stress énergie</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93192">
                <a:tc>
                  <a:txBody>
                    <a:bodyPr/>
                    <a:lstStyle/>
                    <a:p>
                      <a:pPr algn="l" indent="0" marL="0">
                        <a:buNone/>
                      </a:pPr>
                      <a:r>
                        <a:rPr lang="en-US" sz="1400" b="1" i="1" dirty="0">
                          <a:solidFill>
                            <a:schemeClr val="bg1"/>
                          </a:solidFill>
                          <a:latin typeface="Segoe UI" pitchFamily="34" charset="0"/>
                          <a:ea typeface="Segoe UI" pitchFamily="34" charset="-122"/>
                          <a:cs typeface="Segoe UI" pitchFamily="34" charset="-120"/>
                        </a:rPr>
                        <a:t>C3 hôtel</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7</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4</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C2, C3</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93192">
                <a:tc>
                  <a:txBody>
                    <a:bodyPr/>
                    <a:lstStyle/>
                    <a:p>
                      <a:pPr algn="l" indent="0" marL="0">
                        <a:buNone/>
                      </a:pPr>
                      <a:r>
                        <a:rPr lang="en-US" sz="1400" b="1" i="1" dirty="0">
                          <a:solidFill>
                            <a:schemeClr val="bg1"/>
                          </a:solidFill>
                          <a:latin typeface="Segoe UI" pitchFamily="34" charset="0"/>
                          <a:ea typeface="Segoe UI" pitchFamily="34" charset="-122"/>
                          <a:cs typeface="Segoe UI" pitchFamily="34" charset="-120"/>
                        </a:rPr>
                        <a:t>C4A agro</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5</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3</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C1, C2, C3, C6</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93192">
                <a:tc>
                  <a:txBody>
                    <a:bodyPr/>
                    <a:lstStyle/>
                    <a:p>
                      <a:pPr algn="l" indent="0" marL="0">
                        <a:buNone/>
                      </a:pPr>
                      <a:r>
                        <a:rPr lang="en-US" sz="1400" b="1" i="1" dirty="0">
                          <a:solidFill>
                            <a:schemeClr val="bg1"/>
                          </a:solidFill>
                          <a:latin typeface="Segoe UI" pitchFamily="34" charset="0"/>
                          <a:ea typeface="Segoe UI" pitchFamily="34" charset="-122"/>
                          <a:cs typeface="Segoe UI" pitchFamily="34" charset="-120"/>
                        </a:rPr>
                        <a:t>C4B agro</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6</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6</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Restructuré</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93192">
                <a:tc>
                  <a:txBody>
                    <a:bodyPr/>
                    <a:lstStyle/>
                    <a:p>
                      <a:pPr algn="l" indent="0" marL="0">
                        <a:buNone/>
                      </a:pPr>
                      <a:r>
                        <a:rPr lang="en-US" sz="1400" b="1" i="1" dirty="0">
                          <a:solidFill>
                            <a:schemeClr val="bg1"/>
                          </a:solidFill>
                          <a:latin typeface="Segoe UI" pitchFamily="34" charset="0"/>
                          <a:ea typeface="Segoe UI" pitchFamily="34" charset="-122"/>
                          <a:cs typeface="Segoe UI" pitchFamily="34" charset="-120"/>
                        </a:rPr>
                        <a:t>C5 solaire</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8</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6</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C10</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93192">
                <a:tc>
                  <a:txBody>
                    <a:bodyPr/>
                    <a:lstStyle/>
                    <a:p>
                      <a:pPr algn="l" indent="0" marL="0">
                        <a:buNone/>
                      </a:pPr>
                      <a:r>
                        <a:rPr lang="en-US" sz="1400" b="1" i="1" dirty="0">
                          <a:solidFill>
                            <a:schemeClr val="bg1"/>
                          </a:solidFill>
                          <a:latin typeface="Segoe UI" pitchFamily="34" charset="0"/>
                          <a:ea typeface="Segoe UI" pitchFamily="34" charset="-122"/>
                          <a:cs typeface="Segoe UI" pitchFamily="34" charset="-120"/>
                        </a:rPr>
                        <a:t>ENR éolien</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10</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10</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Référence</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93192">
                <a:tc>
                  <a:txBody>
                    <a:bodyPr/>
                    <a:lstStyle/>
                    <a:p>
                      <a:pPr algn="l" indent="0" marL="0">
                        <a:buNone/>
                      </a:pPr>
                      <a:r>
                        <a:rPr lang="en-US" sz="1400" b="1" i="1" dirty="0">
                          <a:solidFill>
                            <a:schemeClr val="bg1"/>
                          </a:solidFill>
                          <a:latin typeface="Segoe UI" pitchFamily="34" charset="0"/>
                          <a:ea typeface="Segoe UI" pitchFamily="34" charset="-122"/>
                          <a:cs typeface="Segoe UI" pitchFamily="34" charset="-120"/>
                        </a:rPr>
                        <a:t>EAU</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7</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7</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Climat couvert</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93192">
                <a:tc>
                  <a:txBody>
                    <a:bodyPr/>
                    <a:lstStyle/>
                    <a:p>
                      <a:pPr algn="l" indent="0" marL="0">
                        <a:buNone/>
                      </a:pPr>
                      <a:r>
                        <a:rPr lang="en-US" sz="1400" b="1" i="1" dirty="0">
                          <a:solidFill>
                            <a:schemeClr val="bg1"/>
                          </a:solidFill>
                          <a:latin typeface="Segoe UI" pitchFamily="34" charset="0"/>
                          <a:ea typeface="Segoe UI" pitchFamily="34" charset="-122"/>
                          <a:cs typeface="Segoe UI" pitchFamily="34" charset="-120"/>
                        </a:rPr>
                        <a:t>TEL</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7</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4</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C3</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bl>
          </a:graphicData>
        </a:graphic>
      </p:graphicFrame>
      <p:graphicFrame>
        <p:nvGraphicFramePr>
          <p:cNvPr id="31" name="casDroite"/>
          <p:cNvGraphicFramePr>
            <a:graphicFrameLocks noGrp="1"/>
          </p:cNvGraphicFramePr>
          <p:nvPr>
            <p:extLst>
              <p:ext uri="{D42A27DB-BD31-4B8C-83A1-F6EECF244321}">
                <p14:modId xmlns:p14="http://schemas.microsoft.com/office/powerpoint/2010/main" val="1579011935"/>
              </p:ext>
            </p:extLst>
          </p:nvPr>
        </p:nvGraphicFramePr>
        <p:xfrm>
          <a:off x="6278728" y="1280160"/>
          <a:ext cx="5455768" cy="914400"/>
        </p:xfrm>
        <a:graphic>
          <a:graphicData uri="http://schemas.openxmlformats.org/drawingml/2006/table">
            <a:tbl>
              <a:tblPr/>
              <a:tblGrid>
                <a:gridCol w="1463040"/>
                <a:gridCol w="731520"/>
                <a:gridCol w="1325880"/>
                <a:gridCol w="2025396"/>
              </a:tblGrid>
              <a:tr h="393192">
                <a:tc>
                  <a:txBody>
                    <a:bodyPr/>
                    <a:lstStyle/>
                    <a:p>
                      <a:pPr algn="l" indent="0" marL="0">
                        <a:buNone/>
                      </a:pPr>
                      <a:r>
                        <a:rPr lang="en-US" sz="1400" b="1" i="1" dirty="0">
                          <a:solidFill>
                            <a:schemeClr val="tx2"/>
                          </a:solidFill>
                          <a:latin typeface="Segoe UI" pitchFamily="34" charset="0"/>
                          <a:ea typeface="Segoe UI" pitchFamily="34" charset="-122"/>
                          <a:cs typeface="Segoe UI" pitchFamily="34" charset="-120"/>
                        </a:rPr>
                        <a:t>Cas</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400" b="1" i="1" dirty="0">
                          <a:solidFill>
                            <a:schemeClr val="tx2"/>
                          </a:solidFill>
                          <a:latin typeface="Segoe UI" pitchFamily="34" charset="0"/>
                          <a:ea typeface="Segoe UI" pitchFamily="34" charset="-122"/>
                          <a:cs typeface="Segoe UI" pitchFamily="34" charset="-120"/>
                        </a:rPr>
                        <a:t>Calc.</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400" b="1" i="1" dirty="0">
                          <a:solidFill>
                            <a:schemeClr val="tx2"/>
                          </a:solidFill>
                          <a:latin typeface="Segoe UI" pitchFamily="34" charset="0"/>
                          <a:ea typeface="Segoe UI" pitchFamily="34" charset="-122"/>
                          <a:cs typeface="Segoe UI" pitchFamily="34" charset="-120"/>
                        </a:rPr>
                        <a:t>Approuvée</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400" b="1" i="1" dirty="0">
                          <a:solidFill>
                            <a:schemeClr val="tx2"/>
                          </a:solidFill>
                          <a:latin typeface="Segoe UI" pitchFamily="34" charset="0"/>
                          <a:ea typeface="Segoe UI" pitchFamily="34" charset="-122"/>
                          <a:cs typeface="Segoe UI" pitchFamily="34" charset="-120"/>
                        </a:rPr>
                        <a:t>Raison</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r>
              <a:tr h="393192">
                <a:tc>
                  <a:txBody>
                    <a:bodyPr/>
                    <a:lstStyle/>
                    <a:p>
                      <a:pPr algn="l" indent="0" marL="0">
                        <a:buNone/>
                      </a:pPr>
                      <a:r>
                        <a:rPr lang="en-US" sz="1400" b="1" i="1" dirty="0">
                          <a:solidFill>
                            <a:schemeClr val="bg1"/>
                          </a:solidFill>
                          <a:latin typeface="Segoe UI" pitchFamily="34" charset="0"/>
                          <a:ea typeface="Segoe UI" pitchFamily="34" charset="-122"/>
                          <a:cs typeface="Segoe UI" pitchFamily="34" charset="-120"/>
                        </a:rPr>
                        <a:t>TRA</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6</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5</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C2</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93192">
                <a:tc>
                  <a:txBody>
                    <a:bodyPr/>
                    <a:lstStyle/>
                    <a:p>
                      <a:pPr algn="l" indent="0" marL="0">
                        <a:buNone/>
                      </a:pPr>
                      <a:r>
                        <a:rPr lang="en-US" sz="1400" b="1" i="1" dirty="0">
                          <a:solidFill>
                            <a:schemeClr val="bg1"/>
                          </a:solidFill>
                          <a:latin typeface="Segoe UI" pitchFamily="34" charset="0"/>
                          <a:ea typeface="Segoe UI" pitchFamily="34" charset="-122"/>
                          <a:cs typeface="Segoe UI" pitchFamily="34" charset="-120"/>
                        </a:rPr>
                        <a:t>POR</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6</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6</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Provisoire B2</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93192">
                <a:tc>
                  <a:txBody>
                    <a:bodyPr/>
                    <a:lstStyle/>
                    <a:p>
                      <a:pPr algn="l" indent="0" marL="0">
                        <a:buNone/>
                      </a:pPr>
                      <a:r>
                        <a:rPr lang="en-US" sz="1400" b="1" i="1" dirty="0">
                          <a:solidFill>
                            <a:schemeClr val="bg1"/>
                          </a:solidFill>
                          <a:latin typeface="Segoe UI" pitchFamily="34" charset="0"/>
                          <a:ea typeface="Segoe UI" pitchFamily="34" charset="-122"/>
                          <a:cs typeface="Segoe UI" pitchFamily="34" charset="-120"/>
                        </a:rPr>
                        <a:t>SAN</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7</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6</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C13, C15, B7</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93192">
                <a:tc>
                  <a:txBody>
                    <a:bodyPr/>
                    <a:lstStyle/>
                    <a:p>
                      <a:pPr algn="l" indent="0" marL="0">
                        <a:buNone/>
                      </a:pPr>
                      <a:r>
                        <a:rPr lang="en-US" sz="1400" b="1" i="1" dirty="0">
                          <a:solidFill>
                            <a:schemeClr val="bg1"/>
                          </a:solidFill>
                          <a:latin typeface="Segoe UI" pitchFamily="34" charset="0"/>
                          <a:ea typeface="Segoe UI" pitchFamily="34" charset="-122"/>
                          <a:cs typeface="Segoe UI" pitchFamily="34" charset="-120"/>
                        </a:rPr>
                        <a:t>ETH</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6</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4</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C4, C8</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93192">
                <a:tc>
                  <a:txBody>
                    <a:bodyPr/>
                    <a:lstStyle/>
                    <a:p>
                      <a:pPr algn="l" indent="0" marL="0">
                        <a:buNone/>
                      </a:pPr>
                      <a:r>
                        <a:rPr lang="en-US" sz="1400" b="1" i="1" dirty="0">
                          <a:solidFill>
                            <a:schemeClr val="bg1"/>
                          </a:solidFill>
                          <a:latin typeface="Segoe UI" pitchFamily="34" charset="0"/>
                          <a:ea typeface="Segoe UI" pitchFamily="34" charset="-122"/>
                          <a:cs typeface="Segoe UI" pitchFamily="34" charset="-120"/>
                        </a:rPr>
                        <a:t>IMMO</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6</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5</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C7, C9</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93192">
                <a:tc>
                  <a:txBody>
                    <a:bodyPr/>
                    <a:lstStyle/>
                    <a:p>
                      <a:pPr algn="l" indent="0" marL="0">
                        <a:buNone/>
                      </a:pPr>
                      <a:r>
                        <a:rPr lang="en-US" sz="1400" b="1" i="1" dirty="0">
                          <a:solidFill>
                            <a:schemeClr val="bg1"/>
                          </a:solidFill>
                          <a:latin typeface="Segoe UI" pitchFamily="34" charset="0"/>
                          <a:ea typeface="Segoe UI" pitchFamily="34" charset="-122"/>
                          <a:cs typeface="Segoe UI" pitchFamily="34" charset="-120"/>
                        </a:rPr>
                        <a:t>IND</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6</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5</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C5, C6, B5</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93192">
                <a:tc>
                  <a:txBody>
                    <a:bodyPr/>
                    <a:lstStyle/>
                    <a:p>
                      <a:pPr algn="l" indent="0" marL="0">
                        <a:buNone/>
                      </a:pPr>
                      <a:r>
                        <a:rPr lang="en-US" sz="1400" b="1" i="1" dirty="0">
                          <a:solidFill>
                            <a:schemeClr val="bg1"/>
                          </a:solidFill>
                          <a:latin typeface="Segoe UI" pitchFamily="34" charset="0"/>
                          <a:ea typeface="Segoe UI" pitchFamily="34" charset="-122"/>
                          <a:cs typeface="Segoe UI" pitchFamily="34" charset="-120"/>
                        </a:rPr>
                        <a:t>AGR</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8</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8</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Régime S</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93192">
                <a:tc>
                  <a:txBody>
                    <a:bodyPr/>
                    <a:lstStyle/>
                    <a:p>
                      <a:pPr algn="l" indent="0" marL="0">
                        <a:buNone/>
                      </a:pPr>
                      <a:r>
                        <a:rPr lang="en-US" sz="1400" b="1" i="1" dirty="0">
                          <a:solidFill>
                            <a:schemeClr val="bg1"/>
                          </a:solidFill>
                          <a:latin typeface="Segoe UI" pitchFamily="34" charset="0"/>
                          <a:ea typeface="Segoe UI" pitchFamily="34" charset="-122"/>
                          <a:cs typeface="Segoe UI" pitchFamily="34" charset="-120"/>
                        </a:rPr>
                        <a:t>TOU</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4</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3</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C1, C11, B4</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393192">
                <a:tc>
                  <a:txBody>
                    <a:bodyPr/>
                    <a:lstStyle/>
                    <a:p>
                      <a:pPr algn="l" indent="0" marL="0">
                        <a:buNone/>
                      </a:pPr>
                      <a:r>
                        <a:rPr lang="en-US" sz="1400" b="1" i="1" dirty="0">
                          <a:solidFill>
                            <a:schemeClr val="bg1"/>
                          </a:solidFill>
                          <a:latin typeface="Segoe UI" pitchFamily="34" charset="0"/>
                          <a:ea typeface="Segoe UI" pitchFamily="34" charset="-122"/>
                          <a:cs typeface="Segoe UI" pitchFamily="34" charset="-120"/>
                        </a:rPr>
                        <a:t>MIN</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4</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Segoe UI" pitchFamily="34" charset="0"/>
                          <a:ea typeface="Segoe UI" pitchFamily="34" charset="-122"/>
                          <a:cs typeface="Segoe UI" pitchFamily="34" charset="-120"/>
                        </a:rPr>
                        <a:t>Exclusion X3</a:t>
                      </a:r>
                      <a:endParaRPr lang="en-US" sz="14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bl>
          </a:graphicData>
        </a:graphic>
      </p:graphicFrame>
      <p:sp>
        <p:nvSpPr>
          <p:cNvPr id="7" name="Text 2"/>
          <p:cNvSpPr txBox="1"/>
          <p:nvPr/>
        </p:nvSpPr>
        <p:spPr>
          <a:xfrm>
            <a:off x="457200" y="5394960"/>
            <a:ext cx="11277295" cy="365760"/>
          </a:xfrm>
          <a:prstGeom prst="rect">
            <a:avLst/>
          </a:prstGeom>
          <a:noFill/>
          <a:ln/>
        </p:spPr>
        <p:txBody>
          <a:bodyPr wrap="square" lIns="0" tIns="0" rIns="0" bIns="0" rtlCol="0" anchor="t"/>
          <a:lstStyle/>
          <a:p>
            <a:pPr indent="0" marL="0">
              <a:buNone/>
            </a:pPr>
            <a:r>
              <a:rPr lang="en-US" sz="1300" dirty="0">
                <a:solidFill>
                  <a:schemeClr val="accent5"/>
                </a:solidFill>
              </a:rPr>
              <a:t>Notes vérifiées par un moteur de calcul indépendant : concordance 18 / 18.</a:t>
            </a:r>
            <a:endParaRPr lang="en-US" sz="13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lIns="0" tIns="0" rIns="0" bIns="0" rtlCol="0" anchor="t"/>
          <a:lstStyle/>
          <a:p>
            <a:pPr algn="l" indent="0" marL="0">
              <a:buNone/>
            </a:pPr>
            <a:r>
              <a:rPr lang="en-US" sz="2400" b="1" dirty="0">
                <a:solidFill>
                  <a:schemeClr val="accent1"/>
                </a:solidFill>
              </a:rPr>
              <a:t>L'IA propose, l'analyste décide</a:t>
            </a: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lIns="0" tIns="0" rIns="0" bIns="0" rtlCol="0"/>
          <a:lstStyle/>
          <a:p>
            <a:pPr algn="l" indent="0" marL="0">
              <a:buNone/>
            </a:pPr>
            <a:r>
              <a:rPr lang="en-US" sz="1300" i="1" dirty="0">
                <a:solidFill>
                  <a:schemeClr val="tx2"/>
                </a:solidFill>
              </a:rPr>
              <a:t>Lecture des documents par l'IA</a:t>
            </a:r>
            <a:endParaRPr lang="en-US" sz="1300" dirty="0"/>
          </a:p>
        </p:txBody>
      </p:sp>
      <p:sp>
        <p:nvSpPr>
          <p:cNvPr id="5" name="ia1"/>
          <p:cNvSpPr/>
          <p:nvPr/>
        </p:nvSpPr>
        <p:spPr>
          <a:xfrm>
            <a:off x="457200" y="1691640"/>
            <a:ext cx="2613584" cy="2286000"/>
          </a:xfrm>
          <a:prstGeom prst="rect">
            <a:avLst/>
          </a:prstGeom>
          <a:solidFill>
            <a:schemeClr val="bg2"/>
          </a:solidFill>
          <a:ln w="12700">
            <a:solidFill>
              <a:schemeClr val="bg2"/>
            </a:solidFill>
            <a:prstDash val="solid"/>
          </a:ln>
        </p:spPr>
      </p:sp>
      <p:sp>
        <p:nvSpPr>
          <p:cNvPr id="6" name="Text 3"/>
          <p:cNvSpPr txBox="1"/>
          <p:nvPr/>
        </p:nvSpPr>
        <p:spPr>
          <a:xfrm>
            <a:off x="658368" y="1856232"/>
            <a:ext cx="2211248" cy="1956816"/>
          </a:xfrm>
          <a:prstGeom prst="rect">
            <a:avLst/>
          </a:prstGeom>
          <a:noFill/>
          <a:ln/>
        </p:spPr>
        <p:txBody>
          <a:bodyPr wrap="square" lIns="0" tIns="0" rIns="0" bIns="0" rtlCol="0" anchor="t"/>
          <a:lstStyle/>
          <a:p>
            <a:pPr indent="0" marL="0">
              <a:spcAft>
                <a:spcPts val="600"/>
              </a:spcAft>
              <a:buNone/>
            </a:pPr>
            <a:r>
              <a:rPr lang="en-US" sz="1700" b="1" dirty="0">
                <a:solidFill>
                  <a:schemeClr val="accent1"/>
                </a:solidFill>
              </a:rPr>
              <a:t>1 · Lecture</a:t>
            </a:r>
            <a:endParaRPr lang="en-US" sz="1700" dirty="0"/>
          </a:p>
          <a:p>
            <a:pPr indent="0" marL="0">
              <a:buNone/>
            </a:pPr>
            <a:r>
              <a:rPr lang="en-US" sz="1400" dirty="0">
                <a:solidFill>
                  <a:schemeClr val="tx1"/>
                </a:solidFill>
              </a:rPr>
              <a:t>L'outil web lit mémorandum, contrats et rapports, et produit des propositions sourcées.</a:t>
            </a:r>
            <a:endParaRPr lang="en-US" sz="1700" dirty="0"/>
          </a:p>
        </p:txBody>
      </p:sp>
      <p:sp>
        <p:nvSpPr>
          <p:cNvPr id="7" name="ia2"/>
          <p:cNvSpPr/>
          <p:nvPr/>
        </p:nvSpPr>
        <p:spPr>
          <a:xfrm>
            <a:off x="3345104" y="1691640"/>
            <a:ext cx="2613584" cy="2286000"/>
          </a:xfrm>
          <a:prstGeom prst="rect">
            <a:avLst/>
          </a:prstGeom>
          <a:solidFill>
            <a:schemeClr val="bg2"/>
          </a:solidFill>
          <a:ln w="12700">
            <a:solidFill>
              <a:schemeClr val="bg2"/>
            </a:solidFill>
            <a:prstDash val="solid"/>
          </a:ln>
        </p:spPr>
      </p:sp>
      <p:sp>
        <p:nvSpPr>
          <p:cNvPr id="8" name="Text 5"/>
          <p:cNvSpPr txBox="1"/>
          <p:nvPr/>
        </p:nvSpPr>
        <p:spPr>
          <a:xfrm>
            <a:off x="3546272" y="1856232"/>
            <a:ext cx="2211248" cy="1956816"/>
          </a:xfrm>
          <a:prstGeom prst="rect">
            <a:avLst/>
          </a:prstGeom>
          <a:noFill/>
          <a:ln/>
        </p:spPr>
        <p:txBody>
          <a:bodyPr wrap="square" lIns="0" tIns="0" rIns="0" bIns="0" rtlCol="0" anchor="t"/>
          <a:lstStyle/>
          <a:p>
            <a:pPr indent="0" marL="0">
              <a:spcAft>
                <a:spcPts val="600"/>
              </a:spcAft>
              <a:buNone/>
            </a:pPr>
            <a:r>
              <a:rPr lang="en-US" sz="1700" b="1" dirty="0">
                <a:solidFill>
                  <a:schemeClr val="accent1"/>
                </a:solidFill>
              </a:rPr>
              <a:t>2 · Contrôle</a:t>
            </a:r>
            <a:endParaRPr lang="en-US" sz="1700" dirty="0"/>
          </a:p>
          <a:p>
            <a:pPr indent="0" marL="0">
              <a:buNone/>
            </a:pPr>
            <a:r>
              <a:rPr lang="en-US" sz="1400" dirty="0">
                <a:solidFill>
                  <a:schemeClr val="tx1"/>
                </a:solidFill>
              </a:rPr>
              <a:t>Import refusé si le code client ou projet diffère de celui du dossier.</a:t>
            </a:r>
            <a:endParaRPr lang="en-US" sz="1700" dirty="0"/>
          </a:p>
        </p:txBody>
      </p:sp>
      <p:sp>
        <p:nvSpPr>
          <p:cNvPr id="9" name="ia3"/>
          <p:cNvSpPr/>
          <p:nvPr/>
        </p:nvSpPr>
        <p:spPr>
          <a:xfrm>
            <a:off x="6233008" y="1691640"/>
            <a:ext cx="2613584" cy="2286000"/>
          </a:xfrm>
          <a:prstGeom prst="rect">
            <a:avLst/>
          </a:prstGeom>
          <a:solidFill>
            <a:schemeClr val="bg2"/>
          </a:solidFill>
          <a:ln w="12700">
            <a:solidFill>
              <a:schemeClr val="bg2"/>
            </a:solidFill>
            <a:prstDash val="solid"/>
          </a:ln>
        </p:spPr>
      </p:sp>
      <p:sp>
        <p:nvSpPr>
          <p:cNvPr id="10" name="Text 7"/>
          <p:cNvSpPr txBox="1"/>
          <p:nvPr/>
        </p:nvSpPr>
        <p:spPr>
          <a:xfrm>
            <a:off x="6434176" y="1856232"/>
            <a:ext cx="2211248" cy="1956816"/>
          </a:xfrm>
          <a:prstGeom prst="rect">
            <a:avLst/>
          </a:prstGeom>
          <a:noFill/>
          <a:ln/>
        </p:spPr>
        <p:txBody>
          <a:bodyPr wrap="square" lIns="0" tIns="0" rIns="0" bIns="0" rtlCol="0" anchor="t"/>
          <a:lstStyle/>
          <a:p>
            <a:pPr indent="0" marL="0">
              <a:spcAft>
                <a:spcPts val="600"/>
              </a:spcAft>
              <a:buNone/>
            </a:pPr>
            <a:r>
              <a:rPr lang="en-US" sz="1700" b="1" dirty="0">
                <a:solidFill>
                  <a:schemeClr val="accent1"/>
                </a:solidFill>
              </a:rPr>
              <a:t>3 · Revue</a:t>
            </a:r>
            <a:endParaRPr lang="en-US" sz="1700" dirty="0"/>
          </a:p>
          <a:p>
            <a:pPr indent="0" marL="0">
              <a:buNone/>
            </a:pPr>
            <a:r>
              <a:rPr lang="en-US" sz="1400" dirty="0">
                <a:solidFill>
                  <a:schemeClr val="tx1"/>
                </a:solidFill>
              </a:rPr>
              <a:t>Valeur actuelle et proposée côte à côte, en bleu, avec document et page.</a:t>
            </a:r>
            <a:endParaRPr lang="en-US" sz="1700" dirty="0"/>
          </a:p>
        </p:txBody>
      </p:sp>
      <p:sp>
        <p:nvSpPr>
          <p:cNvPr id="11" name="ia4"/>
          <p:cNvSpPr/>
          <p:nvPr/>
        </p:nvSpPr>
        <p:spPr>
          <a:xfrm>
            <a:off x="9120911" y="1691640"/>
            <a:ext cx="2613584" cy="2286000"/>
          </a:xfrm>
          <a:prstGeom prst="rect">
            <a:avLst/>
          </a:prstGeom>
          <a:solidFill>
            <a:schemeClr val="accent1"/>
          </a:solidFill>
          <a:ln w="12700">
            <a:solidFill>
              <a:schemeClr val="accent1"/>
            </a:solidFill>
            <a:prstDash val="solid"/>
          </a:ln>
        </p:spPr>
      </p:sp>
      <p:sp>
        <p:nvSpPr>
          <p:cNvPr id="12" name="Text 9"/>
          <p:cNvSpPr txBox="1"/>
          <p:nvPr/>
        </p:nvSpPr>
        <p:spPr>
          <a:xfrm>
            <a:off x="9322079" y="1856232"/>
            <a:ext cx="2211248" cy="1956816"/>
          </a:xfrm>
          <a:prstGeom prst="rect">
            <a:avLst/>
          </a:prstGeom>
          <a:noFill/>
          <a:ln/>
        </p:spPr>
        <p:txBody>
          <a:bodyPr wrap="square" lIns="0" tIns="0" rIns="0" bIns="0" rtlCol="0" anchor="t"/>
          <a:lstStyle/>
          <a:p>
            <a:pPr indent="0" marL="0">
              <a:spcAft>
                <a:spcPts val="600"/>
              </a:spcAft>
              <a:buNone/>
            </a:pPr>
            <a:r>
              <a:rPr lang="en-US" sz="1700" b="1" i="1" dirty="0">
                <a:solidFill>
                  <a:schemeClr val="bg1"/>
                </a:solidFill>
              </a:rPr>
              <a:t>4 · Décision</a:t>
            </a:r>
            <a:endParaRPr lang="en-US" sz="1700" dirty="0"/>
          </a:p>
          <a:p>
            <a:pPr indent="0" marL="0">
              <a:buNone/>
            </a:pPr>
            <a:r>
              <a:rPr lang="en-US" sz="1400" b="1" dirty="0">
                <a:solidFill>
                  <a:schemeClr val="bg1"/>
                </a:solidFill>
              </a:rPr>
              <a:t>Seules les lignes acceptées sont écrites ; chaque décision est journalisée.</a:t>
            </a:r>
            <a:endParaRPr lang="en-US" sz="1700" dirty="0"/>
          </a:p>
        </p:txBody>
      </p:sp>
      <p:sp>
        <p:nvSpPr>
          <p:cNvPr id="13" name="Text 10"/>
          <p:cNvSpPr txBox="1"/>
          <p:nvPr/>
        </p:nvSpPr>
        <p:spPr>
          <a:xfrm>
            <a:off x="457200" y="4160520"/>
            <a:ext cx="11277295" cy="822960"/>
          </a:xfrm>
          <a:prstGeom prst="rect">
            <a:avLst/>
          </a:prstGeom>
          <a:noFill/>
          <a:ln/>
        </p:spPr>
        <p:txBody>
          <a:bodyPr wrap="square" lIns="0" tIns="0" rIns="0" bIns="0" rtlCol="0" anchor="t"/>
          <a:lstStyle/>
          <a:p>
            <a:pPr indent="0" marL="0">
              <a:buNone/>
            </a:pPr>
            <a:r>
              <a:rPr lang="en-US" sz="1800" dirty="0">
                <a:solidFill>
                  <a:schemeClr val="tx1"/>
                </a:solidFill>
              </a:rPr>
              <a:t>La décision du comité ne s'importe jamais. Le fichier d'échange est en place côté Excel ; l'export depuis l'outil web reste à construire.</a:t>
            </a:r>
            <a:endParaRPr lang="en-US" sz="18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lIns="0" tIns="0" rIns="0" bIns="0" rtlCol="0" anchor="t"/>
          <a:lstStyle/>
          <a:p>
            <a:pPr algn="l" indent="0" marL="0">
              <a:buNone/>
            </a:pPr>
            <a:r>
              <a:rPr lang="en-US" sz="2400" b="1" dirty="0">
                <a:solidFill>
                  <a:schemeClr val="accent1"/>
                </a:solidFill>
              </a:rPr>
              <a:t>Tous les paramètres sont des candidats à valider</a:t>
            </a: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lIns="0" tIns="0" rIns="0" bIns="0" rtlCol="0"/>
          <a:lstStyle/>
          <a:p>
            <a:pPr algn="l" indent="0" marL="0">
              <a:buNone/>
            </a:pPr>
            <a:r>
              <a:rPr lang="en-US" sz="1300" i="1" dirty="0">
                <a:solidFill>
                  <a:schemeClr val="tx2"/>
                </a:solidFill>
              </a:rPr>
              <a:t>Validation</a:t>
            </a:r>
            <a:endParaRPr lang="en-US" sz="1300" dirty="0"/>
          </a:p>
        </p:txBody>
      </p:sp>
      <p:graphicFrame>
        <p:nvGraphicFramePr>
          <p:cNvPr id="18" name="tableau"/>
          <p:cNvGraphicFramePr>
            <a:graphicFrameLocks noGrp="1"/>
          </p:cNvGraphicFramePr>
          <p:nvPr>
            <p:extLst>
              <p:ext uri="{D42A27DB-BD31-4B8C-83A1-F6EECF244321}">
                <p14:modId xmlns:p14="http://schemas.microsoft.com/office/powerpoint/2010/main" val="1579011935"/>
              </p:ext>
            </p:extLst>
          </p:nvPr>
        </p:nvGraphicFramePr>
        <p:xfrm>
          <a:off x="457200" y="1417320"/>
          <a:ext cx="11277295" cy="914400"/>
        </p:xfrm>
        <a:graphic>
          <a:graphicData uri="http://schemas.openxmlformats.org/drawingml/2006/table">
            <a:tbl>
              <a:tblPr/>
              <a:tblGrid>
                <a:gridCol w="4206240"/>
                <a:gridCol w="6885432"/>
              </a:tblGrid>
              <a:tr h="457200">
                <a:tc>
                  <a:txBody>
                    <a:bodyPr/>
                    <a:lstStyle/>
                    <a:p>
                      <a:pPr algn="l" indent="0" marL="0">
                        <a:buNone/>
                      </a:pPr>
                      <a:r>
                        <a:rPr lang="en-US" sz="1600" b="1" i="1" dirty="0">
                          <a:solidFill>
                            <a:schemeClr val="tx2"/>
                          </a:solidFill>
                          <a:latin typeface="Segoe UI" pitchFamily="34" charset="0"/>
                          <a:ea typeface="Segoe UI" pitchFamily="34" charset="-122"/>
                          <a:cs typeface="Segoe UI" pitchFamily="34" charset="-120"/>
                        </a:rPr>
                        <a:t>Ce que nous vous soumettons</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c>
                  <a:txBody>
                    <a:bodyPr/>
                    <a:lstStyle/>
                    <a:p>
                      <a:pPr algn="ctr" indent="0" marL="0">
                        <a:buNone/>
                      </a:pPr>
                      <a:r>
                        <a:rPr lang="en-US" sz="1600" b="1" i="1" dirty="0">
                          <a:solidFill>
                            <a:schemeClr val="tx2"/>
                          </a:solidFill>
                          <a:latin typeface="Segoe UI" pitchFamily="34" charset="0"/>
                          <a:ea typeface="Segoe UI" pitchFamily="34" charset="-122"/>
                          <a:cs typeface="Segoe UI" pitchFamily="34" charset="-120"/>
                        </a:rPr>
                        <a:t>Où le trouver</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2"/>
                    </a:solidFill>
                  </a:tcPr>
                </a:tc>
              </a:tr>
              <a:tr h="457200">
                <a:tc>
                  <a:txBody>
                    <a:bodyPr/>
                    <a:lstStyle/>
                    <a:p>
                      <a:pPr algn="l" indent="0" marL="0">
                        <a:buNone/>
                      </a:pPr>
                      <a:r>
                        <a:rPr lang="en-US" sz="1600" b="1" i="1" dirty="0">
                          <a:solidFill>
                            <a:schemeClr val="bg1"/>
                          </a:solidFill>
                          <a:latin typeface="Segoe UI" pitchFamily="34" charset="0"/>
                          <a:ea typeface="Segoe UI" pitchFamily="34" charset="-122"/>
                          <a:cs typeface="Segoe UI" pitchFamily="34" charset="-120"/>
                        </a:rPr>
                        <a:t>Seuils DSCR et écarts sectoriels</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600" dirty="0">
                          <a:solidFill>
                            <a:schemeClr val="tx1"/>
                          </a:solidFill>
                          <a:latin typeface="Segoe UI" pitchFamily="34" charset="0"/>
                          <a:ea typeface="Segoe UI" pitchFamily="34" charset="-122"/>
                          <a:cs typeface="Segoe UI" pitchFamily="34" charset="-120"/>
                        </a:rPr>
                        <a:t>Onglet Paramètres, grille Excel jointe</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57200">
                <a:tc>
                  <a:txBody>
                    <a:bodyPr/>
                    <a:lstStyle/>
                    <a:p>
                      <a:pPr algn="l" indent="0" marL="0">
                        <a:buNone/>
                      </a:pPr>
                      <a:r>
                        <a:rPr lang="en-US" sz="1600" b="1" i="1" dirty="0">
                          <a:solidFill>
                            <a:schemeClr val="bg1"/>
                          </a:solidFill>
                          <a:latin typeface="Segoe UI" pitchFamily="34" charset="0"/>
                          <a:ea typeface="Segoe UI" pitchFamily="34" charset="-122"/>
                          <a:cs typeface="Segoe UI" pitchFamily="34" charset="-120"/>
                        </a:rPr>
                        <a:t>Poids des domaines et du noyau</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600" dirty="0">
                          <a:solidFill>
                            <a:schemeClr val="tx1"/>
                          </a:solidFill>
                          <a:latin typeface="Segoe UI" pitchFamily="34" charset="0"/>
                          <a:ea typeface="Segoe UI" pitchFamily="34" charset="-122"/>
                          <a:cs typeface="Segoe UI" pitchFamily="34" charset="-120"/>
                        </a:rPr>
                        <a:t>Onglet Paramètres</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57200">
                <a:tc>
                  <a:txBody>
                    <a:bodyPr/>
                    <a:lstStyle/>
                    <a:p>
                      <a:pPr algn="l" indent="0" marL="0">
                        <a:buNone/>
                      </a:pPr>
                      <a:r>
                        <a:rPr lang="en-US" sz="1600" b="1" i="1" dirty="0">
                          <a:solidFill>
                            <a:schemeClr val="bg1"/>
                          </a:solidFill>
                          <a:latin typeface="Segoe UI" pitchFamily="34" charset="0"/>
                          <a:ea typeface="Segoe UI" pitchFamily="34" charset="-122"/>
                          <a:cs typeface="Segoe UI" pitchFamily="34" charset="-120"/>
                        </a:rPr>
                        <a:t>Situations de chaque sous-critère</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600" dirty="0">
                          <a:solidFill>
                            <a:schemeClr val="tx1"/>
                          </a:solidFill>
                          <a:latin typeface="Segoe UI" pitchFamily="34" charset="0"/>
                          <a:ea typeface="Segoe UI" pitchFamily="34" charset="-122"/>
                          <a:cs typeface="Segoe UI" pitchFamily="34" charset="-120"/>
                        </a:rPr>
                        <a:t>Onglet Référentiel des niveaux, grille expliquée</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57200">
                <a:tc>
                  <a:txBody>
                    <a:bodyPr/>
                    <a:lstStyle/>
                    <a:p>
                      <a:pPr algn="l" indent="0" marL="0">
                        <a:buNone/>
                      </a:pPr>
                      <a:r>
                        <a:rPr lang="en-US" sz="1600" b="1" i="1" dirty="0">
                          <a:solidFill>
                            <a:schemeClr val="bg1"/>
                          </a:solidFill>
                          <a:latin typeface="Segoe UI" pitchFamily="34" charset="0"/>
                          <a:ea typeface="Segoe UI" pitchFamily="34" charset="-122"/>
                          <a:cs typeface="Segoe UI" pitchFamily="34" charset="-120"/>
                        </a:rPr>
                        <a:t>Plafonds, verrous et leurs seuils</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600" dirty="0">
                          <a:solidFill>
                            <a:schemeClr val="tx1"/>
                          </a:solidFill>
                          <a:latin typeface="Segoe UI" pitchFamily="34" charset="0"/>
                          <a:ea typeface="Segoe UI" pitchFamily="34" charset="-122"/>
                          <a:cs typeface="Segoe UI" pitchFamily="34" charset="-120"/>
                        </a:rPr>
                        <a:t>Onglet Paramètres, sections 10 et 11 du dossier</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r h="457200">
                <a:tc>
                  <a:txBody>
                    <a:bodyPr/>
                    <a:lstStyle/>
                    <a:p>
                      <a:pPr algn="l" indent="0" marL="0">
                        <a:buNone/>
                      </a:pPr>
                      <a:r>
                        <a:rPr lang="en-US" sz="1600" b="1" i="1" dirty="0">
                          <a:solidFill>
                            <a:schemeClr val="bg1"/>
                          </a:solidFill>
                          <a:latin typeface="Segoe UI" pitchFamily="34" charset="0"/>
                          <a:ea typeface="Segoe UI" pitchFamily="34" charset="-122"/>
                          <a:cs typeface="Segoe UI" pitchFamily="34" charset="-120"/>
                        </a:rPr>
                        <a:t>Résultats des 18 cas</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accent2"/>
                    </a:solidFill>
                  </a:tcPr>
                </a:tc>
                <a:tc>
                  <a:txBody>
                    <a:bodyPr/>
                    <a:lstStyle/>
                    <a:p>
                      <a:pPr algn="l" indent="0" marL="0">
                        <a:buNone/>
                      </a:pPr>
                      <a:r>
                        <a:rPr lang="en-US" sz="1600" dirty="0">
                          <a:solidFill>
                            <a:schemeClr val="tx1"/>
                          </a:solidFill>
                          <a:latin typeface="Segoe UI" pitchFamily="34" charset="0"/>
                          <a:ea typeface="Segoe UI" pitchFamily="34" charset="-122"/>
                          <a:cs typeface="Segoe UI" pitchFamily="34" charset="-120"/>
                        </a:rPr>
                        <a:t>Accueil, Synthèse, Concordance</a:t>
                      </a:r>
                      <a:endParaRPr lang="en-US" sz="1600" dirty="0">
                        <a:latin typeface="Segoe UI" charset="0"/>
                        <a:ea typeface="Segoe UI" charset="0"/>
                        <a:cs typeface="Segoe UI"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bg1"/>
                    </a:solidFill>
                  </a:tcPr>
                </a:tc>
              </a:tr>
            </a:tbl>
          </a:graphicData>
        </a:graphic>
      </p:graphicFrame>
      <p:sp>
        <p:nvSpPr>
          <p:cNvPr id="6" name="Text 2"/>
          <p:cNvSpPr txBox="1"/>
          <p:nvPr/>
        </p:nvSpPr>
        <p:spPr>
          <a:xfrm>
            <a:off x="457200" y="4480560"/>
            <a:ext cx="11277295" cy="731520"/>
          </a:xfrm>
          <a:prstGeom prst="rect">
            <a:avLst/>
          </a:prstGeom>
          <a:noFill/>
          <a:ln/>
        </p:spPr>
        <p:txBody>
          <a:bodyPr wrap="square" lIns="0" tIns="0" rIns="0" bIns="0" rtlCol="0" anchor="t"/>
          <a:lstStyle/>
          <a:p>
            <a:pPr indent="0" marL="0">
              <a:buNone/>
            </a:pPr>
            <a:r>
              <a:rPr lang="en-US" sz="1800" dirty="0">
                <a:solidFill>
                  <a:schemeClr val="tx1"/>
                </a:solidFill>
              </a:rPr>
              <a:t>Prochaines étapes : vos retours, recalibrage, validation par le Comité, puis déploiement de l'outil et de la version web.</a:t>
            </a:r>
            <a:endParaRPr lang="en-US" sz="18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11277295" cy="548640"/>
          </a:xfrm>
          <a:prstGeom prst="rect">
            <a:avLst/>
          </a:prstGeom>
          <a:noFill/>
          <a:ln/>
        </p:spPr>
        <p:txBody>
          <a:bodyPr wrap="square" lIns="0" tIns="0" rIns="0" bIns="0" rtlCol="0" anchor="t"/>
          <a:lstStyle/>
          <a:p>
            <a:pPr algn="l" indent="0" marL="0">
              <a:buNone/>
            </a:pPr>
            <a:r>
              <a:rPr lang="en-US" sz="2400" b="1" dirty="0">
                <a:solidFill>
                  <a:schemeClr val="accent1"/>
                </a:solidFill>
              </a:rPr>
              <a:t>Quatre questions pour la discussion</a:t>
            </a:r>
            <a:endParaRPr lang="en-US" sz="2400" dirty="0"/>
          </a:p>
        </p:txBody>
      </p:sp>
      <p:sp>
        <p:nvSpPr>
          <p:cNvPr id="3" name="Text 0"/>
          <p:cNvSpPr/>
          <p:nvPr>
            <p:ph idx="101" type="body" hasCustomPrompt="1"/>
          </p:nvPr>
        </p:nvSpPr>
        <p:spPr>
          <a:xfrm>
            <a:off x="457200" y="777240"/>
            <a:ext cx="11277295" cy="320040"/>
          </a:xfrm>
          <a:prstGeom prst="rect">
            <a:avLst/>
          </a:prstGeom>
          <a:noFill/>
          <a:ln/>
        </p:spPr>
        <p:txBody>
          <a:bodyPr wrap="square" lIns="0" tIns="0" rIns="0" bIns="0" rtlCol="0"/>
          <a:lstStyle/>
          <a:p>
            <a:pPr algn="l" indent="0" marL="0">
              <a:buNone/>
            </a:pPr>
            <a:r>
              <a:rPr lang="en-US" sz="1300" i="1" dirty="0">
                <a:solidFill>
                  <a:schemeClr val="tx2"/>
                </a:solidFill>
              </a:rPr>
              <a:t>Vos avis d'experts</a:t>
            </a:r>
            <a:endParaRPr lang="en-US" sz="1300" dirty="0"/>
          </a:p>
        </p:txBody>
      </p:sp>
      <p:sp>
        <p:nvSpPr>
          <p:cNvPr id="5" name="Text 2"/>
          <p:cNvSpPr txBox="1"/>
          <p:nvPr/>
        </p:nvSpPr>
        <p:spPr>
          <a:xfrm>
            <a:off x="457200" y="1463040"/>
            <a:ext cx="11277295"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chemeClr val="tx1"/>
                </a:solidFill>
              </a:rPr>
              <a:t>Les seuils DSCR par régime et les écarts sectoriels reflètent-ils votre pratique ?</a:t>
            </a:r>
            <a:endParaRPr lang="en-US" sz="2000" dirty="0"/>
          </a:p>
          <a:p>
            <a:pPr marL="342900" indent="-342900">
              <a:spcAft>
                <a:spcPts val="1200"/>
              </a:spcAft>
              <a:buSzPct val="100000"/>
              <a:buFont typeface="+mj-lt"/>
              <a:buAutoNum type="arabicPeriod" startAt="1"/>
            </a:pPr>
            <a:r>
              <a:rPr lang="en-US" sz="2000" dirty="0">
                <a:solidFill>
                  <a:schemeClr val="tx1"/>
                </a:solidFill>
              </a:rPr>
              <a:t>Faut-il durcir ou assouplir certains plafonds, par exemple C10 sur l'acheteur unique ?</a:t>
            </a:r>
            <a:endParaRPr lang="en-US" sz="2000" dirty="0"/>
          </a:p>
          <a:p>
            <a:pPr marL="342900" indent="-342900">
              <a:spcAft>
                <a:spcPts val="1200"/>
              </a:spcAft>
              <a:buSzPct val="100000"/>
              <a:buFont typeface="+mj-lt"/>
              <a:buAutoNum type="arabicPeriod" startAt="1"/>
            </a:pPr>
            <a:r>
              <a:rPr lang="en-US" sz="2000" dirty="0">
                <a:solidFill>
                  <a:schemeClr val="tx1"/>
                </a:solidFill>
              </a:rPr>
              <a:t>Les situations décrites sont-elles celles que vous rencontrez dans vos dossiers ?</a:t>
            </a:r>
            <a:endParaRPr lang="en-US" sz="2000" dirty="0"/>
          </a:p>
          <a:p>
            <a:pPr marL="342900" indent="-342900">
              <a:spcAft>
                <a:spcPts val="1200"/>
              </a:spcAft>
              <a:buSzPct val="100000"/>
              <a:buFont typeface="+mj-lt"/>
              <a:buAutoNum type="arabicPeriod" startAt="1"/>
            </a:pPr>
            <a:r>
              <a:rPr lang="en-US" sz="2000" dirty="0">
                <a:solidFill>
                  <a:schemeClr val="tx1"/>
                </a:solidFill>
              </a:rPr>
              <a:t>Quels secteurs prioriser pour les variantes sectorielles et le déploiement ?</a:t>
            </a:r>
            <a:endParaRPr lang="en-US" sz="2000" dirty="0"/>
          </a:p>
        </p:txBody>
      </p:sp>
      <p:sp>
        <p:nvSpPr>
          <p:cNvPr id="6" name="Text 3"/>
          <p:cNvSpPr txBox="1"/>
          <p:nvPr/>
        </p:nvSpPr>
        <p:spPr>
          <a:xfrm>
            <a:off x="457200" y="5120640"/>
            <a:ext cx="11277295" cy="457200"/>
          </a:xfrm>
          <a:prstGeom prst="rect">
            <a:avLst/>
          </a:prstGeom>
          <a:noFill/>
          <a:ln/>
        </p:spPr>
        <p:txBody>
          <a:bodyPr wrap="square" lIns="0" tIns="0" rIns="0" bIns="0" rtlCol="0" anchor="t"/>
          <a:lstStyle/>
          <a:p>
            <a:pPr indent="0" marL="0">
              <a:buNone/>
            </a:pPr>
            <a:r>
              <a:rPr lang="en-US" sz="1800" b="1" dirty="0">
                <a:solidFill>
                  <a:schemeClr val="accent1"/>
                </a:solidFill>
              </a:rPr>
              <a:t>Merci · [Nom, fonction, contact]</a:t>
            </a:r>
            <a:endParaRPr lang="en-US" sz="1800" dirty="0"/>
          </a:p>
        </p:txBody>
      </p:sp>
      <p:pic>
        <p:nvPicPr>
          <p:cNvPr id="7" name="logo" descr="Logo Banque Populaire">    </p:cNvPr>
          <p:cNvPicPr>
            <a:picLocks noChangeAspect="1"/>
          </p:cNvPicPr>
          <p:nvPr/>
        </p:nvPicPr>
        <p:blipFill>
          <a:blip r:embed="rId1"/>
          <a:stretch>
            <a:fillRect/>
          </a:stretch>
        </p:blipFill>
        <p:spPr>
          <a:xfrm>
            <a:off x="9692640" y="4983480"/>
            <a:ext cx="2011680" cy="548310"/>
          </a:xfrm>
          <a:prstGeom prst="rect">
            <a:avLst/>
          </a:prstGeom>
        </p:spPr>
      </p:pic>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Banque Populaire — Scoring PF V8">
  <a:themeElements>
    <a:clrScheme name="Banque Populaire — Scoring PF V8">
      <a:dk1>
        <a:srgbClr val="4D4D4D"/>
      </a:dk1>
      <a:lt1>
        <a:srgbClr val="FFFFFF"/>
      </a:lt1>
      <a:dk2>
        <a:srgbClr val="575757"/>
      </a:dk2>
      <a:lt2>
        <a:srgbClr val="F2F2F2"/>
      </a:lt2>
      <a:accent1>
        <a:srgbClr val="E67D00"/>
      </a:accent1>
      <a:accent2>
        <a:srgbClr val="EDA44C"/>
      </a:accent2>
      <a:accent3>
        <a:srgbClr val="4D4D4D"/>
      </a:accent3>
      <a:accent4>
        <a:srgbClr val="D9D9D9"/>
      </a:accent4>
      <a:accent5>
        <a:srgbClr val="7F7F7F"/>
      </a:accent5>
      <a:accent6>
        <a:srgbClr val="FBE3C6"/>
      </a:accent6>
      <a:hlink>
        <a:srgbClr val="E67D00"/>
      </a:hlink>
      <a:folHlink>
        <a:srgbClr val="A65A00"/>
      </a:folHlink>
    </a:clrScheme>
    <a:fontScheme name="Banque Populaire — Scoring PF V8">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Modèle de scoring Project Finance V8 et outil Excel</dc:title>
  <dc:subject>PptxGenJS Presentation</dc:subject>
  <dc:creator>PptxGenJS</dc:creator>
  <cp:lastModifiedBy>PptxGenJS</cp:lastModifiedBy>
  <cp:revision>1</cp:revision>
  <dcterms:created xsi:type="dcterms:W3CDTF">2026-10-18T16:24:23Z</dcterms:created>
  <dcterms:modified xsi:type="dcterms:W3CDTF">2026-10-18T16:24:23Z</dcterms:modified>
</cp:coreProperties>
</file>