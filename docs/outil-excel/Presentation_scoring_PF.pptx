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9fe59a5-8dc1-6d7d-092f-f35476f6de25}">
          <p14:sldIdLst>
            <p14:sldId id="256"/>
            <p14:sldId id="257"/>
            <p14:sldId id="258"/>
            <p14:sldId id="259"/>
          </p14:sldIdLst>
        </p14:section>
        <p14:section name="Routage du dossier" id="{ce8de880-c771-aa84-c998-3554f2dcd2c0}">
          <p14:sldIdLst>
            <p14:sldId id="260"/>
            <p14:sldId id="261"/>
            <p14:sldId id="262"/>
            <p14:sldId id="263"/>
            <p14:sldId id="264"/>
            <p14:sldId id="265"/>
          </p14:sldIdLst>
        </p14:section>
        <p14:section name="Régime d'instruction" id="{8f6bfd6d-b59e-e843-0098-1a6b12698598}">
          <p14:sldIdLst>
            <p14:sldId id="266"/>
            <p14:sldId id="267"/>
          </p14:sldIdLst>
        </p14:section>
        <p14:section name="Verrous, plafonds et conditions" id="{6785ddb0-3271-9c44-98a2-fb1be23310b4}">
          <p14:sldIdLst>
            <p14:sldId id="268"/>
            <p14:sldId id="269"/>
            <p14:sldId id="270"/>
            <p14:sldId id="271"/>
          </p14:sldIdLst>
        </p14:section>
        <p14:section name="Noyau financier" id="{21a256fa-28e8-8ba0-9153-f38de6d66d96}">
          <p14:sldIdLst>
            <p14:sldId id="272"/>
            <p14:sldId id="273"/>
            <p14:sldId id="274"/>
            <p14:sldId id="275"/>
            <p14:sldId id="276"/>
          </p14:sldIdLst>
        </p14:section>
        <p14:section name="Grille qualitative" id="{6b0b47fb-6bf3-049c-51bd-bb3d12da85ea}">
          <p14:sldIdLst>
            <p14:sldId id="277"/>
            <p14:sldId id="278"/>
            <p14:sldId id="279"/>
            <p14:sldId id="280"/>
            <p14:sldId id="281"/>
          </p14:sldIdLst>
        </p14:section>
        <p14:section name="Module Maroc" id="{60f2b0db-caaf-e509-4458-1f91e60c4f33}">
          <p14:sldIdLst>
            <p14:sldId id="282"/>
            <p14:sldId id="283"/>
          </p14:sldIdLst>
        </p14:section>
        <p14:section name="Stress et tests inversés" id="{8bdab0f1-cce6-0cbf-7440-5777491f754e}">
          <p14:sldIdLst>
            <p14:sldId id="284"/>
            <p14:sldId id="285"/>
          </p14:sldIdLst>
        </p14:section>
        <p14:section name="Agrégation, note et sorties" id="{40ebde7f-585a-4c18-bf98-e8945c904fb1}">
          <p14:sldIdLst>
            <p14:sldId id="286"/>
            <p14:sldId id="287"/>
            <p14:sldId id="288"/>
          </p14:sldIdLst>
        </p14:section>
        <p14:section name="L'outil Excel et les 18 cas" id="{5a90e11e-a5cb-235d-6ccb-97a26de6ab01}">
          <p14:sldIdLst>
            <p14:sldId id="289"/>
            <p14:sldId id="290"/>
            <p14:sldId id="291"/>
          </p14:sldIdLst>
        </p14:section>
        <p14:section name="Validation et suite" id="{7e834600-383e-149d-5b0f-adfd6d5c3383}">
          <p14:sldIdLst>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et merci d'avoir pris ce temps. Je vais vous présenter le modèle de notation des financements de projet que nous proposons, et l'outil Excel qui l'applique.
Je le dis d'emblée : vous êtes les experts du Project Finance dans cette salle. Ce que nous attendons de vous, c'est un regard critique. Tous les seuils, les poids et les descriptions que vous allez voir sont des paramètres candidats : ils seront ajustés avec vos retours avant validation par le Comité de validation des modèles.
La présentation suit l'ordre du modèle : le routage du dossier, le régime d'instruction, les verrous et plafonds, le noyau financier, la grille qualitative, le module Maroc, les stress, l'agrégation, puis l'outil et les points à valider.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répond à trois exigences.
Comparable : un 6 dans l'éolien doit valoir un 6 dans l'hôtellerie. On garde la même grille pour tous les secteurs ; le secteur n'ajuste que les seuils.
Sans compensation : dans un financement de projet, un seul point faible peut provoquer un défaut. Un excellent sponsor ne compense pas une dette mal couverte. D'où des plafonds de note.
Traçable : chaque note doit pouvoir être expliquée à un auditeur ou au régulateur : d'où vient-elle, quelle pièce la justifie, qui l'a modifiée.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décisions structurent le modèle.
Un : c'est le régime de revenus, c'est-à-dire qui porte le risque des recettes, qui fixe les seuils financiers ; le secteur ne fait que les moduler.
Deux : rien de vital n'est compensable ; les verrous et plafonds priment sur la moyenne.
Trois : le noyau financier est calculé à partir du modèle de flux, jamais saisi ; toute modification experte est une dérogation tracée.
Quatre : la grille dépend de la phase du projet. Cinq : la profondeur de l'analyse dépend de la taille et de la complexité, mais les contrôles durs ne s'allègent jamais. Six : les spécificités marocaines forment un module transversal, et non un domaine de plus qui serait dilué dans la moyenne.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complète, dans l'ordre où un dossier la traverse.
D'abord le routage sur cinq axes : famille de financement, phase, régime de revenus, secteur, taille. Ensuite le régime d'instruction S, M ou L. Puis les verrous : une exclusion arrête tout, un blocage rend la note provisoire.
On calcule ensuite le score : le noyau financier à partir du modèle de flux, la grille qualitative à partir des situations choisies. Le module Maroc et les stress alimentent ces blocs.
Enfin les plafonds bornent la note, et les conditions suspensives datées accompagnent l'octroi. La note approuvée est le minimum entre la note calculée et les plafonds actifs.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question avant tout calcul : ce dossier est-il vraiment un financement de projet ?
S'il n'y a pas de société de projet dédiée et cantonnée, le dossier sort vers la notation corporate. Sinon, on regarde la source principale de remboursement : les flux d'exploitation conduisent à la famille PF-FLUX, qui est le cœur de ce modèle ; des loyers récurrents conduisent à l'immobilier de rendement ; la vente de lots conduit à la promotion immobilière, qui a ses propres indicateurs : coût à terminaison, préventes, LTC.
Pour être en PF-FLUX, quatre conditions cumulatives : SPV dédiée juridiquement cantonnée, service de la dette couvert à plus de 70 % par les flux du projet, recours limité au-delà des engagements contractuels, actif et contrats de revenus identifiables. Un financement hybride documente sa source principale et passe en revue spécialisée.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axe : la phase. En construction, l'achèvement n'est pas acquis. En montée en charge, l'ouvrage est réceptionné mais sans historique représentatif. En exploitation stabilisée, on dispose d'un historique.
Une date administrative ne déclenche pas la transition : il faut la preuve, réception et essais de performance, ou douze à vingt-quatre mois d'exploitation conformes au plan. À chaque passage, l'outil peut calculer les deux grilles sur le même dossier pour expliquer l'écart.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axe, le plus structurant : qui supporte le risque que les recettes n'arrivent pas ?
En R1, un acheteur s'engage à payer une quantité garantie : c'est le plus protecteur. En R2, le projet est payé s'il est disponible : l'acheteur porte la demande, le projet porte la performance. En R3, le prix est contractuel mais le volume est exposé. En R4, le projet porte le prix et le volume. R5, la vente d'actifs, relève de la promotion et sort de ce barème.
Quand les recettes mêlent plusieurs régimes, on retient le moins protecteur qui représente plus de 30 % des recettes de la période de pointe du service de la dette.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axe, le secteur. Il s'agit du secteur de l'actif et de ses recettes, jamais de celui du client.
Les douze familles sectorielles reçoivent un écart, le delta, ajouté au seuil du régime : de moins 0,05 pour les énergies renouvelables, dont la production est prévisible, à plus 0,25 pour les mines, aux prix très volatils.
Le tableau montre le seuil critique qui en résulte pour chaque régime. C'est l'un des tableaux que nous vous demandons de valider. Le secteur choisit aussi les données sectorielles à saisir et les descriptions sectorielles de quatre sous-critères.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ratio central est le DSCR : combien de fois la trésorerie disponible couvre l'échéance de dette.
Chaque régime a trois seuils qui délimitent quatre zones : critique, vigilance, favorable, très favorable. Seuil applicable égale seuil du régime plus delta sectoriel, plus 0,05 en montée en charge.
Exemple : un hôtel, régime R4, tourisme, en montée en charge : 1,35 plus 0,20 plus 0,05 donne 1,60. Si son DSCR est de 1,06 sur le semestre creux, il est en zone critique.
Contrôle de cohérence : un solaire sous contrat ferme ressort critique sous 1,05 et très favorable dès 1,25, ce qui correspond aux pratiques usuelles pour ce type de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secteur, l'outil demande trois à six données propres, affichées automatiquement selon le secteur choisi : puissance et productible pour l'éolien, capacité et consommation électrique pour le dessalement, trafic et garantie de trafic pour une autoroute, nombre de chambres, taux d'occupation et RevPAR pour un hôtel, réserves certifiées pour une mine.
Ces données ne sont pas calculées : elles éclairent les sous-critères et la discussion en comité. Nous vous demandons si la liste est la bonne pour chaque secteur.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niveau d'exigence de l'analyse est calculé, pas choisi.
Un petit projet simple, en dirhams, avec un contrat ferme, passe en régime simplifié S. Un projet de plus de 1,5 milliard, en devises, consortial ou exposé au marché passe en régime renforcé L. Entre les deux, le régime standard M.
Si un problème apparaît, le régime monte tout seul : un verrou fait passer S en M, un plafond fait passer M en L. Et le régime simplifié ne supprime aucun plafond.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régime d'instruction change la profondeur du jugement expert : nombre de critères, nombre de scénarios de stress, revues externes, périodicité de revue.
Mais quatre éléments ne s'allègent jamais : les verrous et plafonds ; le DSCR minimum par échéance sur un modèle de flux daté ; le module Maroc ; et les trois stress minimaux du régime de revenus.
Anti-contournement : fractionner un projet en plusieurs SPV ou en tranches ne réduit pas le régime ; les expositions d'un même ensemble économique sont agrégées.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règles qui priment sur la moyenne sont réparties en quatre classes, parce qu'une exclusion réglementaire, une pièce manquante et une fragilité structurelle n'appellent ni le même traitement ni la même autorité de levée.
X, exclusion : aucune note, et aucune dérogation hiérarchique possible. B, blocage : note provisoire, un stade est bloqué, levé par la fonction métier sur preuve. C, plafond : la note ne peut dépasser un niveau, levée par le comité de crédit. K, condition : la note est produite, avec une condition suspensive datée.
L'ordre d'application est toujours le même : X, puis B, puis le score, puis C, puis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des plafonds, deux familles de verrous.
Une exclusion arrête tout : on ne note pas un projet dont une contrepartie est sous sanctions ou dont l'activité est interdite.
Un blocage laisse calculer la note, mais elle reste provisoire, et l'outil indique le stade bloqué : l'octroi, le décaissement ou la validation de la note. Par exemple, un EPC non signé en construction bloque l'octroi.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quinze plafonds. Chacun est déclenché par une donnée chiffrée, jamais par un avis.
Trois familles : la couverture de la dette (C1 à C4 : DSCR, stress, LLCR) ; la structure (C5 à C9 : durée du contrat, change, réserve, refinancement, levier) ; les contreparties et le contexte (C10 à C15 : acheteur unique, climat, sponsor, opérateur, concentration du groupe, évaluation partielle).
Le niveau de chaque plafond et son seuil sont des paramètres que nous soumettons à votre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conditions K accompagnent une note produite : sûreté à inscrire, autorisation à renouveler, plan ESG financé et jalonné, couverture à mettre en place au premier tirage, cascade à signer, pièce non essentielle manquante. Chaque condition a une échéance ; à expiration, la règle se réactive.
Chaque règle porte une fiche complète, y compris son lien vers les critères déjà affectés, pour ne pas sanctionner deux fois le même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noyau financier est calculé à partir d'un modèle de flux daté, à la périodicité du service de la dette : mensuelle, trimestrielle ou semestrielle, jamais annuelle.
Le CFADS est l'EBITDA retraité, moins l'impôt payé, la variation du besoin en fonds de roulement et les investissements de maintien, plus ou moins les règlements de couverture. Les apports, les tirages, le cash bloqué et les subventions non encaissées en sont exclus. La DSRA apparaît dans la liquidité, jamais au numérateur.
DSCR minimum : le plus faible de toutes les échéances. LLCR : valeur actuelle des CFADS jusqu'à la maturité, divisée par l'encours.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noyau financier est le domaine le plus lourd : 25 à 30 % de la note.
N1 et N2 mesurent le DSCR minimum, dans le scénario central puis dans un scénario défavorable. N3 mesure le LLCR, ou en construction la couverture du besoin de financement. Ces trois-là sont calculés par l'outil.
N4 la liquidité de réserve, N5 le levier, N6 l'exposition résiduelle aux taux et au change : l'analyste choisit la situation dans une liste.
Une information manquante n'est jamais neutre : elle compte comme critique et rend la note provisoire.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l'exemple qui parle le plus.
Une huilerie encaisse l'essentiel de ses recettes pendant la campagne d'olives. Sur l'année, le DSCR est de 1,53 : tout semble aller. Mais la dette se paie par semestre, et le semestre hors campagne ne couvre que 59 % de l'échéance.
Le modèle retient toujours le DSCR minimum échéance par échéance. Le même projet, restructuré avec un amortissement adapté aux saisons et une ligne de campagne, passe de 3 à 6 sans que son marché ait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plages sont fermées à gauche, ouvertes à droite, comparées sur la valeur non arrondie : pas de trou, pas de chevauchement.
Les cas atypiques ont un statut dédié, jamais une note favorable par défaut : une période de différé est signalée et exclue du minimum ; un CFADS négatif est critique d'office ; des capitaux propres négatifs ont un traitement séparé ; une valeur hors plage est refusée.
Une dérogation experte est possible mais tracée, à durée limitée, et ne franchit jamais un verrou.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regroupe tous les seuils numériques des règles : bornes du régime simplifié et de l'escalade, barème du test de financement à terminaison, seuils des plafonds, couverture minimale de la grille, valeur retenue pour une information insuffisante.
Ils sont tous modifiables dans l'onglet Paramètres de l'outil ; tous les dossiers se recalculent alors immédiatement.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grille compte neuf domaines, définis pour qu'un même fait ne soit ni sanctionné ni valorisé deux fois.
Par exemple, le soutien du sponsor chiffré va dans le noyau N5, pas dans D1 ; le test chiffré de financement à terminaison va dans N3, pas dans D3 ; les effets chiffrés du climat vont dans les flux, D9 ne garde que le résiduel. Le prestige des prêteurs n'est pas noté.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poids des domaines changent avec la phase. En construction, le domaine construction pèse 20 % ; en exploitation il passe à zéro, et les recettes, l'exploitation et les contreparties prennent le relais. Le noyau financier pèse 25 à 30 %.
Deux conditions : D3 ne passe à zéro qu'après une réception complète documentée ; D9 ne descend à 5 % que si les effets climatiques sont intégrés aux flux, sinon il reste à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domaine est découpé en trois ou quatre sous-critères, avec un poids publié, identique quelle que soit la phase.
Par exemple, dans D6 Contreparties, l'acheteur ou payeur principal pèse 50 %, les fournisseurs critiques 20 %, les prêteurs et le consortium 30 %. Ces poids font partie de ce que nous vous soumettons.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sous-critère, l'analyste ne tape pas un chiffre : il choisit parmi quatre situations décrites, ou « information insuffisante ». La note s'affiche à côté. Deux analystes face au même dossier doivent ainsi arriver à la même note.
Pour quatre sous-critères dont le vocabulaire change vraiment d'un secteur à l'autre, la description est sectorielle : la technologie, la structure des recettes, le marché et la performance.
Si l'analyste choisit Critique ou Information insuffisante, il doit écrire un commentaire. Le détail complet, avec un exemple par situation, est dans la grille expliquée que nous vous remettons.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ancres sans niveau central : 100, 80, 50 et 20. L'écart de 80 à 50 est plus grand que celui de 100 à 80 : c'est une hypothèse assumée, testée en sensibilité.
« Information insuffisante » n'est pas une note : elle compte 20 dans le calcul, sans renormalisation sur les seuls critères renseignés, et elle réduit la complétude. Une note validée exige 100 % des critères requis et 95 % de couverture pondérée ; sinon la note est provisoire et plafonnée à 6.
Un critère non applicable ne peut résulter que d'une règle approuvée, jamais d'un choix de l'analyste.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Maroc s'appuie sur un référentiel réglementaire daté : circulaire 1/W/2025 sur la classification, directive 3/W/2025 sur la consortialisation, directives 5/W/2021 sur le climat et 3/W/2021 sur les concentrations, loi 21-18 sur les sûretés mobilières, instruction générale des opérations de change, et Bâle CRE33 comme comparaison méthodologique.
La règle appliquée est celle en vigueur à la date d'évaluation ; un futur régime est accessible en simulation, identifié comme 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thèmes, chacun injecté dans les blocs existants.
M1 le foncier : nature du droit, titre foncier, melk, terre collective, guich, habous, domaine public ; durée du droit au moins égale à la dette plus 24 mois, sinon blocage B4. M2 l'acheteur public : cinq niveaux, de l'État à l'entreprise privée ; une garantie souveraine ne se présume pas ; une subvention n'est une ressource qu'une fois conventionnée et acquise ou encaissée.
M3 le change, mesuré par devise et par période. M4 la classification BAM, avec le test de levier prudentiel sur fonds propres comptables. M5 la consortialisation : la note est toujours celle de la banque, jamais celle du chef de file. M6 le climat et l'eau, analysés au site. M7 les sûretés, ligne par ligne, avec leur valeur réalisable. M8 les concentrations et l'ICAAP, qui alimentent le plafond C14.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note en scénario central ne conclut pas sur la bancabilité. La bibliothèque comprend dix facteurs de choc à deux niveaux : retard et surcoût de construction, recettes, coûts d'exploitation, taux, change, retard de paiement, disponibilité, climat et eau, refinancement.
Un choc de recettes de 20 % ne donne pas 20 % de baisse du CFADS : coûts fixes et variables sont recalculés, et les couvertures ne sont retenues que dans leurs limites contractuelles.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régime de revenus a ses scénarios minimaux ; en construction s'ajoutent retard et surcoût, l'eau pour les projets concernés, le refinancement pour une dette avec ballon.
Le scénario combiné est un récit cohérent, pas une addition. Le test inversé cherche la variation qui fait passer le projet sous son seuil : baisse de recettes absorbable, retard finançable, surcoût maximal.
Les résultats sont mesurés avant et après recours à la DSRA et au sponsor, évalué dans le même scénario de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échelle : 0 à 100. Chaque domaine est une moyenne pondérée de ses sous-critères ; le score global est la somme des domaines pondérés selon la phase.
La table convertit le score en note de 1 à 10, avec un libellé et une orientation. La note 1 est atteignable par le calcul : un dossier critique partout obtient 20. Un dossier uniformément en vigilance obtient 50, donc 4 : une faiblesse générale ne produit pas une note moyenne rassurante.
La largeur des bandes fixe la sévérité d'ensemble du dispositif : c'est un point à trancher.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exemples.
Premier : un dossier en exploitation avec le noyau financier à 20 et les huit autres domaines à 80. Score : 0,30 × 20 + 0,70 × 80 = 62, donc 5. Et le plafond C2 s'active, la note reste à 5.
Second, le cas C3 : un hôtel au dossier excellent, sponsor et documentation à 100, score 73,7, note 7. Mais son semestre creux ne couvre pas la dette sous stress : C2 et C3, note approuvée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produit huit sorties sans équivalence automatique : la note, les plafonds actifs, le statut de décision, l'état de défaut, la classification BAM, le statut IFRS 9, l'analyse de la facilité et les conditions d'utilisation.
Une opération refusée n'est pas en défaut ; un défaut avéré ne s'efface pas par une bonne moyenne ; le statut BAM « sensible » n'est pas assimilé à un stage IFRS 9.
Enfin, aucune probabilité de défaut n'est annoncée : tant que la calibration n'est pas faite, la note est ordinale. Elle n'emporte aucune baisse mécanique d'actifs pondérés.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L'outil applique tout cela dans Excel. Chaque dossier est un onglet.
On saisit d'abord les codes : code client T24, radical à sept chiffres, code projet. On remplit ensuite les cellules orange, qui sont les saisies obligatoires ; la ligne « À SAISIR » en haut indique ce qui manque et emmène à la bonne cellule.
Tout le reste est calculé et protégé. Le bloc 13 recueille la synthèse, les forces, les faiblesses, les conditions proposées et l'avis risques ; il alimente la fiche comité, imprimable en PDF.
Je vous propose une démonstration rapide sur le cas C3. (Voir la partie « Démonstration » de ce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L'outil contient 18 cas fictifs mais réalistes : les six cas d'origine et un cas par secteur.
Regardez la colonne de droite : dans la moitié des cas, la note approuvée est inférieure à la note calculée. Ce sont les garde-fous qui travaillent.
Le parc éolien est notre cas de référence à 10. La mine n'a aucune note : une contrepartie est sous sanctions.
Un moteur de calcul indépendant recalcule les 18 cas et l'onglet Concordance confirme que l'Excel donne le même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élément : l'IA peut lire les documents du projet et préremplir les champs.
Mais elle ne note rien seule. Chaque proposition arrive avec sa source, document et page. L'analyste voit la valeur actuelle et la valeur proposée côte à côte, et accepte ou rejette chaque ligne.
Si le code client ou le code projet du fichier ne correspond pas au dossier, l'import est refusé. La décision du comité ne peut jamais être importée. Tout est tracé dans le journal.
Le format du fichier est prêt côté Excel ; l'export depuis l'outil web reste à construire.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points à trancher avant le développement définitif : les seuils DSCR et les écarts sectoriels ; les quinze plafonds ; les bornes du régime simplifié ; la largeur des bandes de la table de conversion ; le référentiel de défaut de la banque ; la politique de délégation attachée aux notes, statuts et plafonds ; le calendrier de bascule de la circulaire 1/W/2025.
S'y ajoutent les poids, les situations décrites de chaque sous-critère et les données sectorielles. Tout est modifiable dans l'outil, et la grille expliquée vous permet de relire les situations une à 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en œuvre suit dix chantiers, du référentiel et du routage jusqu'au pilote en double notation sur un périmètre limité. Les moteurs financier et de règles conditionnent tout usage décisionnel.
Pour calibrer, il nous faut : une dizaine de dossiers représentatifs couvrant les phases, les régimes et les principaux secteurs, dont des cas dégradés ; l'historique des notes, incidents et restructurations ; la politique de crédit et la méthodologie IFRS 9.
Pendant la transition, l'outil est une aide à l'analyse sous contrôle, sans automatisme d'octroi.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quatre questions où votre expertise est décisive : les seuils DSCR, la sévérité de certains plafonds, la justesse des situations décrites, et les secteurs à prioriser.
Je vous propose d'en discuter maintenant, puis de nous renvoyer vos remarques écrites dans les deux semaines.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rtlCol="0"/>
          <a:lstStyle>
            <a:lvl1pPr algn="l" indent="0" marL="0">
              <a:buNone/>
              <a:defRPr lang="en-US" sz="2400" b="1" dirty="0">
                <a:solidFill>
                  <a:schemeClr val="accent1"/>
                </a:solidFill>
              </a:defRPr>
            </a:lvl1pPr>
          </a:lstStyle>
          <a:p>
            <a:pPr algn="l" indent="0" marL="0">
              <a:buNone/>
            </a:pP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rtlCol="0"/>
          <a:lstStyle>
            <a:lvl1pPr algn="l" indent="0" marL="0">
              <a:buNone/>
              <a:defRPr lang="en-US" sz="1300" i="1" dirty="0">
                <a:solidFill>
                  <a:schemeClr val="tx2"/>
                </a:solidFill>
              </a:defRPr>
            </a:lvl1pPr>
          </a:lstStyle>
          <a:p>
            <a:pPr algn="l" indent="0" marL="0">
              <a:buNone/>
            </a:pPr>
            <a:endParaRPr lang="en-US" sz="1300" dirty="0"/>
          </a:p>
        </p:txBody>
      </p:sp>
      <p:sp>
        <p:nvSpPr>
          <p:cNvPr id="4" name="Text 0"/>
          <p:cNvSpPr/>
          <p:nvPr/>
        </p:nvSpPr>
        <p:spPr>
          <a:xfrm>
            <a:off x="3813048" y="6446520"/>
            <a:ext cx="4572000" cy="274320"/>
          </a:xfrm>
          <a:prstGeom prst="rect">
            <a:avLst/>
          </a:prstGeom>
          <a:noFill/>
          <a:ln/>
        </p:spPr>
        <p:txBody>
          <a:bodyPr wrap="square" rtlCol="0" anchor="ctr"/>
          <a:lstStyle/>
          <a:p>
            <a:pPr algn="ctr" indent="0" marL="0">
              <a:buNone/>
            </a:pPr>
            <a:r>
              <a:rPr lang="en-US" sz="1000" dirty="0">
                <a:solidFill>
                  <a:schemeClr val="accent5"/>
                </a:solidFill>
              </a:rPr>
              <a:t>Modèle de scoring Project Finance</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logo" descr="Logo Banque Populaire">    </p:cNvPr>
          <p:cNvPicPr>
            <a:picLocks noChangeAspect="1"/>
          </p:cNvPicPr>
          <p:nvPr/>
        </p:nvPicPr>
        <p:blipFill>
          <a:blip r:embed="rId1"/>
          <a:stretch>
            <a:fillRect/>
          </a:stretch>
        </p:blipFill>
        <p:spPr>
          <a:xfrm>
            <a:off x="9189720" y="274320"/>
            <a:ext cx="2606040" cy="710311"/>
          </a:xfrm>
          <a:prstGeom prst="rect">
            <a:avLst/>
          </a:prstGeom>
        </p:spPr>
      </p:pic>
      <p:pic>
        <p:nvPicPr>
          <p:cNvPr id="4" name="photo" descr="Mains réunies, travail d'équipe">    </p:cNvPr>
          <p:cNvPicPr>
            <a:picLocks noChangeAspect="1"/>
          </p:cNvPicPr>
          <p:nvPr/>
        </p:nvPicPr>
        <p:blipFill>
          <a:blip r:embed="rId2"/>
          <a:stretch>
            <a:fillRect/>
          </a:stretch>
        </p:blipFill>
        <p:spPr>
          <a:xfrm>
            <a:off x="0" y="1280160"/>
            <a:ext cx="11475720" cy="4076271"/>
          </a:xfrm>
          <a:prstGeom prst="rect">
            <a:avLst/>
          </a:prstGeom>
        </p:spPr>
      </p:pic>
      <p:sp>
        <p:nvSpPr>
          <p:cNvPr id="5" name="voile"/>
          <p:cNvSpPr/>
          <p:nvPr/>
        </p:nvSpPr>
        <p:spPr>
          <a:xfrm>
            <a:off x="164592" y="1051560"/>
            <a:ext cx="5440680" cy="4526280"/>
          </a:xfrm>
          <a:prstGeom prst="rect">
            <a:avLst/>
          </a:prstGeom>
          <a:solidFill>
            <a:schemeClr val="bg1">
              <a:alpha val="85000"/>
            </a:schemeClr>
          </a:solidFill>
          <a:ln w="9525">
            <a:solidFill>
              <a:srgbClr val="BFBFBF"/>
            </a:solidFill>
            <a:prstDash val="solid"/>
          </a:ln>
        </p:spPr>
      </p:sp>
      <p:sp>
        <p:nvSpPr>
          <p:cNvPr id="6" name="Text 1"/>
          <p:cNvSpPr txBox="1"/>
          <p:nvPr/>
        </p:nvSpPr>
        <p:spPr>
          <a:xfrm>
            <a:off x="365760" y="1234440"/>
            <a:ext cx="5029200" cy="411480"/>
          </a:xfrm>
          <a:prstGeom prst="rect">
            <a:avLst/>
          </a:prstGeom>
          <a:noFill/>
          <a:ln/>
        </p:spPr>
        <p:txBody>
          <a:bodyPr wrap="square" lIns="0" tIns="0" rIns="0" bIns="0" rtlCol="0" anchor="t"/>
          <a:lstStyle/>
          <a:p>
            <a:pPr indent="0" marL="0">
              <a:buNone/>
            </a:pPr>
            <a:r>
              <a:rPr lang="en-US" sz="1800" b="1" i="1" dirty="0">
                <a:solidFill>
                  <a:schemeClr val="tx2"/>
                </a:solidFill>
              </a:rPr>
              <a:t>Ordre du jour :</a:t>
            </a:r>
            <a:endParaRPr lang="en-US" sz="1800" dirty="0"/>
          </a:p>
        </p:txBody>
      </p:sp>
      <p:sp>
        <p:nvSpPr>
          <p:cNvPr id="7" name="Text 2"/>
          <p:cNvSpPr txBox="1"/>
          <p:nvPr/>
        </p:nvSpPr>
        <p:spPr>
          <a:xfrm>
            <a:off x="411480" y="1737360"/>
            <a:ext cx="5029200" cy="3749040"/>
          </a:xfrm>
          <a:prstGeom prst="rect">
            <a:avLst/>
          </a:prstGeom>
          <a:noFill/>
          <a:ln/>
        </p:spPr>
        <p:txBody>
          <a:bodyPr wrap="square" lIns="0" tIns="0" rIns="0" bIns="0" rtlCol="0" anchor="t"/>
          <a:lstStyle/>
          <a:p>
            <a:pPr marL="342900" indent="-342900">
              <a:spcAft>
                <a:spcPts val="400"/>
              </a:spcAft>
              <a:buSzPct val="100000"/>
              <a:buChar char="▪"/>
            </a:pPr>
            <a:r>
              <a:rPr lang="en-US" sz="1400" i="1" dirty="0">
                <a:solidFill>
                  <a:schemeClr val="tx2"/>
                </a:solidFill>
              </a:rPr>
              <a:t>Principes et architecture du modèle</a:t>
            </a:r>
            <a:endParaRPr lang="en-US" sz="1400" dirty="0"/>
          </a:p>
          <a:p>
            <a:pPr marL="342900" indent="-342900">
              <a:spcAft>
                <a:spcPts val="400"/>
              </a:spcAft>
              <a:buSzPct val="100000"/>
              <a:buChar char="▪"/>
            </a:pPr>
            <a:r>
              <a:rPr lang="en-US" sz="1400" i="1" dirty="0">
                <a:solidFill>
                  <a:schemeClr val="tx2"/>
                </a:solidFill>
              </a:rPr>
              <a:t>Routage : famille, phase, régime de revenus, secteur</a:t>
            </a:r>
            <a:endParaRPr lang="en-US" sz="1400" dirty="0"/>
          </a:p>
          <a:p>
            <a:pPr marL="342900" indent="-342900">
              <a:spcAft>
                <a:spcPts val="400"/>
              </a:spcAft>
              <a:buSzPct val="100000"/>
              <a:buChar char="▪"/>
            </a:pPr>
            <a:r>
              <a:rPr lang="en-US" sz="1400" i="1" dirty="0">
                <a:solidFill>
                  <a:schemeClr val="tx2"/>
                </a:solidFill>
              </a:rPr>
              <a:t>Régime d'instruction S / M / L</a:t>
            </a:r>
            <a:endParaRPr lang="en-US" sz="1400" dirty="0"/>
          </a:p>
          <a:p>
            <a:pPr marL="342900" indent="-342900">
              <a:spcAft>
                <a:spcPts val="400"/>
              </a:spcAft>
              <a:buSzPct val="100000"/>
              <a:buChar char="▪"/>
            </a:pPr>
            <a:r>
              <a:rPr lang="en-US" sz="1400" i="1" dirty="0">
                <a:solidFill>
                  <a:schemeClr val="tx2"/>
                </a:solidFill>
              </a:rPr>
              <a:t>Verrous, plafonds et conditions</a:t>
            </a:r>
            <a:endParaRPr lang="en-US" sz="1400" dirty="0"/>
          </a:p>
          <a:p>
            <a:pPr marL="342900" indent="-342900">
              <a:spcAft>
                <a:spcPts val="400"/>
              </a:spcAft>
              <a:buSzPct val="100000"/>
              <a:buChar char="▪"/>
            </a:pPr>
            <a:r>
              <a:rPr lang="en-US" sz="1400" i="1" dirty="0">
                <a:solidFill>
                  <a:schemeClr val="tx2"/>
                </a:solidFill>
              </a:rPr>
              <a:t>Noyau financier et modèle de flux</a:t>
            </a:r>
            <a:endParaRPr lang="en-US" sz="1400" dirty="0"/>
          </a:p>
          <a:p>
            <a:pPr marL="342900" indent="-342900">
              <a:spcAft>
                <a:spcPts val="400"/>
              </a:spcAft>
              <a:buSzPct val="100000"/>
              <a:buChar char="▪"/>
            </a:pPr>
            <a:r>
              <a:rPr lang="en-US" sz="1400" i="1" dirty="0">
                <a:solidFill>
                  <a:schemeClr val="tx2"/>
                </a:solidFill>
              </a:rPr>
              <a:t>Grille qualitative et complétude</a:t>
            </a:r>
            <a:endParaRPr lang="en-US" sz="1400" dirty="0"/>
          </a:p>
          <a:p>
            <a:pPr marL="342900" indent="-342900">
              <a:spcAft>
                <a:spcPts val="400"/>
              </a:spcAft>
              <a:buSzPct val="100000"/>
              <a:buChar char="▪"/>
            </a:pPr>
            <a:r>
              <a:rPr lang="en-US" sz="1400" i="1" dirty="0">
                <a:solidFill>
                  <a:schemeClr val="tx2"/>
                </a:solidFill>
              </a:rPr>
              <a:t>Module Maroc</a:t>
            </a:r>
            <a:endParaRPr lang="en-US" sz="1400" dirty="0"/>
          </a:p>
          <a:p>
            <a:pPr marL="342900" indent="-342900">
              <a:spcAft>
                <a:spcPts val="400"/>
              </a:spcAft>
              <a:buSzPct val="100000"/>
              <a:buChar char="▪"/>
            </a:pPr>
            <a:r>
              <a:rPr lang="en-US" sz="1400" i="1" dirty="0">
                <a:solidFill>
                  <a:schemeClr val="tx2"/>
                </a:solidFill>
              </a:rPr>
              <a:t>Stress et tests inversés</a:t>
            </a:r>
            <a:endParaRPr lang="en-US" sz="1400" dirty="0"/>
          </a:p>
          <a:p>
            <a:pPr marL="342900" indent="-342900">
              <a:spcAft>
                <a:spcPts val="400"/>
              </a:spcAft>
              <a:buSzPct val="100000"/>
              <a:buChar char="▪"/>
            </a:pPr>
            <a:r>
              <a:rPr lang="en-US" sz="1400" i="1" dirty="0">
                <a:solidFill>
                  <a:schemeClr val="tx2"/>
                </a:solidFill>
              </a:rPr>
              <a:t>Agrégation, note et sorties</a:t>
            </a:r>
            <a:endParaRPr lang="en-US" sz="1400" dirty="0"/>
          </a:p>
          <a:p>
            <a:pPr marL="342900" indent="-342900">
              <a:spcAft>
                <a:spcPts val="400"/>
              </a:spcAft>
              <a:buSzPct val="100000"/>
              <a:buChar char="▪"/>
            </a:pPr>
            <a:r>
              <a:rPr lang="en-US" sz="1400" i="1" dirty="0">
                <a:solidFill>
                  <a:schemeClr val="tx2"/>
                </a:solidFill>
              </a:rPr>
              <a:t>L'outil Excel, les 18 cas, l'IA</a:t>
            </a:r>
            <a:endParaRPr lang="en-US" sz="1400" dirty="0"/>
          </a:p>
          <a:p>
            <a:pPr marL="342900" indent="-342900">
              <a:spcAft>
                <a:spcPts val="400"/>
              </a:spcAft>
              <a:buSzPct val="100000"/>
              <a:buChar char="▪"/>
            </a:pPr>
            <a:r>
              <a:rPr lang="en-US" sz="1400" i="1" dirty="0">
                <a:solidFill>
                  <a:schemeClr val="tx2"/>
                </a:solidFill>
              </a:rPr>
              <a:t>Points soumis à validation</a:t>
            </a:r>
            <a:endParaRPr lang="en-US" sz="1400" dirty="0"/>
          </a:p>
        </p:txBody>
      </p:sp>
      <p:sp>
        <p:nvSpPr>
          <p:cNvPr id="8" name="bandeauTitre"/>
          <p:cNvSpPr/>
          <p:nvPr/>
        </p:nvSpPr>
        <p:spPr>
          <a:xfrm>
            <a:off x="6583680" y="1682496"/>
            <a:ext cx="5605272" cy="2496312"/>
          </a:xfrm>
          <a:prstGeom prst="rect">
            <a:avLst/>
          </a:prstGeom>
          <a:solidFill>
            <a:schemeClr val="accent1"/>
          </a:solidFill>
          <a:ln w="12700">
            <a:solidFill>
              <a:schemeClr val="accent1"/>
            </a:solidFill>
            <a:prstDash val="solid"/>
          </a:ln>
        </p:spPr>
      </p:sp>
      <p:sp>
        <p:nvSpPr>
          <p:cNvPr id="9" name="Text 4"/>
          <p:cNvSpPr txBox="1"/>
          <p:nvPr/>
        </p:nvSpPr>
        <p:spPr>
          <a:xfrm>
            <a:off x="6812280" y="1874520"/>
            <a:ext cx="5120640" cy="1188720"/>
          </a:xfrm>
          <a:prstGeom prst="rect">
            <a:avLst/>
          </a:prstGeom>
          <a:noFill/>
          <a:ln/>
        </p:spPr>
        <p:txBody>
          <a:bodyPr wrap="square" lIns="0" tIns="0" rIns="0" bIns="0" rtlCol="0" anchor="t"/>
          <a:lstStyle/>
          <a:p>
            <a:pPr indent="0" marL="0">
              <a:buNone/>
            </a:pPr>
            <a:r>
              <a:rPr lang="en-US" sz="2600" b="1" dirty="0">
                <a:solidFill>
                  <a:schemeClr val="bg1"/>
                </a:solidFill>
              </a:rPr>
              <a:t>Modèle de scoring Project Finance et outil Excel</a:t>
            </a:r>
            <a:endParaRPr lang="en-US" sz="2600" dirty="0"/>
          </a:p>
        </p:txBody>
      </p:sp>
      <p:sp>
        <p:nvSpPr>
          <p:cNvPr id="10" name="Text 5"/>
          <p:cNvSpPr txBox="1"/>
          <p:nvPr/>
        </p:nvSpPr>
        <p:spPr>
          <a:xfrm>
            <a:off x="6812280" y="3337560"/>
            <a:ext cx="5120640" cy="457200"/>
          </a:xfrm>
          <a:prstGeom prst="rect">
            <a:avLst/>
          </a:prstGeom>
          <a:noFill/>
          <a:ln/>
        </p:spPr>
        <p:txBody>
          <a:bodyPr wrap="square" lIns="0" tIns="0" rIns="0" bIns="0" rtlCol="0" anchor="ctr"/>
          <a:lstStyle/>
          <a:p>
            <a:pPr algn="ctr" indent="0" marL="0">
              <a:buNone/>
            </a:pPr>
            <a:r>
              <a:rPr lang="en-US" sz="1500" i="1" dirty="0">
                <a:solidFill>
                  <a:schemeClr val="bg1"/>
                </a:solidFill>
              </a:rPr>
              <a:t>Présentation aux experts Project Finance · [Date]</a:t>
            </a:r>
            <a:endParaRPr lang="en-US" sz="1500" dirty="0"/>
          </a:p>
        </p:txBody>
      </p:sp>
      <p:sp>
        <p:nvSpPr>
          <p:cNvPr id="11" name="Text 6"/>
          <p:cNvSpPr txBox="1"/>
          <p:nvPr/>
        </p:nvSpPr>
        <p:spPr>
          <a:xfrm>
            <a:off x="1984248" y="6400800"/>
            <a:ext cx="8229600" cy="274320"/>
          </a:xfrm>
          <a:prstGeom prst="rect">
            <a:avLst/>
          </a:prstGeom>
          <a:noFill/>
          <a:ln/>
        </p:spPr>
        <p:txBody>
          <a:bodyPr wrap="square" lIns="0" tIns="0" rIns="0" bIns="0" rtlCol="0" anchor="t"/>
          <a:lstStyle/>
          <a:p>
            <a:pPr algn="ctr" indent="0" marL="0">
              <a:buNone/>
            </a:pPr>
            <a:r>
              <a:rPr lang="en-US" sz="1100" dirty="0">
                <a:solidFill>
                  <a:schemeClr val="accent5"/>
                </a:solidFill>
              </a:rPr>
              <a:t>[Nom du présentateur] · Conforme Bâle, Bank Al-Maghrib, IFC, EBRD · paramètres candidats soumis à validation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Trois exigences qu'une note de projet doit tenir</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Pourquoi ce modèle</a:t>
            </a:r>
            <a:endParaRPr lang="en-US" sz="1300" dirty="0"/>
          </a:p>
        </p:txBody>
      </p:sp>
      <p:sp>
        <p:nvSpPr>
          <p:cNvPr id="5" name="exigence1"/>
          <p:cNvSpPr/>
          <p:nvPr/>
        </p:nvSpPr>
        <p:spPr>
          <a:xfrm>
            <a:off x="457200" y="1508760"/>
            <a:ext cx="3515258" cy="3108960"/>
          </a:xfrm>
          <a:prstGeom prst="rect">
            <a:avLst/>
          </a:prstGeom>
          <a:solidFill>
            <a:schemeClr val="bg2"/>
          </a:solidFill>
          <a:ln w="12700">
            <a:solidFill>
              <a:schemeClr val="bg2"/>
            </a:solidFill>
            <a:prstDash val="solid"/>
          </a:ln>
        </p:spPr>
      </p:sp>
      <p:sp>
        <p:nvSpPr>
          <p:cNvPr id="6" name="Text 3"/>
          <p:cNvSpPr txBox="1"/>
          <p:nvPr/>
        </p:nvSpPr>
        <p:spPr>
          <a:xfrm>
            <a:off x="640080" y="1645920"/>
            <a:ext cx="3149498" cy="2834640"/>
          </a:xfrm>
          <a:prstGeom prst="rect">
            <a:avLst/>
          </a:prstGeom>
          <a:noFill/>
          <a:ln/>
        </p:spPr>
        <p:txBody>
          <a:bodyPr wrap="square" lIns="0" tIns="0" rIns="0" bIns="0" rtlCol="0" anchor="t"/>
          <a:lstStyle/>
          <a:p>
            <a:pPr indent="0" marL="0">
              <a:spcAft>
                <a:spcPts val="600"/>
              </a:spcAft>
              <a:buNone/>
            </a:pPr>
            <a:endParaRPr lang="en-US" sz="1600" dirty="0"/>
          </a:p>
          <a:p>
            <a:pPr indent="0" marL="0">
              <a:buNone/>
            </a:pPr>
            <a:endParaRPr lang="en-US" sz="1600" dirty="0"/>
          </a:p>
        </p:txBody>
      </p:sp>
      <p:sp>
        <p:nvSpPr>
          <p:cNvPr id="7" name="pastille1"/>
          <p:cNvSpPr/>
          <p:nvPr/>
        </p:nvSpPr>
        <p:spPr>
          <a:xfrm>
            <a:off x="685800" y="1737360"/>
            <a:ext cx="640080" cy="640080"/>
          </a:xfrm>
          <a:prstGeom prst="ellipse">
            <a:avLst/>
          </a:prstGeom>
          <a:solidFill>
            <a:schemeClr val="accent1"/>
          </a:solidFill>
          <a:ln w="12700">
            <a:solidFill>
              <a:schemeClr val="accent1"/>
            </a:solidFill>
            <a:prstDash val="solid"/>
          </a:ln>
        </p:spPr>
      </p:sp>
      <p:sp>
        <p:nvSpPr>
          <p:cNvPr id="8" name="Text 5"/>
          <p:cNvSpPr txBox="1"/>
          <p:nvPr/>
        </p:nvSpPr>
        <p:spPr>
          <a:xfrm>
            <a:off x="685800" y="1737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9" name="Text 6"/>
          <p:cNvSpPr txBox="1"/>
          <p:nvPr/>
        </p:nvSpPr>
        <p:spPr>
          <a:xfrm>
            <a:off x="685800" y="2560320"/>
            <a:ext cx="3058058" cy="457200"/>
          </a:xfrm>
          <a:prstGeom prst="rect">
            <a:avLst/>
          </a:prstGeom>
          <a:noFill/>
          <a:ln/>
        </p:spPr>
        <p:txBody>
          <a:bodyPr wrap="square" lIns="0" tIns="0" rIns="0" bIns="0" rtlCol="0" anchor="t"/>
          <a:lstStyle/>
          <a:p>
            <a:pPr indent="0" marL="0">
              <a:buNone/>
            </a:pPr>
            <a:r>
              <a:rPr lang="en-US" sz="2000" b="1" dirty="0">
                <a:solidFill>
                  <a:schemeClr val="accent1"/>
                </a:solidFill>
              </a:rPr>
              <a:t>Comparable</a:t>
            </a:r>
            <a:endParaRPr lang="en-US" sz="2000" dirty="0"/>
          </a:p>
        </p:txBody>
      </p:sp>
      <p:sp>
        <p:nvSpPr>
          <p:cNvPr id="10" name="Text 7"/>
          <p:cNvSpPr txBox="1"/>
          <p:nvPr/>
        </p:nvSpPr>
        <p:spPr>
          <a:xfrm>
            <a:off x="685800" y="3108960"/>
            <a:ext cx="3058058" cy="1463040"/>
          </a:xfrm>
          <a:prstGeom prst="rect">
            <a:avLst/>
          </a:prstGeom>
          <a:noFill/>
          <a:ln/>
        </p:spPr>
        <p:txBody>
          <a:bodyPr wrap="square" lIns="0" tIns="0" rIns="0" bIns="0" rtlCol="0" anchor="t"/>
          <a:lstStyle/>
          <a:p>
            <a:pPr indent="0" marL="0">
              <a:buNone/>
            </a:pPr>
            <a:r>
              <a:rPr lang="en-US" sz="1500" dirty="0">
                <a:solidFill>
                  <a:schemeClr val="tx1"/>
                </a:solidFill>
              </a:rPr>
              <a:t>Une même échelle de 1 à 10 pour un parc éolien, un hôpital ou une mine. Le secteur ajuste les seuils, jamais la grille.</a:t>
            </a:r>
            <a:endParaRPr lang="en-US" sz="1500" dirty="0"/>
          </a:p>
        </p:txBody>
      </p:sp>
      <p:sp>
        <p:nvSpPr>
          <p:cNvPr id="11" name="exigence2"/>
          <p:cNvSpPr/>
          <p:nvPr/>
        </p:nvSpPr>
        <p:spPr>
          <a:xfrm>
            <a:off x="4338218" y="1508760"/>
            <a:ext cx="3515258" cy="3108960"/>
          </a:xfrm>
          <a:prstGeom prst="rect">
            <a:avLst/>
          </a:prstGeom>
          <a:solidFill>
            <a:schemeClr val="bg2"/>
          </a:solidFill>
          <a:ln w="12700">
            <a:solidFill>
              <a:schemeClr val="bg2"/>
            </a:solidFill>
            <a:prstDash val="solid"/>
          </a:ln>
        </p:spPr>
      </p:sp>
      <p:sp>
        <p:nvSpPr>
          <p:cNvPr id="12" name="Text 9"/>
          <p:cNvSpPr txBox="1"/>
          <p:nvPr/>
        </p:nvSpPr>
        <p:spPr>
          <a:xfrm>
            <a:off x="4521098" y="1645920"/>
            <a:ext cx="3149498" cy="2834640"/>
          </a:xfrm>
          <a:prstGeom prst="rect">
            <a:avLst/>
          </a:prstGeom>
          <a:noFill/>
          <a:ln/>
        </p:spPr>
        <p:txBody>
          <a:bodyPr wrap="square" lIns="0" tIns="0" rIns="0" bIns="0" rtlCol="0" anchor="t"/>
          <a:lstStyle/>
          <a:p>
            <a:pPr indent="0" marL="0">
              <a:spcAft>
                <a:spcPts val="600"/>
              </a:spcAft>
              <a:buNone/>
            </a:pPr>
            <a:endParaRPr lang="en-US" sz="1600" dirty="0"/>
          </a:p>
          <a:p>
            <a:pPr indent="0" marL="0">
              <a:buNone/>
            </a:pPr>
            <a:endParaRPr lang="en-US" sz="1600" dirty="0"/>
          </a:p>
        </p:txBody>
      </p:sp>
      <p:sp>
        <p:nvSpPr>
          <p:cNvPr id="13" name="pastille2"/>
          <p:cNvSpPr/>
          <p:nvPr/>
        </p:nvSpPr>
        <p:spPr>
          <a:xfrm>
            <a:off x="4566818" y="1737360"/>
            <a:ext cx="640080" cy="640080"/>
          </a:xfrm>
          <a:prstGeom prst="ellipse">
            <a:avLst/>
          </a:prstGeom>
          <a:solidFill>
            <a:schemeClr val="accent1"/>
          </a:solidFill>
          <a:ln w="12700">
            <a:solidFill>
              <a:schemeClr val="accent1"/>
            </a:solidFill>
            <a:prstDash val="solid"/>
          </a:ln>
        </p:spPr>
      </p:sp>
      <p:sp>
        <p:nvSpPr>
          <p:cNvPr id="14" name="Text 11"/>
          <p:cNvSpPr txBox="1"/>
          <p:nvPr/>
        </p:nvSpPr>
        <p:spPr>
          <a:xfrm>
            <a:off x="4566818" y="1737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5" name="Text 12"/>
          <p:cNvSpPr txBox="1"/>
          <p:nvPr/>
        </p:nvSpPr>
        <p:spPr>
          <a:xfrm>
            <a:off x="4566818" y="2560320"/>
            <a:ext cx="3058058" cy="457200"/>
          </a:xfrm>
          <a:prstGeom prst="rect">
            <a:avLst/>
          </a:prstGeom>
          <a:noFill/>
          <a:ln/>
        </p:spPr>
        <p:txBody>
          <a:bodyPr wrap="square" lIns="0" tIns="0" rIns="0" bIns="0" rtlCol="0" anchor="t"/>
          <a:lstStyle/>
          <a:p>
            <a:pPr indent="0" marL="0">
              <a:buNone/>
            </a:pPr>
            <a:r>
              <a:rPr lang="en-US" sz="2000" b="1" dirty="0">
                <a:solidFill>
                  <a:schemeClr val="accent1"/>
                </a:solidFill>
              </a:rPr>
              <a:t>Sans compensation</a:t>
            </a:r>
            <a:endParaRPr lang="en-US" sz="2000" dirty="0"/>
          </a:p>
        </p:txBody>
      </p:sp>
      <p:sp>
        <p:nvSpPr>
          <p:cNvPr id="16" name="Text 13"/>
          <p:cNvSpPr txBox="1"/>
          <p:nvPr/>
        </p:nvSpPr>
        <p:spPr>
          <a:xfrm>
            <a:off x="4566818" y="3108960"/>
            <a:ext cx="3058058" cy="1463040"/>
          </a:xfrm>
          <a:prstGeom prst="rect">
            <a:avLst/>
          </a:prstGeom>
          <a:noFill/>
          <a:ln/>
        </p:spPr>
        <p:txBody>
          <a:bodyPr wrap="square" lIns="0" tIns="0" rIns="0" bIns="0" rtlCol="0" anchor="t"/>
          <a:lstStyle/>
          <a:p>
            <a:pPr indent="0" marL="0">
              <a:buNone/>
            </a:pPr>
            <a:r>
              <a:rPr lang="en-US" sz="1500" dirty="0">
                <a:solidFill>
                  <a:schemeClr val="tx1"/>
                </a:solidFill>
              </a:rPr>
              <a:t>Un excellent sponsor ne rachète pas une dette mal couverte : des plafonds bornent la note quelle que soit la moyenne.</a:t>
            </a:r>
            <a:endParaRPr lang="en-US" sz="1500" dirty="0"/>
          </a:p>
        </p:txBody>
      </p:sp>
      <p:sp>
        <p:nvSpPr>
          <p:cNvPr id="17" name="exigence3"/>
          <p:cNvSpPr/>
          <p:nvPr/>
        </p:nvSpPr>
        <p:spPr>
          <a:xfrm>
            <a:off x="8219237" y="1508760"/>
            <a:ext cx="3515258" cy="3108960"/>
          </a:xfrm>
          <a:prstGeom prst="rect">
            <a:avLst/>
          </a:prstGeom>
          <a:solidFill>
            <a:schemeClr val="bg2"/>
          </a:solidFill>
          <a:ln w="12700">
            <a:solidFill>
              <a:schemeClr val="bg2"/>
            </a:solidFill>
            <a:prstDash val="solid"/>
          </a:ln>
        </p:spPr>
      </p:sp>
      <p:sp>
        <p:nvSpPr>
          <p:cNvPr id="18" name="Text 15"/>
          <p:cNvSpPr txBox="1"/>
          <p:nvPr/>
        </p:nvSpPr>
        <p:spPr>
          <a:xfrm>
            <a:off x="8402117" y="1645920"/>
            <a:ext cx="3149498" cy="2834640"/>
          </a:xfrm>
          <a:prstGeom prst="rect">
            <a:avLst/>
          </a:prstGeom>
          <a:noFill/>
          <a:ln/>
        </p:spPr>
        <p:txBody>
          <a:bodyPr wrap="square" lIns="0" tIns="0" rIns="0" bIns="0" rtlCol="0" anchor="t"/>
          <a:lstStyle/>
          <a:p>
            <a:pPr indent="0" marL="0">
              <a:spcAft>
                <a:spcPts val="600"/>
              </a:spcAft>
              <a:buNone/>
            </a:pPr>
            <a:endParaRPr lang="en-US" sz="1600" dirty="0"/>
          </a:p>
          <a:p>
            <a:pPr indent="0" marL="0">
              <a:buNone/>
            </a:pPr>
            <a:endParaRPr lang="en-US" sz="1600" dirty="0"/>
          </a:p>
        </p:txBody>
      </p:sp>
      <p:sp>
        <p:nvSpPr>
          <p:cNvPr id="19" name="pastille3"/>
          <p:cNvSpPr/>
          <p:nvPr/>
        </p:nvSpPr>
        <p:spPr>
          <a:xfrm>
            <a:off x="8447837" y="1737360"/>
            <a:ext cx="640080" cy="640080"/>
          </a:xfrm>
          <a:prstGeom prst="ellipse">
            <a:avLst/>
          </a:prstGeom>
          <a:solidFill>
            <a:schemeClr val="accent1"/>
          </a:solidFill>
          <a:ln w="12700">
            <a:solidFill>
              <a:schemeClr val="accent1"/>
            </a:solidFill>
            <a:prstDash val="solid"/>
          </a:ln>
        </p:spPr>
      </p:sp>
      <p:sp>
        <p:nvSpPr>
          <p:cNvPr id="20" name="Text 17"/>
          <p:cNvSpPr txBox="1"/>
          <p:nvPr/>
        </p:nvSpPr>
        <p:spPr>
          <a:xfrm>
            <a:off x="8447837" y="1737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1" name="Text 18"/>
          <p:cNvSpPr txBox="1"/>
          <p:nvPr/>
        </p:nvSpPr>
        <p:spPr>
          <a:xfrm>
            <a:off x="8447837" y="2560320"/>
            <a:ext cx="3058058" cy="457200"/>
          </a:xfrm>
          <a:prstGeom prst="rect">
            <a:avLst/>
          </a:prstGeom>
          <a:noFill/>
          <a:ln/>
        </p:spPr>
        <p:txBody>
          <a:bodyPr wrap="square" lIns="0" tIns="0" rIns="0" bIns="0" rtlCol="0" anchor="t"/>
          <a:lstStyle/>
          <a:p>
            <a:pPr indent="0" marL="0">
              <a:buNone/>
            </a:pPr>
            <a:r>
              <a:rPr lang="en-US" sz="2000" b="1" dirty="0">
                <a:solidFill>
                  <a:schemeClr val="accent1"/>
                </a:solidFill>
              </a:rPr>
              <a:t>Traçable</a:t>
            </a:r>
            <a:endParaRPr lang="en-US" sz="2000" dirty="0"/>
          </a:p>
        </p:txBody>
      </p:sp>
      <p:sp>
        <p:nvSpPr>
          <p:cNvPr id="22" name="Text 19"/>
          <p:cNvSpPr txBox="1"/>
          <p:nvPr/>
        </p:nvSpPr>
        <p:spPr>
          <a:xfrm>
            <a:off x="8447837" y="3108960"/>
            <a:ext cx="3058058" cy="1463040"/>
          </a:xfrm>
          <a:prstGeom prst="rect">
            <a:avLst/>
          </a:prstGeom>
          <a:noFill/>
          <a:ln/>
        </p:spPr>
        <p:txBody>
          <a:bodyPr wrap="square" lIns="0" tIns="0" rIns="0" bIns="0" rtlCol="0" anchor="t"/>
          <a:lstStyle/>
          <a:p>
            <a:pPr indent="0" marL="0">
              <a:buNone/>
            </a:pPr>
            <a:r>
              <a:rPr lang="en-US" sz="1500" dirty="0">
                <a:solidFill>
                  <a:schemeClr val="tx1"/>
                </a:solidFill>
              </a:rPr>
              <a:t>Chaque note vient d'une donnée ou d'une situation décrite, avec un commentaire ; chaque action est journalisée.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Six principes de conception</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Pourquoi ce modèle</a:t>
            </a:r>
            <a:endParaRPr lang="en-US" sz="1300" dirty="0"/>
          </a:p>
        </p:txBody>
      </p:sp>
      <p:graphicFrame>
        <p:nvGraphicFramePr>
          <p:cNvPr id="4"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457200"/>
                <a:gridCol w="5486400"/>
                <a:gridCol w="5330952"/>
              </a:tblGrid>
              <a:tr h="566928">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Principe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Pourquoi</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566928">
                <a:tc>
                  <a:txBody>
                    <a:bodyPr/>
                    <a:lstStyle/>
                    <a:p>
                      <a:pPr algn="ctr" indent="0" marL="0">
                        <a:buNone/>
                      </a:pPr>
                      <a:r>
                        <a:rPr lang="en-US" sz="1300" b="1" i="1" dirty="0">
                          <a:solidFill>
                            <a:schemeClr val="bg1"/>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Le régime de revenus pilote les seuils financiers ; le secteur ne fait que les moduler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Une centrale sous contrat ferme et un hôtel exposé au marché ne peuvent pas avoir le même seuil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ctr" indent="0" marL="0">
                        <a:buNone/>
                      </a:pPr>
                      <a:r>
                        <a:rPr lang="en-US" sz="1300" b="1" i="1" dirty="0">
                          <a:solidFill>
                            <a:schemeClr val="bg1"/>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Rien de vital n'est compensable : verrous, blocages et plafonds priment sur la moyenne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Un noyau financier à 2 sur 10 ne doit pas laisser une note proche de 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ctr" indent="0" marL="0">
                        <a:buNone/>
                      </a:pPr>
                      <a:r>
                        <a:rPr lang="en-US" sz="1300" b="1" i="1" dirty="0">
                          <a:solidFill>
                            <a:schemeClr val="bg1"/>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Le noyau financier est calculé, jamais saisi ; toute modification experte est une dérogation tracée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Un même projet ne doit pas produire deux résultats selon l'analyste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ctr" indent="0" marL="0">
                        <a:buNone/>
                      </a:pPr>
                      <a:r>
                        <a:rPr lang="en-US" sz="1300" b="1" i="1" dirty="0">
                          <a:solidFill>
                            <a:schemeClr val="bg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La grille dépend de la phase : construction, montée en charge, exploitation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Un risque de construction devenu sans objet ne doit pas améliorer la 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ctr" indent="0" marL="0">
                        <a:buNone/>
                      </a:pPr>
                      <a:r>
                        <a:rPr lang="en-US" sz="1300" b="1" i="1" dirty="0">
                          <a:solidFill>
                            <a:schemeClr val="bg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La profondeur dépend de la taille et de la complexité ; les contrôles durs ne s'allègent jamais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75 critères sur un dossier de 60 MMAD coûtent sans discriminer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ctr" indent="0" marL="0">
                        <a:buNone/>
                      </a:pPr>
                      <a:r>
                        <a:rPr lang="en-US" sz="1300" b="1" i="1" dirty="0">
                          <a:solidFill>
                            <a:schemeClr val="bg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Le Maroc est un module transversal, pas un domaine de plus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Un domaine séparé serait dilué par la moyenne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Architecture : du routage à la note approuvée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Pourquoi ce modèle</a:t>
            </a:r>
            <a:endParaRPr lang="en-US" sz="1300" dirty="0"/>
          </a:p>
        </p:txBody>
      </p:sp>
      <p:sp>
        <p:nvSpPr>
          <p:cNvPr id="5" name="etape1"/>
          <p:cNvSpPr/>
          <p:nvPr/>
        </p:nvSpPr>
        <p:spPr>
          <a:xfrm>
            <a:off x="457200" y="1417320"/>
            <a:ext cx="2510714" cy="1417320"/>
          </a:xfrm>
          <a:prstGeom prst="rect">
            <a:avLst/>
          </a:prstGeom>
          <a:solidFill>
            <a:schemeClr val="bg2"/>
          </a:solidFill>
          <a:ln w="12700">
            <a:solidFill>
              <a:schemeClr val="bg2"/>
            </a:solidFill>
            <a:prstDash val="solid"/>
          </a:ln>
        </p:spPr>
      </p:sp>
      <p:sp>
        <p:nvSpPr>
          <p:cNvPr id="6" name="Text 3"/>
          <p:cNvSpPr txBox="1"/>
          <p:nvPr/>
        </p:nvSpPr>
        <p:spPr>
          <a:xfrm>
            <a:off x="640080" y="1554480"/>
            <a:ext cx="2144954" cy="11430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Routage</a:t>
            </a:r>
            <a:endParaRPr lang="en-US" sz="1600" dirty="0"/>
          </a:p>
          <a:p>
            <a:pPr indent="0" marL="0">
              <a:buNone/>
            </a:pPr>
            <a:r>
              <a:rPr lang="en-US" sz="1400" dirty="0">
                <a:solidFill>
                  <a:schemeClr val="tx1"/>
                </a:solidFill>
              </a:rPr>
              <a:t>5 axes : famille, phase, régime, secteur, taille</a:t>
            </a:r>
            <a:endParaRPr lang="en-US" sz="1600" dirty="0"/>
          </a:p>
        </p:txBody>
      </p:sp>
      <p:sp>
        <p:nvSpPr>
          <p:cNvPr id="7" name="f0"/>
          <p:cNvSpPr/>
          <p:nvPr/>
        </p:nvSpPr>
        <p:spPr>
          <a:xfrm>
            <a:off x="3041066" y="1984248"/>
            <a:ext cx="274320" cy="274320"/>
          </a:xfrm>
          <a:prstGeom prst="rightArrow">
            <a:avLst/>
          </a:prstGeom>
          <a:solidFill>
            <a:schemeClr val="accent1"/>
          </a:solidFill>
          <a:ln w="12700">
            <a:solidFill>
              <a:schemeClr val="accent1"/>
            </a:solidFill>
            <a:prstDash val="solid"/>
          </a:ln>
        </p:spPr>
      </p:sp>
      <p:sp>
        <p:nvSpPr>
          <p:cNvPr id="8" name="etape2"/>
          <p:cNvSpPr/>
          <p:nvPr/>
        </p:nvSpPr>
        <p:spPr>
          <a:xfrm>
            <a:off x="3379394" y="1417320"/>
            <a:ext cx="2510714" cy="1417320"/>
          </a:xfrm>
          <a:prstGeom prst="rect">
            <a:avLst/>
          </a:prstGeom>
          <a:solidFill>
            <a:schemeClr val="bg2"/>
          </a:solidFill>
          <a:ln w="12700">
            <a:solidFill>
              <a:schemeClr val="bg2"/>
            </a:solidFill>
            <a:prstDash val="solid"/>
          </a:ln>
        </p:spPr>
      </p:sp>
      <p:sp>
        <p:nvSpPr>
          <p:cNvPr id="9" name="Text 6"/>
          <p:cNvSpPr txBox="1"/>
          <p:nvPr/>
        </p:nvSpPr>
        <p:spPr>
          <a:xfrm>
            <a:off x="3562274" y="1554480"/>
            <a:ext cx="2144954" cy="11430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Régime d'instruction</a:t>
            </a:r>
            <a:endParaRPr lang="en-US" sz="1600" dirty="0"/>
          </a:p>
          <a:p>
            <a:pPr indent="0" marL="0">
              <a:buNone/>
            </a:pPr>
            <a:r>
              <a:rPr lang="en-US" sz="1400" dirty="0">
                <a:solidFill>
                  <a:schemeClr val="tx1"/>
                </a:solidFill>
              </a:rPr>
              <a:t>S, M ou L, calculé</a:t>
            </a:r>
            <a:endParaRPr lang="en-US" sz="1600" dirty="0"/>
          </a:p>
        </p:txBody>
      </p:sp>
      <p:sp>
        <p:nvSpPr>
          <p:cNvPr id="10" name="f1"/>
          <p:cNvSpPr/>
          <p:nvPr/>
        </p:nvSpPr>
        <p:spPr>
          <a:xfrm>
            <a:off x="5963260" y="1984248"/>
            <a:ext cx="274320" cy="274320"/>
          </a:xfrm>
          <a:prstGeom prst="rightArrow">
            <a:avLst/>
          </a:prstGeom>
          <a:solidFill>
            <a:schemeClr val="accent1"/>
          </a:solidFill>
          <a:ln w="12700">
            <a:solidFill>
              <a:schemeClr val="accent1"/>
            </a:solidFill>
            <a:prstDash val="solid"/>
          </a:ln>
        </p:spPr>
      </p:sp>
      <p:sp>
        <p:nvSpPr>
          <p:cNvPr id="11" name="etape3"/>
          <p:cNvSpPr/>
          <p:nvPr/>
        </p:nvSpPr>
        <p:spPr>
          <a:xfrm>
            <a:off x="6301588" y="1417320"/>
            <a:ext cx="2510714" cy="1417320"/>
          </a:xfrm>
          <a:prstGeom prst="rect">
            <a:avLst/>
          </a:prstGeom>
          <a:solidFill>
            <a:schemeClr val="bg2"/>
          </a:solidFill>
          <a:ln w="12700">
            <a:solidFill>
              <a:schemeClr val="bg2"/>
            </a:solidFill>
            <a:prstDash val="solid"/>
          </a:ln>
        </p:spPr>
      </p:sp>
      <p:sp>
        <p:nvSpPr>
          <p:cNvPr id="12" name="Text 9"/>
          <p:cNvSpPr txBox="1"/>
          <p:nvPr/>
        </p:nvSpPr>
        <p:spPr>
          <a:xfrm>
            <a:off x="6484468" y="1554480"/>
            <a:ext cx="2144954" cy="11430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Verrous X et B</a:t>
            </a:r>
            <a:endParaRPr lang="en-US" sz="1600" dirty="0"/>
          </a:p>
          <a:p>
            <a:pPr indent="0" marL="0">
              <a:buNone/>
            </a:pPr>
            <a:r>
              <a:rPr lang="en-US" sz="1400" dirty="0">
                <a:solidFill>
                  <a:schemeClr val="tx1"/>
                </a:solidFill>
              </a:rPr>
              <a:t>Exclusion : aucune note. Blocage : note provisoire</a:t>
            </a:r>
            <a:endParaRPr lang="en-US" sz="1600" dirty="0"/>
          </a:p>
        </p:txBody>
      </p:sp>
      <p:sp>
        <p:nvSpPr>
          <p:cNvPr id="13" name="f2"/>
          <p:cNvSpPr/>
          <p:nvPr/>
        </p:nvSpPr>
        <p:spPr>
          <a:xfrm>
            <a:off x="8885453" y="1984248"/>
            <a:ext cx="274320" cy="274320"/>
          </a:xfrm>
          <a:prstGeom prst="rightArrow">
            <a:avLst/>
          </a:prstGeom>
          <a:solidFill>
            <a:schemeClr val="accent1"/>
          </a:solidFill>
          <a:ln w="12700">
            <a:solidFill>
              <a:schemeClr val="accent1"/>
            </a:solidFill>
            <a:prstDash val="solid"/>
          </a:ln>
        </p:spPr>
      </p:sp>
      <p:sp>
        <p:nvSpPr>
          <p:cNvPr id="14" name="etape4"/>
          <p:cNvSpPr/>
          <p:nvPr/>
        </p:nvSpPr>
        <p:spPr>
          <a:xfrm>
            <a:off x="9223781" y="1417320"/>
            <a:ext cx="2510714" cy="1417320"/>
          </a:xfrm>
          <a:prstGeom prst="rect">
            <a:avLst/>
          </a:prstGeom>
          <a:solidFill>
            <a:schemeClr val="bg2"/>
          </a:solidFill>
          <a:ln w="12700">
            <a:solidFill>
              <a:schemeClr val="bg2"/>
            </a:solidFill>
            <a:prstDash val="solid"/>
          </a:ln>
        </p:spPr>
      </p:sp>
      <p:sp>
        <p:nvSpPr>
          <p:cNvPr id="15" name="Text 12"/>
          <p:cNvSpPr txBox="1"/>
          <p:nvPr/>
        </p:nvSpPr>
        <p:spPr>
          <a:xfrm>
            <a:off x="9406661" y="1554480"/>
            <a:ext cx="2144954" cy="11430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Score sur 100</a:t>
            </a:r>
            <a:endParaRPr lang="en-US" sz="1600" dirty="0"/>
          </a:p>
          <a:p>
            <a:pPr indent="0" marL="0">
              <a:buNone/>
            </a:pPr>
            <a:r>
              <a:rPr lang="en-US" sz="1400" dirty="0">
                <a:solidFill>
                  <a:schemeClr val="tx1"/>
                </a:solidFill>
              </a:rPr>
              <a:t>Noyau financier D7 + grille D1 à D9</a:t>
            </a:r>
            <a:endParaRPr lang="en-US" sz="1600" dirty="0"/>
          </a:p>
        </p:txBody>
      </p:sp>
      <p:sp>
        <p:nvSpPr>
          <p:cNvPr id="16" name="etapeb1"/>
          <p:cNvSpPr/>
          <p:nvPr/>
        </p:nvSpPr>
        <p:spPr>
          <a:xfrm>
            <a:off x="457200" y="3474720"/>
            <a:ext cx="3484778" cy="1188720"/>
          </a:xfrm>
          <a:prstGeom prst="rect">
            <a:avLst/>
          </a:prstGeom>
          <a:solidFill>
            <a:schemeClr val="bg2"/>
          </a:solidFill>
          <a:ln w="12700">
            <a:solidFill>
              <a:schemeClr val="bg2"/>
            </a:solidFill>
            <a:prstDash val="solid"/>
          </a:ln>
        </p:spPr>
      </p:sp>
      <p:sp>
        <p:nvSpPr>
          <p:cNvPr id="17" name="Text 14"/>
          <p:cNvSpPr txBox="1"/>
          <p:nvPr/>
        </p:nvSpPr>
        <p:spPr>
          <a:xfrm>
            <a:off x="640080" y="3611880"/>
            <a:ext cx="3119018" cy="9144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Plafonds C</a:t>
            </a:r>
            <a:endParaRPr lang="en-US" sz="1600" dirty="0"/>
          </a:p>
          <a:p>
            <a:pPr indent="0" marL="0">
              <a:buNone/>
            </a:pPr>
            <a:r>
              <a:rPr lang="en-US" sz="1400" dirty="0">
                <a:solidFill>
                  <a:schemeClr val="tx1"/>
                </a:solidFill>
              </a:rPr>
              <a:t>Note ≤ plafond le plus bas</a:t>
            </a:r>
            <a:endParaRPr lang="en-US" sz="1600" dirty="0"/>
          </a:p>
        </p:txBody>
      </p:sp>
      <p:sp>
        <p:nvSpPr>
          <p:cNvPr id="18" name="fb0"/>
          <p:cNvSpPr/>
          <p:nvPr/>
        </p:nvSpPr>
        <p:spPr>
          <a:xfrm>
            <a:off x="4015130" y="3931920"/>
            <a:ext cx="274320" cy="274320"/>
          </a:xfrm>
          <a:prstGeom prst="rightArrow">
            <a:avLst/>
          </a:prstGeom>
          <a:solidFill>
            <a:schemeClr val="accent1"/>
          </a:solidFill>
          <a:ln w="12700">
            <a:solidFill>
              <a:schemeClr val="accent1"/>
            </a:solidFill>
            <a:prstDash val="solid"/>
          </a:ln>
        </p:spPr>
      </p:sp>
      <p:sp>
        <p:nvSpPr>
          <p:cNvPr id="19" name="etapeb2"/>
          <p:cNvSpPr/>
          <p:nvPr/>
        </p:nvSpPr>
        <p:spPr>
          <a:xfrm>
            <a:off x="4353458" y="3474720"/>
            <a:ext cx="3484778" cy="1188720"/>
          </a:xfrm>
          <a:prstGeom prst="rect">
            <a:avLst/>
          </a:prstGeom>
          <a:solidFill>
            <a:schemeClr val="bg2"/>
          </a:solidFill>
          <a:ln w="12700">
            <a:solidFill>
              <a:schemeClr val="bg2"/>
            </a:solidFill>
            <a:prstDash val="solid"/>
          </a:ln>
        </p:spPr>
      </p:sp>
      <p:sp>
        <p:nvSpPr>
          <p:cNvPr id="20" name="Text 17"/>
          <p:cNvSpPr txBox="1"/>
          <p:nvPr/>
        </p:nvSpPr>
        <p:spPr>
          <a:xfrm>
            <a:off x="4536338" y="3611880"/>
            <a:ext cx="3119018" cy="9144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Conditions K</a:t>
            </a:r>
            <a:endParaRPr lang="en-US" sz="1600" dirty="0"/>
          </a:p>
          <a:p>
            <a:pPr indent="0" marL="0">
              <a:buNone/>
            </a:pPr>
            <a:r>
              <a:rPr lang="en-US" sz="1400" dirty="0">
                <a:solidFill>
                  <a:schemeClr val="tx1"/>
                </a:solidFill>
              </a:rPr>
              <a:t>Note produite, conditions datées</a:t>
            </a:r>
            <a:endParaRPr lang="en-US" sz="1600" dirty="0"/>
          </a:p>
        </p:txBody>
      </p:sp>
      <p:sp>
        <p:nvSpPr>
          <p:cNvPr id="21" name="fb1"/>
          <p:cNvSpPr/>
          <p:nvPr/>
        </p:nvSpPr>
        <p:spPr>
          <a:xfrm>
            <a:off x="7911389" y="3931920"/>
            <a:ext cx="274320" cy="274320"/>
          </a:xfrm>
          <a:prstGeom prst="rightArrow">
            <a:avLst/>
          </a:prstGeom>
          <a:solidFill>
            <a:schemeClr val="accent1"/>
          </a:solidFill>
          <a:ln w="12700">
            <a:solidFill>
              <a:schemeClr val="accent1"/>
            </a:solidFill>
            <a:prstDash val="solid"/>
          </a:ln>
        </p:spPr>
      </p:sp>
      <p:sp>
        <p:nvSpPr>
          <p:cNvPr id="22" name="etapeb3"/>
          <p:cNvSpPr/>
          <p:nvPr/>
        </p:nvSpPr>
        <p:spPr>
          <a:xfrm>
            <a:off x="8249717" y="3474720"/>
            <a:ext cx="3484778" cy="1188720"/>
          </a:xfrm>
          <a:prstGeom prst="rect">
            <a:avLst/>
          </a:prstGeom>
          <a:solidFill>
            <a:schemeClr val="accent1"/>
          </a:solidFill>
          <a:ln w="12700">
            <a:solidFill>
              <a:schemeClr val="accent1"/>
            </a:solidFill>
            <a:prstDash val="solid"/>
          </a:ln>
        </p:spPr>
      </p:sp>
      <p:sp>
        <p:nvSpPr>
          <p:cNvPr id="23" name="Text 20"/>
          <p:cNvSpPr txBox="1"/>
          <p:nvPr/>
        </p:nvSpPr>
        <p:spPr>
          <a:xfrm>
            <a:off x="8432597" y="3611880"/>
            <a:ext cx="3119018" cy="91440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Note approuvée</a:t>
            </a:r>
            <a:endParaRPr lang="en-US" sz="1600" dirty="0"/>
          </a:p>
          <a:p>
            <a:pPr indent="0" marL="0">
              <a:buNone/>
            </a:pPr>
            <a:r>
              <a:rPr lang="en-US" sz="1400" b="1" dirty="0">
                <a:solidFill>
                  <a:schemeClr val="bg1"/>
                </a:solidFill>
              </a:rPr>
              <a:t>min (note calculée ; plafonds)</a:t>
            </a:r>
            <a:endParaRPr lang="en-US" sz="1600" dirty="0"/>
          </a:p>
        </p:txBody>
      </p:sp>
      <p:sp>
        <p:nvSpPr>
          <p:cNvPr id="24" name="transversal"/>
          <p:cNvSpPr/>
          <p:nvPr/>
        </p:nvSpPr>
        <p:spPr>
          <a:xfrm>
            <a:off x="457200" y="4983480"/>
            <a:ext cx="11277295" cy="822960"/>
          </a:xfrm>
          <a:prstGeom prst="rect">
            <a:avLst/>
          </a:prstGeom>
          <a:solidFill>
            <a:schemeClr val="accent6"/>
          </a:solidFill>
          <a:ln w="12700">
            <a:solidFill>
              <a:schemeClr val="accent6"/>
            </a:solidFill>
            <a:prstDash val="solid"/>
          </a:ln>
        </p:spPr>
      </p:sp>
      <p:sp>
        <p:nvSpPr>
          <p:cNvPr id="25" name="Text 22"/>
          <p:cNvSpPr txBox="1"/>
          <p:nvPr/>
        </p:nvSpPr>
        <p:spPr>
          <a:xfrm>
            <a:off x="640080" y="5093208"/>
            <a:ext cx="10911535" cy="640080"/>
          </a:xfrm>
          <a:prstGeom prst="rect">
            <a:avLst/>
          </a:prstGeom>
          <a:noFill/>
          <a:ln/>
        </p:spPr>
        <p:txBody>
          <a:bodyPr wrap="square" lIns="0" tIns="0" rIns="0" bIns="0" rtlCol="0" anchor="t"/>
          <a:lstStyle/>
          <a:p>
            <a:pPr indent="0" marL="0">
              <a:buNone/>
            </a:pPr>
            <a:r>
              <a:rPr lang="en-US" sz="1400" b="1" dirty="0">
                <a:solidFill>
                  <a:schemeClr val="accent1"/>
                </a:solidFill>
              </a:rPr>
              <a:t>Transversaux : </a:t>
            </a:r>
            <a:pPr indent="0" marL="0">
              <a:buNone/>
            </a:pPr>
            <a:r>
              <a:rPr lang="en-US" sz="1400" dirty="0">
                <a:solidFill>
                  <a:schemeClr val="tx1"/>
                </a:solidFill>
              </a:rPr>
              <a:t>le module Maroc (foncier, acheteur public, change, classification BAM, consortium, climat, sûretés, concentrations) et les stress (bibliothèque de chocs, scénarios par régime, test inversé) alimentent les verrous, le noyau et les plafonds.</a:t>
            </a:r>
            <a:endParaRPr lang="en-US" sz="1400" dirty="0"/>
          </a:p>
        </p:txBody>
      </p:sp>
      <p:sp>
        <p:nvSpPr>
          <p:cNvPr id="26" name="Text 23"/>
          <p:cNvSpPr txBox="1"/>
          <p:nvPr/>
        </p:nvSpPr>
        <p:spPr>
          <a:xfrm>
            <a:off x="457200" y="5989320"/>
            <a:ext cx="11277295" cy="365760"/>
          </a:xfrm>
          <a:prstGeom prst="rect">
            <a:avLst/>
          </a:prstGeom>
          <a:noFill/>
          <a:ln/>
        </p:spPr>
        <p:txBody>
          <a:bodyPr wrap="square" lIns="0" tIns="0" rIns="0" bIns="0" rtlCol="0" anchor="t"/>
          <a:lstStyle/>
          <a:p>
            <a:pPr indent="0" marL="0">
              <a:buNone/>
            </a:pPr>
            <a:r>
              <a:rPr lang="en-US" sz="1400" b="1" dirty="0">
                <a:solidFill>
                  <a:schemeClr val="tx2"/>
                </a:solidFill>
              </a:rPr>
              <a:t>Ordre d'application déterministe : X, puis B, puis score, puis C, puis K.</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Aiguillage : la famille de financement</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Routage · axe A</a:t>
            </a:r>
            <a:endParaRPr lang="en-US" sz="1300" dirty="0"/>
          </a:p>
        </p:txBody>
      </p:sp>
      <p:sp>
        <p:nvSpPr>
          <p:cNvPr id="5" name="dossier"/>
          <p:cNvSpPr/>
          <p:nvPr/>
        </p:nvSpPr>
        <p:spPr>
          <a:xfrm>
            <a:off x="457200" y="1463040"/>
            <a:ext cx="2194560" cy="548640"/>
          </a:xfrm>
          <a:prstGeom prst="rect">
            <a:avLst/>
          </a:prstGeom>
          <a:solidFill>
            <a:schemeClr val="bg2"/>
          </a:solidFill>
          <a:ln w="9525">
            <a:solidFill>
              <a:srgbClr val="BFBFBF"/>
            </a:solidFill>
            <a:prstDash val="solid"/>
          </a:ln>
        </p:spPr>
      </p:sp>
      <p:sp>
        <p:nvSpPr>
          <p:cNvPr id="6" name="Text 3"/>
          <p:cNvSpPr txBox="1"/>
          <p:nvPr/>
        </p:nvSpPr>
        <p:spPr>
          <a:xfrm>
            <a:off x="457200" y="1463040"/>
            <a:ext cx="2194560" cy="548640"/>
          </a:xfrm>
          <a:prstGeom prst="rect">
            <a:avLst/>
          </a:prstGeom>
          <a:noFill/>
          <a:ln/>
        </p:spPr>
        <p:txBody>
          <a:bodyPr wrap="square" lIns="635" tIns="635" rIns="635" bIns="635" rtlCol="0" anchor="ctr"/>
          <a:lstStyle/>
          <a:p>
            <a:pPr algn="ctr" indent="0" marL="0">
              <a:buNone/>
            </a:pPr>
            <a:r>
              <a:rPr lang="en-US" sz="1300" b="1" dirty="0">
                <a:solidFill>
                  <a:schemeClr val="tx1"/>
                </a:solidFill>
              </a:rPr>
              <a:t>Dossier de financement</a:t>
            </a:r>
            <a:endParaRPr lang="en-US" sz="1300" dirty="0"/>
          </a:p>
        </p:txBody>
      </p:sp>
      <p:sp>
        <p:nvSpPr>
          <p:cNvPr id="7" name="t1"/>
          <p:cNvSpPr/>
          <p:nvPr/>
        </p:nvSpPr>
        <p:spPr>
          <a:xfrm>
            <a:off x="2651760" y="1737360"/>
            <a:ext cx="457200" cy="914"/>
          </a:xfrm>
          <a:prstGeom prst="line">
            <a:avLst/>
          </a:prstGeom>
          <a:noFill/>
          <a:ln w="15875">
            <a:solidFill>
              <a:schemeClr val="tx2"/>
            </a:solidFill>
            <a:prstDash val="solid"/>
            <a:tailEnd type="triangle"/>
          </a:ln>
        </p:spPr>
      </p:sp>
      <p:sp>
        <p:nvSpPr>
          <p:cNvPr id="8" name="q1"/>
          <p:cNvSpPr/>
          <p:nvPr/>
        </p:nvSpPr>
        <p:spPr>
          <a:xfrm>
            <a:off x="3108960" y="1417320"/>
            <a:ext cx="2651760" cy="640080"/>
          </a:xfrm>
          <a:prstGeom prst="rect">
            <a:avLst/>
          </a:prstGeom>
          <a:solidFill>
            <a:schemeClr val="bg2"/>
          </a:solidFill>
          <a:ln w="9525">
            <a:solidFill>
              <a:srgbClr val="BFBFBF"/>
            </a:solidFill>
            <a:prstDash val="solid"/>
          </a:ln>
        </p:spPr>
      </p:sp>
      <p:sp>
        <p:nvSpPr>
          <p:cNvPr id="9" name="Text 6"/>
          <p:cNvSpPr txBox="1"/>
          <p:nvPr/>
        </p:nvSpPr>
        <p:spPr>
          <a:xfrm>
            <a:off x="3108960" y="1417320"/>
            <a:ext cx="2651760" cy="640080"/>
          </a:xfrm>
          <a:prstGeom prst="rect">
            <a:avLst/>
          </a:prstGeom>
          <a:noFill/>
          <a:ln/>
        </p:spPr>
        <p:txBody>
          <a:bodyPr wrap="square" lIns="635" tIns="635" rIns="635" bIns="635" rtlCol="0" anchor="ctr"/>
          <a:lstStyle/>
          <a:p>
            <a:pPr algn="ctr" indent="0" marL="0">
              <a:buNone/>
            </a:pPr>
            <a:r>
              <a:rPr lang="en-US" sz="1300" b="1" dirty="0">
                <a:solidFill>
                  <a:schemeClr val="tx1"/>
                </a:solidFill>
              </a:rPr>
              <a:t>SPV dédiée et cantonnée ?</a:t>
            </a:r>
            <a:endParaRPr lang="en-US" sz="1300" dirty="0"/>
          </a:p>
        </p:txBody>
      </p:sp>
      <p:sp>
        <p:nvSpPr>
          <p:cNvPr id="10" name="t2"/>
          <p:cNvSpPr/>
          <p:nvPr/>
        </p:nvSpPr>
        <p:spPr>
          <a:xfrm>
            <a:off x="4297680" y="2057400"/>
            <a:ext cx="914" cy="548640"/>
          </a:xfrm>
          <a:prstGeom prst="line">
            <a:avLst/>
          </a:prstGeom>
          <a:noFill/>
          <a:ln w="15875">
            <a:solidFill>
              <a:schemeClr val="tx2"/>
            </a:solidFill>
            <a:prstDash val="solid"/>
            <a:tailEnd type="triangle"/>
          </a:ln>
        </p:spPr>
      </p:sp>
      <p:sp>
        <p:nvSpPr>
          <p:cNvPr id="11" name="Text 8"/>
          <p:cNvSpPr txBox="1"/>
          <p:nvPr/>
        </p:nvSpPr>
        <p:spPr>
          <a:xfrm>
            <a:off x="5897880" y="1417320"/>
            <a:ext cx="548640" cy="274320"/>
          </a:xfrm>
          <a:prstGeom prst="rect">
            <a:avLst/>
          </a:prstGeom>
          <a:noFill/>
          <a:ln/>
        </p:spPr>
        <p:txBody>
          <a:bodyPr wrap="square" lIns="0" tIns="0" rIns="0" bIns="0" rtlCol="0" anchor="t"/>
          <a:lstStyle/>
          <a:p>
            <a:pPr indent="0" marL="0">
              <a:buNone/>
            </a:pPr>
            <a:r>
              <a:rPr lang="en-US" sz="1200" i="1" dirty="0">
                <a:solidFill>
                  <a:schemeClr val="tx1"/>
                </a:solidFill>
              </a:rPr>
              <a:t>Non</a:t>
            </a:r>
            <a:endParaRPr lang="en-US" sz="1200" dirty="0"/>
          </a:p>
        </p:txBody>
      </p:sp>
      <p:sp>
        <p:nvSpPr>
          <p:cNvPr id="12" name="t3"/>
          <p:cNvSpPr/>
          <p:nvPr/>
        </p:nvSpPr>
        <p:spPr>
          <a:xfrm>
            <a:off x="5760720" y="1737360"/>
            <a:ext cx="640080" cy="914"/>
          </a:xfrm>
          <a:prstGeom prst="line">
            <a:avLst/>
          </a:prstGeom>
          <a:noFill/>
          <a:ln w="15875">
            <a:solidFill>
              <a:schemeClr val="tx2"/>
            </a:solidFill>
            <a:prstDash val="solid"/>
            <a:tailEnd type="triangle"/>
          </a:ln>
        </p:spPr>
      </p:sp>
      <p:sp>
        <p:nvSpPr>
          <p:cNvPr id="13" name="corp"/>
          <p:cNvSpPr/>
          <p:nvPr/>
        </p:nvSpPr>
        <p:spPr>
          <a:xfrm>
            <a:off x="6400800" y="1463040"/>
            <a:ext cx="1828800" cy="548640"/>
          </a:xfrm>
          <a:prstGeom prst="rect">
            <a:avLst/>
          </a:prstGeom>
          <a:solidFill>
            <a:schemeClr val="bg2"/>
          </a:solidFill>
          <a:ln w="9525">
            <a:solidFill>
              <a:srgbClr val="BFBFBF"/>
            </a:solidFill>
            <a:prstDash val="solid"/>
          </a:ln>
        </p:spPr>
      </p:sp>
      <p:sp>
        <p:nvSpPr>
          <p:cNvPr id="14" name="Text 11"/>
          <p:cNvSpPr txBox="1"/>
          <p:nvPr/>
        </p:nvSpPr>
        <p:spPr>
          <a:xfrm>
            <a:off x="6400800" y="1463040"/>
            <a:ext cx="1828800" cy="548640"/>
          </a:xfrm>
          <a:prstGeom prst="rect">
            <a:avLst/>
          </a:prstGeom>
          <a:noFill/>
          <a:ln/>
        </p:spPr>
        <p:txBody>
          <a:bodyPr wrap="square" lIns="635" tIns="635" rIns="635" bIns="635" rtlCol="0" anchor="ctr"/>
          <a:lstStyle/>
          <a:p>
            <a:pPr algn="ctr" indent="0" marL="0">
              <a:buNone/>
            </a:pPr>
            <a:r>
              <a:rPr lang="en-US" sz="1300" b="1" dirty="0">
                <a:solidFill>
                  <a:schemeClr val="tx1"/>
                </a:solidFill>
              </a:rPr>
              <a:t>CORP — hors PF</a:t>
            </a:r>
            <a:endParaRPr lang="en-US" sz="1300" dirty="0"/>
          </a:p>
        </p:txBody>
      </p:sp>
      <p:sp>
        <p:nvSpPr>
          <p:cNvPr id="15" name="Text 12"/>
          <p:cNvSpPr txBox="1"/>
          <p:nvPr/>
        </p:nvSpPr>
        <p:spPr>
          <a:xfrm>
            <a:off x="4389120" y="2148840"/>
            <a:ext cx="548640" cy="274320"/>
          </a:xfrm>
          <a:prstGeom prst="rect">
            <a:avLst/>
          </a:prstGeom>
          <a:noFill/>
          <a:ln/>
        </p:spPr>
        <p:txBody>
          <a:bodyPr wrap="square" lIns="0" tIns="0" rIns="0" bIns="0" rtlCol="0" anchor="t"/>
          <a:lstStyle/>
          <a:p>
            <a:pPr indent="0" marL="0">
              <a:buNone/>
            </a:pPr>
            <a:r>
              <a:rPr lang="en-US" sz="1200" i="1" dirty="0">
                <a:solidFill>
                  <a:schemeClr val="tx1"/>
                </a:solidFill>
              </a:rPr>
              <a:t>Oui</a:t>
            </a:r>
            <a:endParaRPr lang="en-US" sz="1200" dirty="0"/>
          </a:p>
        </p:txBody>
      </p:sp>
      <p:sp>
        <p:nvSpPr>
          <p:cNvPr id="16" name="q2"/>
          <p:cNvSpPr/>
          <p:nvPr/>
        </p:nvSpPr>
        <p:spPr>
          <a:xfrm>
            <a:off x="3108960" y="2606040"/>
            <a:ext cx="2651760" cy="640080"/>
          </a:xfrm>
          <a:prstGeom prst="rect">
            <a:avLst/>
          </a:prstGeom>
          <a:solidFill>
            <a:schemeClr val="bg2"/>
          </a:solidFill>
          <a:ln w="9525">
            <a:solidFill>
              <a:srgbClr val="BFBFBF"/>
            </a:solidFill>
            <a:prstDash val="solid"/>
          </a:ln>
        </p:spPr>
      </p:sp>
      <p:sp>
        <p:nvSpPr>
          <p:cNvPr id="17" name="Text 14"/>
          <p:cNvSpPr txBox="1"/>
          <p:nvPr/>
        </p:nvSpPr>
        <p:spPr>
          <a:xfrm>
            <a:off x="3108960" y="2606040"/>
            <a:ext cx="2651760" cy="640080"/>
          </a:xfrm>
          <a:prstGeom prst="rect">
            <a:avLst/>
          </a:prstGeom>
          <a:noFill/>
          <a:ln/>
        </p:spPr>
        <p:txBody>
          <a:bodyPr wrap="square" lIns="635" tIns="635" rIns="635" bIns="635" rtlCol="0" anchor="ctr"/>
          <a:lstStyle/>
          <a:p>
            <a:pPr algn="ctr" indent="0" marL="0">
              <a:buNone/>
            </a:pPr>
            <a:r>
              <a:rPr lang="en-US" sz="1300" b="1" dirty="0">
                <a:solidFill>
                  <a:schemeClr val="tx1"/>
                </a:solidFill>
              </a:rPr>
              <a:t>Source principale de remboursement ?</a:t>
            </a:r>
            <a:endParaRPr lang="en-US" sz="1300" dirty="0"/>
          </a:p>
        </p:txBody>
      </p:sp>
      <p:sp>
        <p:nvSpPr>
          <p:cNvPr id="18" name="v0"/>
          <p:cNvSpPr/>
          <p:nvPr/>
        </p:nvSpPr>
        <p:spPr>
          <a:xfrm>
            <a:off x="4434840" y="3246120"/>
            <a:ext cx="914" cy="640080"/>
          </a:xfrm>
          <a:prstGeom prst="line">
            <a:avLst/>
          </a:prstGeom>
          <a:noFill/>
          <a:ln w="15875">
            <a:solidFill>
              <a:schemeClr val="tx2"/>
            </a:solidFill>
            <a:prstDash val="solid"/>
            <a:tailEnd type="triangle"/>
          </a:ln>
        </p:spPr>
      </p:sp>
      <p:sp>
        <p:nvSpPr>
          <p:cNvPr id="19" name="h0"/>
          <p:cNvSpPr/>
          <p:nvPr/>
        </p:nvSpPr>
        <p:spPr>
          <a:xfrm>
            <a:off x="4434840" y="3886200"/>
            <a:ext cx="1965960" cy="914"/>
          </a:xfrm>
          <a:prstGeom prst="line">
            <a:avLst/>
          </a:prstGeom>
          <a:noFill/>
          <a:ln w="15875">
            <a:solidFill>
              <a:schemeClr val="tx2"/>
            </a:solidFill>
            <a:prstDash val="solid"/>
            <a:tailEnd type="triangle"/>
          </a:ln>
        </p:spPr>
      </p:sp>
      <p:sp>
        <p:nvSpPr>
          <p:cNvPr id="20" name="Text 17"/>
          <p:cNvSpPr txBox="1"/>
          <p:nvPr/>
        </p:nvSpPr>
        <p:spPr>
          <a:xfrm>
            <a:off x="4526280" y="3593592"/>
            <a:ext cx="1828800" cy="274320"/>
          </a:xfrm>
          <a:prstGeom prst="rect">
            <a:avLst/>
          </a:prstGeom>
          <a:noFill/>
          <a:ln/>
        </p:spPr>
        <p:txBody>
          <a:bodyPr wrap="square" lIns="0" tIns="0" rIns="0" bIns="0" rtlCol="0" anchor="t"/>
          <a:lstStyle/>
          <a:p>
            <a:pPr indent="0" marL="0">
              <a:buNone/>
            </a:pPr>
            <a:r>
              <a:rPr lang="en-US" sz="1100" i="1" dirty="0">
                <a:solidFill>
                  <a:schemeClr val="tx1"/>
                </a:solidFill>
              </a:rPr>
              <a:t>Flux opérationnels</a:t>
            </a:r>
            <a:endParaRPr lang="en-US" sz="1100" dirty="0"/>
          </a:p>
        </p:txBody>
      </p:sp>
      <p:sp>
        <p:nvSpPr>
          <p:cNvPr id="21" name="fin0"/>
          <p:cNvSpPr/>
          <p:nvPr/>
        </p:nvSpPr>
        <p:spPr>
          <a:xfrm>
            <a:off x="6400800" y="3611880"/>
            <a:ext cx="1828800" cy="548640"/>
          </a:xfrm>
          <a:prstGeom prst="rect">
            <a:avLst/>
          </a:prstGeom>
          <a:solidFill>
            <a:schemeClr val="accent1"/>
          </a:solidFill>
          <a:ln w="9525">
            <a:solidFill>
              <a:schemeClr val="accent1"/>
            </a:solidFill>
            <a:prstDash val="solid"/>
          </a:ln>
        </p:spPr>
      </p:sp>
      <p:sp>
        <p:nvSpPr>
          <p:cNvPr id="22" name="Text 19"/>
          <p:cNvSpPr txBox="1"/>
          <p:nvPr/>
        </p:nvSpPr>
        <p:spPr>
          <a:xfrm>
            <a:off x="6400800" y="3611880"/>
            <a:ext cx="1828800" cy="548640"/>
          </a:xfrm>
          <a:prstGeom prst="rect">
            <a:avLst/>
          </a:prstGeom>
          <a:noFill/>
          <a:ln/>
        </p:spPr>
        <p:txBody>
          <a:bodyPr wrap="square" lIns="635" tIns="635" rIns="635" bIns="635" rtlCol="0" anchor="ctr"/>
          <a:lstStyle/>
          <a:p>
            <a:pPr algn="ctr" indent="0" marL="0">
              <a:buNone/>
            </a:pPr>
            <a:r>
              <a:rPr lang="en-US" sz="1300" b="1" dirty="0">
                <a:solidFill>
                  <a:schemeClr val="bg1"/>
                </a:solidFill>
              </a:rPr>
              <a:t>PF-FLUX</a:t>
            </a:r>
            <a:endParaRPr lang="en-US" sz="1300" dirty="0"/>
          </a:p>
        </p:txBody>
      </p:sp>
      <p:sp>
        <p:nvSpPr>
          <p:cNvPr id="23" name="v1"/>
          <p:cNvSpPr/>
          <p:nvPr/>
        </p:nvSpPr>
        <p:spPr>
          <a:xfrm>
            <a:off x="4434840" y="3246120"/>
            <a:ext cx="914" cy="1417320"/>
          </a:xfrm>
          <a:prstGeom prst="line">
            <a:avLst/>
          </a:prstGeom>
          <a:noFill/>
          <a:ln w="15875">
            <a:solidFill>
              <a:schemeClr val="tx2"/>
            </a:solidFill>
            <a:prstDash val="solid"/>
            <a:tailEnd type="triangle"/>
          </a:ln>
        </p:spPr>
      </p:sp>
      <p:sp>
        <p:nvSpPr>
          <p:cNvPr id="24" name="h1"/>
          <p:cNvSpPr/>
          <p:nvPr/>
        </p:nvSpPr>
        <p:spPr>
          <a:xfrm>
            <a:off x="4434840" y="4663440"/>
            <a:ext cx="1965960" cy="914"/>
          </a:xfrm>
          <a:prstGeom prst="line">
            <a:avLst/>
          </a:prstGeom>
          <a:noFill/>
          <a:ln w="15875">
            <a:solidFill>
              <a:schemeClr val="tx2"/>
            </a:solidFill>
            <a:prstDash val="solid"/>
            <a:tailEnd type="triangle"/>
          </a:ln>
        </p:spPr>
      </p:sp>
      <p:sp>
        <p:nvSpPr>
          <p:cNvPr id="25" name="Text 22"/>
          <p:cNvSpPr txBox="1"/>
          <p:nvPr/>
        </p:nvSpPr>
        <p:spPr>
          <a:xfrm>
            <a:off x="4526280" y="4370832"/>
            <a:ext cx="1828800" cy="274320"/>
          </a:xfrm>
          <a:prstGeom prst="rect">
            <a:avLst/>
          </a:prstGeom>
          <a:noFill/>
          <a:ln/>
        </p:spPr>
        <p:txBody>
          <a:bodyPr wrap="square" lIns="0" tIns="0" rIns="0" bIns="0" rtlCol="0" anchor="t"/>
          <a:lstStyle/>
          <a:p>
            <a:pPr indent="0" marL="0">
              <a:buNone/>
            </a:pPr>
            <a:r>
              <a:rPr lang="en-US" sz="1100" i="1" dirty="0">
                <a:solidFill>
                  <a:schemeClr val="tx1"/>
                </a:solidFill>
              </a:rPr>
              <a:t>Loyers récurrents</a:t>
            </a:r>
            <a:endParaRPr lang="en-US" sz="1100" dirty="0"/>
          </a:p>
        </p:txBody>
      </p:sp>
      <p:sp>
        <p:nvSpPr>
          <p:cNvPr id="26" name="fin1"/>
          <p:cNvSpPr/>
          <p:nvPr/>
        </p:nvSpPr>
        <p:spPr>
          <a:xfrm>
            <a:off x="6400800" y="4389120"/>
            <a:ext cx="1828800" cy="548640"/>
          </a:xfrm>
          <a:prstGeom prst="rect">
            <a:avLst/>
          </a:prstGeom>
          <a:solidFill>
            <a:schemeClr val="bg2"/>
          </a:solidFill>
          <a:ln w="9525">
            <a:solidFill>
              <a:srgbClr val="BFBFBF"/>
            </a:solidFill>
            <a:prstDash val="solid"/>
          </a:ln>
        </p:spPr>
      </p:sp>
      <p:sp>
        <p:nvSpPr>
          <p:cNvPr id="27" name="Text 24"/>
          <p:cNvSpPr txBox="1"/>
          <p:nvPr/>
        </p:nvSpPr>
        <p:spPr>
          <a:xfrm>
            <a:off x="6400800" y="4389120"/>
            <a:ext cx="1828800" cy="548640"/>
          </a:xfrm>
          <a:prstGeom prst="rect">
            <a:avLst/>
          </a:prstGeom>
          <a:noFill/>
          <a:ln/>
        </p:spPr>
        <p:txBody>
          <a:bodyPr wrap="square" lIns="635" tIns="635" rIns="635" bIns="635" rtlCol="0" anchor="ctr"/>
          <a:lstStyle/>
          <a:p>
            <a:pPr algn="ctr" indent="0" marL="0">
              <a:buNone/>
            </a:pPr>
            <a:r>
              <a:rPr lang="en-US" sz="1300" b="1" dirty="0">
                <a:solidFill>
                  <a:schemeClr val="tx1"/>
                </a:solidFill>
              </a:rPr>
              <a:t>IMMO-REND</a:t>
            </a:r>
            <a:endParaRPr lang="en-US" sz="1300" dirty="0"/>
          </a:p>
        </p:txBody>
      </p:sp>
      <p:sp>
        <p:nvSpPr>
          <p:cNvPr id="28" name="v2"/>
          <p:cNvSpPr/>
          <p:nvPr/>
        </p:nvSpPr>
        <p:spPr>
          <a:xfrm>
            <a:off x="4434840" y="3246120"/>
            <a:ext cx="914" cy="2194560"/>
          </a:xfrm>
          <a:prstGeom prst="line">
            <a:avLst/>
          </a:prstGeom>
          <a:noFill/>
          <a:ln w="15875">
            <a:solidFill>
              <a:schemeClr val="tx2"/>
            </a:solidFill>
            <a:prstDash val="solid"/>
            <a:tailEnd type="triangle"/>
          </a:ln>
        </p:spPr>
      </p:sp>
      <p:sp>
        <p:nvSpPr>
          <p:cNvPr id="29" name="h2"/>
          <p:cNvSpPr/>
          <p:nvPr/>
        </p:nvSpPr>
        <p:spPr>
          <a:xfrm>
            <a:off x="4434840" y="5440680"/>
            <a:ext cx="1965960" cy="914"/>
          </a:xfrm>
          <a:prstGeom prst="line">
            <a:avLst/>
          </a:prstGeom>
          <a:noFill/>
          <a:ln w="15875">
            <a:solidFill>
              <a:schemeClr val="tx2"/>
            </a:solidFill>
            <a:prstDash val="solid"/>
            <a:tailEnd type="triangle"/>
          </a:ln>
        </p:spPr>
      </p:sp>
      <p:sp>
        <p:nvSpPr>
          <p:cNvPr id="30" name="Text 27"/>
          <p:cNvSpPr txBox="1"/>
          <p:nvPr/>
        </p:nvSpPr>
        <p:spPr>
          <a:xfrm>
            <a:off x="4526280" y="5148072"/>
            <a:ext cx="1828800" cy="274320"/>
          </a:xfrm>
          <a:prstGeom prst="rect">
            <a:avLst/>
          </a:prstGeom>
          <a:noFill/>
          <a:ln/>
        </p:spPr>
        <p:txBody>
          <a:bodyPr wrap="square" lIns="0" tIns="0" rIns="0" bIns="0" rtlCol="0" anchor="t"/>
          <a:lstStyle/>
          <a:p>
            <a:pPr indent="0" marL="0">
              <a:buNone/>
            </a:pPr>
            <a:r>
              <a:rPr lang="en-US" sz="1100" i="1" dirty="0">
                <a:solidFill>
                  <a:schemeClr val="tx1"/>
                </a:solidFill>
              </a:rPr>
              <a:t>Ventes de lots</a:t>
            </a:r>
            <a:endParaRPr lang="en-US" sz="1100" dirty="0"/>
          </a:p>
        </p:txBody>
      </p:sp>
      <p:sp>
        <p:nvSpPr>
          <p:cNvPr id="31" name="fin2"/>
          <p:cNvSpPr/>
          <p:nvPr/>
        </p:nvSpPr>
        <p:spPr>
          <a:xfrm>
            <a:off x="6400800" y="5166360"/>
            <a:ext cx="1828800" cy="548640"/>
          </a:xfrm>
          <a:prstGeom prst="rect">
            <a:avLst/>
          </a:prstGeom>
          <a:solidFill>
            <a:schemeClr val="bg2"/>
          </a:solidFill>
          <a:ln w="9525">
            <a:solidFill>
              <a:srgbClr val="BFBFBF"/>
            </a:solidFill>
            <a:prstDash val="solid"/>
          </a:ln>
        </p:spPr>
      </p:sp>
      <p:sp>
        <p:nvSpPr>
          <p:cNvPr id="32" name="Text 29"/>
          <p:cNvSpPr txBox="1"/>
          <p:nvPr/>
        </p:nvSpPr>
        <p:spPr>
          <a:xfrm>
            <a:off x="6400800" y="5166360"/>
            <a:ext cx="1828800" cy="548640"/>
          </a:xfrm>
          <a:prstGeom prst="rect">
            <a:avLst/>
          </a:prstGeom>
          <a:noFill/>
          <a:ln/>
        </p:spPr>
        <p:txBody>
          <a:bodyPr wrap="square" lIns="635" tIns="635" rIns="635" bIns="635" rtlCol="0" anchor="ctr"/>
          <a:lstStyle/>
          <a:p>
            <a:pPr algn="ctr" indent="0" marL="0">
              <a:buNone/>
            </a:pPr>
            <a:r>
              <a:rPr lang="en-US" sz="1300" b="1" dirty="0">
                <a:solidFill>
                  <a:schemeClr val="tx1"/>
                </a:solidFill>
              </a:rPr>
              <a:t>IMMO-PROM</a:t>
            </a:r>
            <a:endParaRPr lang="en-US" sz="1300" dirty="0"/>
          </a:p>
        </p:txBody>
      </p:sp>
      <p:sp>
        <p:nvSpPr>
          <p:cNvPr id="33" name="Text 30"/>
          <p:cNvSpPr txBox="1"/>
          <p:nvPr/>
        </p:nvSpPr>
        <p:spPr>
          <a:xfrm>
            <a:off x="457200" y="5989320"/>
            <a:ext cx="7772400" cy="274320"/>
          </a:xfrm>
          <a:prstGeom prst="rect">
            <a:avLst/>
          </a:prstGeom>
          <a:noFill/>
          <a:ln/>
        </p:spPr>
        <p:txBody>
          <a:bodyPr wrap="square" lIns="0" tIns="0" rIns="0" bIns="0" rtlCol="0" anchor="t"/>
          <a:lstStyle/>
          <a:p>
            <a:pPr indent="0" marL="0">
              <a:buNone/>
            </a:pPr>
            <a:r>
              <a:rPr lang="en-US" sz="1200" i="1" dirty="0">
                <a:solidFill>
                  <a:schemeClr val="tx2"/>
                </a:solidFill>
              </a:rPr>
              <a:t>PF-FLUX est ensuite routé par phase, régime de revenus, secteur et taille.</a:t>
            </a:r>
            <a:endParaRPr lang="en-US" sz="1200" dirty="0"/>
          </a:p>
        </p:txBody>
      </p:sp>
      <p:sp>
        <p:nvSpPr>
          <p:cNvPr id="34" name="conditions"/>
          <p:cNvSpPr/>
          <p:nvPr/>
        </p:nvSpPr>
        <p:spPr>
          <a:xfrm>
            <a:off x="8458200" y="1417320"/>
            <a:ext cx="3273552" cy="4572000"/>
          </a:xfrm>
          <a:prstGeom prst="rect">
            <a:avLst/>
          </a:prstGeom>
          <a:solidFill>
            <a:schemeClr val="bg2"/>
          </a:solidFill>
          <a:ln w="12700">
            <a:solidFill>
              <a:schemeClr val="bg2"/>
            </a:solidFill>
            <a:prstDash val="solid"/>
          </a:ln>
        </p:spPr>
      </p:sp>
      <p:sp>
        <p:nvSpPr>
          <p:cNvPr id="35" name="Text 32"/>
          <p:cNvSpPr txBox="1"/>
          <p:nvPr/>
        </p:nvSpPr>
        <p:spPr>
          <a:xfrm>
            <a:off x="8641080" y="1554480"/>
            <a:ext cx="2907792" cy="42976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Quatre conditions cumulatives pour PF-FLUX</a:t>
            </a:r>
            <a:endParaRPr lang="en-US" sz="1600" dirty="0"/>
          </a:p>
          <a:p>
            <a:pPr marL="342900" indent="-342900">
              <a:spcAft>
                <a:spcPts val="300"/>
              </a:spcAft>
              <a:buSzPct val="100000"/>
              <a:buChar char="▪"/>
            </a:pPr>
            <a:r>
              <a:rPr lang="en-US" sz="1300" dirty="0">
                <a:solidFill>
                  <a:schemeClr val="tx1"/>
                </a:solidFill>
              </a:rPr>
              <a:t>SPV dédiée, juridiquement cantonnée</a:t>
            </a:r>
            <a:endParaRPr lang="en-US" sz="1600" dirty="0"/>
          </a:p>
          <a:p>
            <a:pPr marL="342900" indent="-342900">
              <a:spcAft>
                <a:spcPts val="300"/>
              </a:spcAft>
              <a:buSzPct val="100000"/>
              <a:buChar char="▪"/>
            </a:pPr>
            <a:r>
              <a:rPr lang="en-US" sz="1300" dirty="0">
                <a:solidFill>
                  <a:schemeClr val="tx1"/>
                </a:solidFill>
              </a:rPr>
              <a:t>Service de la dette couvert à plus de 70 % par les flux du projet</a:t>
            </a:r>
            <a:endParaRPr lang="en-US" sz="1600" dirty="0"/>
          </a:p>
          <a:p>
            <a:pPr marL="342900" indent="-342900">
              <a:spcAft>
                <a:spcPts val="300"/>
              </a:spcAft>
              <a:buSzPct val="100000"/>
              <a:buChar char="▪"/>
            </a:pPr>
            <a:r>
              <a:rPr lang="en-US" sz="1300" dirty="0">
                <a:solidFill>
                  <a:schemeClr val="tx1"/>
                </a:solidFill>
              </a:rPr>
              <a:t>Recours limité ou nul au-delà des engagements contractuels</a:t>
            </a:r>
            <a:endParaRPr lang="en-US" sz="1600" dirty="0"/>
          </a:p>
          <a:p>
            <a:pPr marL="342900" indent="-342900">
              <a:spcAft>
                <a:spcPts val="300"/>
              </a:spcAft>
              <a:buSzPct val="100000"/>
              <a:buChar char="▪"/>
            </a:pPr>
            <a:r>
              <a:rPr lang="en-US" sz="1300" dirty="0">
                <a:solidFill>
                  <a:schemeClr val="tx1"/>
                </a:solidFill>
              </a:rPr>
              <a:t>Actif et contrats de revenus identifiables</a:t>
            </a:r>
            <a:endParaRPr lang="en-US" sz="1600" dirty="0"/>
          </a:p>
          <a:p>
            <a:pPr marL="342900" indent="-342900">
              <a:spcAft>
                <a:spcPts val="300"/>
              </a:spcAft>
              <a:buSzPct val="100000"/>
              <a:buChar char="▪"/>
            </a:pPr>
            <a:r>
              <a:rPr lang="en-US" sz="1300" dirty="0">
                <a:solidFill>
                  <a:schemeClr val="tx1"/>
                </a:solidFill>
              </a:rPr>
              <a:t>À défaut : IMMO-REND (couverture des loyers, vacance, baux, LTV), IMMO-PROM (coût à terminaison, préventes, LTC) ou CORP</a:t>
            </a:r>
            <a:endParaRPr lang="en-US" sz="1600" dirty="0"/>
          </a:p>
          <a:p>
            <a:pPr marL="342900" indent="-342900">
              <a:spcAft>
                <a:spcPts val="300"/>
              </a:spcAft>
              <a:buSzPct val="100000"/>
              <a:buChar char="▪"/>
            </a:pPr>
            <a:r>
              <a:rPr lang="en-US" sz="1300" dirty="0">
                <a:solidFill>
                  <a:schemeClr val="tx1"/>
                </a:solidFill>
              </a:rPr>
              <a:t>Financement hybride : source principale documentée et revue spécialisée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La phase du projet</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Routage · axe B</a:t>
            </a:r>
            <a:endParaRPr lang="en-US" sz="1300" dirty="0"/>
          </a:p>
        </p:txBody>
      </p:sp>
      <p:graphicFrame>
        <p:nvGraphicFramePr>
          <p:cNvPr id="7"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822960"/>
                <a:gridCol w="2194560"/>
                <a:gridCol w="3931920"/>
                <a:gridCol w="4325112"/>
              </a:tblGrid>
              <a:tr h="457200">
                <a:tc>
                  <a:txBody>
                    <a:bodyPr/>
                    <a:lstStyle/>
                    <a:p>
                      <a:pPr algn="l" indent="0" marL="0">
                        <a:buNone/>
                      </a:pPr>
                      <a:r>
                        <a:rPr lang="en-US" sz="1400" b="1" i="1" dirty="0">
                          <a:solidFill>
                            <a:schemeClr val="tx2"/>
                          </a:solidFill>
                          <a:latin typeface="Segoe UI" pitchFamily="34" charset="0"/>
                          <a:ea typeface="Segoe UI" pitchFamily="34" charset="-122"/>
                          <a:cs typeface="Segoe UI" pitchFamily="34" charset="-120"/>
                        </a:rPr>
                        <a:t>Code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Phase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Définition économique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Transition vers la phase suivante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57200">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P1</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Construction</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Achever n'est pas acquis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Réception et essais de performance documentés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P2</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Montée en charge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Réceptionné, sans historique représentatif</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12 à 24 mois d'exploitation conformes au plan</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P3</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Exploitation stabilisée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Historique représentatif disponible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effets"/>
          <p:cNvSpPr/>
          <p:nvPr/>
        </p:nvSpPr>
        <p:spPr>
          <a:xfrm>
            <a:off x="457200" y="3566160"/>
            <a:ext cx="5455768" cy="2011680"/>
          </a:xfrm>
          <a:prstGeom prst="rect">
            <a:avLst/>
          </a:prstGeom>
          <a:solidFill>
            <a:schemeClr val="bg2"/>
          </a:solidFill>
          <a:ln w="12700">
            <a:solidFill>
              <a:schemeClr val="bg2"/>
            </a:solidFill>
            <a:prstDash val="solid"/>
          </a:ln>
        </p:spPr>
      </p:sp>
      <p:sp>
        <p:nvSpPr>
          <p:cNvPr id="7" name="Text 3"/>
          <p:cNvSpPr txBox="1"/>
          <p:nvPr/>
        </p:nvSpPr>
        <p:spPr>
          <a:xfrm>
            <a:off x="640080" y="3703320"/>
            <a:ext cx="5090008" cy="17373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Ce que la phase change</a:t>
            </a:r>
            <a:endParaRPr lang="en-US" sz="1600" dirty="0"/>
          </a:p>
          <a:p>
            <a:pPr marL="342900" indent="-342900">
              <a:spcAft>
                <a:spcPts val="300"/>
              </a:spcAft>
              <a:buSzPct val="100000"/>
              <a:buChar char="▪"/>
            </a:pPr>
            <a:r>
              <a:rPr lang="en-US" sz="1400" dirty="0">
                <a:solidFill>
                  <a:schemeClr val="tx1"/>
                </a:solidFill>
              </a:rPr>
              <a:t>Poids des neuf domaines (construction 20 % en P1, 0 % en P3)</a:t>
            </a:r>
            <a:endParaRPr lang="en-US" sz="1600" dirty="0"/>
          </a:p>
          <a:p>
            <a:pPr marL="342900" indent="-342900">
              <a:spcAft>
                <a:spcPts val="300"/>
              </a:spcAft>
              <a:buSzPct val="100000"/>
              <a:buChar char="▪"/>
            </a:pPr>
            <a:r>
              <a:rPr lang="en-US" sz="1400" dirty="0">
                <a:solidFill>
                  <a:schemeClr val="tx1"/>
                </a:solidFill>
              </a:rPr>
              <a:t>Seuil DSCR : + 0,05 en montée en charge</a:t>
            </a:r>
            <a:endParaRPr lang="en-US" sz="1600" dirty="0"/>
          </a:p>
          <a:p>
            <a:pPr marL="342900" indent="-342900">
              <a:spcAft>
                <a:spcPts val="300"/>
              </a:spcAft>
              <a:buSzPct val="100000"/>
              <a:buChar char="▪"/>
            </a:pPr>
            <a:r>
              <a:rPr lang="en-US" sz="1400" dirty="0">
                <a:solidFill>
                  <a:schemeClr val="tx1"/>
                </a:solidFill>
              </a:rPr>
              <a:t>N3 : financement à terminaison en P1, LLCR ensuite</a:t>
            </a:r>
            <a:endParaRPr lang="en-US" sz="1600" dirty="0"/>
          </a:p>
          <a:p>
            <a:pPr marL="342900" indent="-342900">
              <a:spcAft>
                <a:spcPts val="300"/>
              </a:spcAft>
              <a:buSzPct val="100000"/>
              <a:buChar char="▪"/>
            </a:pPr>
            <a:r>
              <a:rPr lang="en-US" sz="1400" dirty="0">
                <a:solidFill>
                  <a:schemeClr val="tx1"/>
                </a:solidFill>
              </a:rPr>
              <a:t>Stress de retard et de surcoût en P1</a:t>
            </a:r>
            <a:endParaRPr lang="en-US" sz="1600" dirty="0"/>
          </a:p>
        </p:txBody>
      </p:sp>
      <p:sp>
        <p:nvSpPr>
          <p:cNvPr id="8" name="transition"/>
          <p:cNvSpPr/>
          <p:nvPr/>
        </p:nvSpPr>
        <p:spPr>
          <a:xfrm>
            <a:off x="6278728" y="3566160"/>
            <a:ext cx="5455768" cy="2011680"/>
          </a:xfrm>
          <a:prstGeom prst="rect">
            <a:avLst/>
          </a:prstGeom>
          <a:solidFill>
            <a:schemeClr val="bg2"/>
          </a:solidFill>
          <a:ln w="12700">
            <a:solidFill>
              <a:schemeClr val="bg2"/>
            </a:solidFill>
            <a:prstDash val="solid"/>
          </a:ln>
        </p:spPr>
      </p:sp>
      <p:sp>
        <p:nvSpPr>
          <p:cNvPr id="9" name="Text 5"/>
          <p:cNvSpPr txBox="1"/>
          <p:nvPr/>
        </p:nvSpPr>
        <p:spPr>
          <a:xfrm>
            <a:off x="6461608" y="3703320"/>
            <a:ext cx="5090008" cy="17373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Règle de transition</a:t>
            </a:r>
            <a:endParaRPr lang="en-US" sz="1600" dirty="0"/>
          </a:p>
          <a:p>
            <a:pPr marL="342900" indent="-342900">
              <a:spcAft>
                <a:spcPts val="300"/>
              </a:spcAft>
              <a:buSzPct val="100000"/>
              <a:buChar char="▪"/>
            </a:pPr>
            <a:r>
              <a:rPr lang="en-US" sz="1400" dirty="0">
                <a:solidFill>
                  <a:schemeClr val="tx1"/>
                </a:solidFill>
              </a:rPr>
              <a:t>Une date administrative ne déclenche pas la transition : la preuve est exigée et la transition approuvée</a:t>
            </a:r>
            <a:endParaRPr lang="en-US" sz="1600" dirty="0"/>
          </a:p>
          <a:p>
            <a:pPr marL="342900" indent="-342900">
              <a:spcAft>
                <a:spcPts val="300"/>
              </a:spcAft>
              <a:buSzPct val="100000"/>
              <a:buChar char="▪"/>
            </a:pPr>
            <a:r>
              <a:rPr lang="en-US" sz="1400" dirty="0">
                <a:solidFill>
                  <a:schemeClr val="tx1"/>
                </a:solidFill>
              </a:rPr>
              <a:t>À chaque passage, les deux grilles sont calculées et l'écart expliqué</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Le régime de revenus : qui porte le risque des recettes ?</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Routage · axe C · l'axe structurant</a:t>
            </a:r>
            <a:endParaRPr lang="en-US" sz="1300" dirty="0"/>
          </a:p>
        </p:txBody>
      </p:sp>
      <p:graphicFrame>
        <p:nvGraphicFramePr>
          <p:cNvPr id="8"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914400"/>
                <a:gridCol w="2834640"/>
                <a:gridCol w="3291840"/>
                <a:gridCol w="4233672"/>
              </a:tblGrid>
              <a:tr h="50292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Régime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Nature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Qui porte le risque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Exemples marocains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50292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Contrat ferme à quantité garantie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L'acheteur porte prix et volume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PPA éolien ou solaire take-or-pay, contrat d'eau en volume garanti</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0292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Paiement à la disponibilité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L'acheteur porte la demande, le projet la performance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Redevance de dessalement, équipement public payé à la disponibilité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0292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Contrat à risque de volume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Prix contractuel, volume exposé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Contrat industriel de transformation, concession portuaire à minimum partiel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0292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Exposition au marché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Le projet porte prix et volume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Péage à risque trafic, hôtellerie, mine sans offtake, centrale merchant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0292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Vente d'actifs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Remboursement par encaissements ponctuels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Promotion immobilière structurée (hors de cet outil)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mixte"/>
          <p:cNvSpPr/>
          <p:nvPr/>
        </p:nvSpPr>
        <p:spPr>
          <a:xfrm>
            <a:off x="457200" y="4663440"/>
            <a:ext cx="11277295" cy="1280160"/>
          </a:xfrm>
          <a:prstGeom prst="rect">
            <a:avLst/>
          </a:prstGeom>
          <a:solidFill>
            <a:schemeClr val="bg2"/>
          </a:solidFill>
          <a:ln w="12700">
            <a:solidFill>
              <a:schemeClr val="bg2"/>
            </a:solidFill>
            <a:prstDash val="solid"/>
          </a:ln>
        </p:spPr>
      </p:sp>
      <p:sp>
        <p:nvSpPr>
          <p:cNvPr id="7" name="Text 3"/>
          <p:cNvSpPr txBox="1"/>
          <p:nvPr/>
        </p:nvSpPr>
        <p:spPr>
          <a:xfrm>
            <a:off x="640080" y="4800600"/>
            <a:ext cx="10911535" cy="10058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Recettes mixtes</a:t>
            </a:r>
            <a:endParaRPr lang="en-US" sz="1600" dirty="0"/>
          </a:p>
          <a:p>
            <a:pPr indent="0" marL="0">
              <a:buNone/>
            </a:pPr>
            <a:r>
              <a:rPr lang="en-US" sz="1400" dirty="0">
                <a:solidFill>
                  <a:schemeClr val="tx1"/>
                </a:solidFill>
              </a:rPr>
              <a:t>Le dossier est classé sur le régime le moins protecteur représentant plus de 30 % des recettes de la période de pointe du service de la dette. La décomposition des recettes (fermes, indexées, conditionnelles, exposées) est obligatoire et alimente D4.</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Douze secteurs : un écart borné ajouté au seuil du régime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Routage · axe D</a:t>
            </a:r>
            <a:endParaRPr lang="en-US" sz="1300" dirty="0"/>
          </a:p>
        </p:txBody>
      </p:sp>
      <p:graphicFrame>
        <p:nvGraphicFramePr>
          <p:cNvPr id="9"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8778240" cy="914400"/>
        </p:xfrm>
        <a:graphic>
          <a:graphicData uri="http://schemas.openxmlformats.org/drawingml/2006/table">
            <a:tbl>
              <a:tblPr/>
              <a:tblGrid>
                <a:gridCol w="1188720"/>
                <a:gridCol w="2743200"/>
                <a:gridCol w="731520"/>
                <a:gridCol w="1371600"/>
                <a:gridCol w="914400"/>
                <a:gridCol w="914400"/>
                <a:gridCol w="914400"/>
              </a:tblGrid>
              <a:tr h="329184">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Code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Secteur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r" indent="0" marL="0">
                        <a:buNone/>
                      </a:pPr>
                      <a:r>
                        <a:rPr lang="en-US" sz="1300" b="1" i="1" dirty="0">
                          <a:solidFill>
                            <a:schemeClr val="tx2"/>
                          </a:solidFill>
                          <a:latin typeface="Segoe UI" pitchFamily="34" charset="0"/>
                          <a:ea typeface="Segoe UI" pitchFamily="34" charset="-122"/>
                          <a:cs typeface="Segoe UI" pitchFamily="34" charset="-120"/>
                        </a:rPr>
                        <a:t>Δ</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r" indent="0" marL="0">
                        <a:buNone/>
                      </a:pPr>
                      <a:r>
                        <a:rPr lang="en-US" sz="1300" b="1" i="1" dirty="0">
                          <a:solidFill>
                            <a:schemeClr val="tx2"/>
                          </a:solidFill>
                          <a:latin typeface="Segoe UI" pitchFamily="34" charset="0"/>
                          <a:ea typeface="Segoe UI" pitchFamily="34" charset="-122"/>
                          <a:cs typeface="Segoe UI" pitchFamily="34" charset="-120"/>
                        </a:rPr>
                        <a:t>Critique &lt; en R1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r" indent="0" marL="0">
                        <a:buNone/>
                      </a:pPr>
                      <a:r>
                        <a:rPr lang="en-US" sz="1300" b="1" i="1" dirty="0">
                          <a:solidFill>
                            <a:schemeClr val="tx2"/>
                          </a:solidFill>
                          <a:latin typeface="Segoe UI" pitchFamily="34" charset="0"/>
                          <a:ea typeface="Segoe UI" pitchFamily="34" charset="-122"/>
                          <a:cs typeface="Segoe UI" pitchFamily="34" charset="-120"/>
                        </a:rPr>
                        <a:t>R2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r" indent="0" marL="0">
                        <a:buNone/>
                      </a:pPr>
                      <a:r>
                        <a:rPr lang="en-US" sz="1300" b="1" i="1" dirty="0">
                          <a:solidFill>
                            <a:schemeClr val="tx2"/>
                          </a:solidFill>
                          <a:latin typeface="Segoe UI" pitchFamily="34" charset="0"/>
                          <a:ea typeface="Segoe UI" pitchFamily="34" charset="-122"/>
                          <a:cs typeface="Segoe UI" pitchFamily="34" charset="-120"/>
                        </a:rPr>
                        <a:t>R3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r" indent="0" marL="0">
                        <a:buNone/>
                      </a:pPr>
                      <a:r>
                        <a:rPr lang="en-US" sz="1300" b="1" i="1" dirty="0">
                          <a:solidFill>
                            <a:schemeClr val="tx2"/>
                          </a:solidFill>
                          <a:latin typeface="Segoe UI" pitchFamily="34" charset="0"/>
                          <a:ea typeface="Segoe UI" pitchFamily="34" charset="-122"/>
                          <a:cs typeface="Segoe UI" pitchFamily="34" charset="-120"/>
                        </a:rPr>
                        <a:t>R4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ENR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Énergies renouvelables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1,07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EAU</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Eau et dessalement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TEL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Télécom et data centers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TRA</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Transport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POR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Ports et logistique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SAN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Santé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ETH</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Thermique et gaz</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IMMO-REND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Immobilier de rendement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IND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Industrie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AGR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Agro-industrie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1,50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TOU</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Tourisme et hôtellerie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+0,20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1,55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MIN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Mines et extraction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+0,25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1,37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1,45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1,60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regles"/>
          <p:cNvSpPr/>
          <p:nvPr/>
        </p:nvSpPr>
        <p:spPr>
          <a:xfrm>
            <a:off x="9464040" y="1325880"/>
            <a:ext cx="2267712" cy="4297680"/>
          </a:xfrm>
          <a:prstGeom prst="rect">
            <a:avLst/>
          </a:prstGeom>
          <a:solidFill>
            <a:schemeClr val="bg2"/>
          </a:solidFill>
          <a:ln w="12700">
            <a:solidFill>
              <a:schemeClr val="bg2"/>
            </a:solidFill>
            <a:prstDash val="solid"/>
          </a:ln>
        </p:spPr>
      </p:sp>
      <p:sp>
        <p:nvSpPr>
          <p:cNvPr id="7" name="Text 3"/>
          <p:cNvSpPr txBox="1"/>
          <p:nvPr/>
        </p:nvSpPr>
        <p:spPr>
          <a:xfrm>
            <a:off x="9646920" y="1463040"/>
            <a:ext cx="1901952" cy="40233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Règles</a:t>
            </a:r>
            <a:endParaRPr lang="en-US" sz="1600" dirty="0"/>
          </a:p>
          <a:p>
            <a:pPr marL="342900" indent="-342900">
              <a:spcAft>
                <a:spcPts val="300"/>
              </a:spcAft>
              <a:buSzPct val="100000"/>
              <a:buChar char="▪"/>
            </a:pPr>
            <a:r>
              <a:rPr lang="en-US" sz="1300" dirty="0">
                <a:solidFill>
                  <a:schemeClr val="tx1"/>
                </a:solidFill>
              </a:rPr>
              <a:t>Secteur de l'actif et de ses recettes, jamais celui du client</a:t>
            </a:r>
            <a:endParaRPr lang="en-US" sz="1600" dirty="0"/>
          </a:p>
          <a:p>
            <a:pPr marL="342900" indent="-342900">
              <a:spcAft>
                <a:spcPts val="300"/>
              </a:spcAft>
              <a:buSzPct val="100000"/>
              <a:buChar char="▪"/>
            </a:pPr>
            <a:r>
              <a:rPr lang="en-US" sz="1300" dirty="0">
                <a:solidFill>
                  <a:schemeClr val="tx1"/>
                </a:solidFill>
              </a:rPr>
              <a:t>Seuil applicable = seuil du régime + Δ</a:t>
            </a:r>
            <a:endParaRPr lang="en-US" sz="1600" dirty="0"/>
          </a:p>
          <a:p>
            <a:pPr marL="342900" indent="-342900">
              <a:spcAft>
                <a:spcPts val="300"/>
              </a:spcAft>
              <a:buSzPct val="100000"/>
              <a:buChar char="▪"/>
            </a:pPr>
            <a:r>
              <a:rPr lang="en-US" sz="1300" dirty="0">
                <a:solidFill>
                  <a:schemeClr val="tx1"/>
                </a:solidFill>
              </a:rPr>
              <a:t>+ 0,05 en montée en charge (P2)</a:t>
            </a:r>
            <a:endParaRPr lang="en-US" sz="1600" dirty="0"/>
          </a:p>
          <a:p>
            <a:pPr marL="342900" indent="-342900">
              <a:spcAft>
                <a:spcPts val="300"/>
              </a:spcAft>
              <a:buSzPct val="100000"/>
              <a:buChar char="▪"/>
            </a:pPr>
            <a:r>
              <a:rPr lang="en-US" sz="1300" dirty="0">
                <a:solidFill>
                  <a:schemeClr val="tx1"/>
                </a:solidFill>
              </a:rPr>
              <a:t>Le secteur choisit aussi les données du bloc 4 et 4 descriptions sectorielles</a:t>
            </a:r>
            <a:endParaRPr lang="en-US" sz="1600" dirty="0"/>
          </a:p>
        </p:txBody>
      </p:sp>
      <p:sp>
        <p:nvSpPr>
          <p:cNvPr id="8" name="Text 4"/>
          <p:cNvSpPr txBox="1"/>
          <p:nvPr/>
        </p:nvSpPr>
        <p:spPr>
          <a:xfrm>
            <a:off x="457200" y="6080760"/>
            <a:ext cx="8778240" cy="274320"/>
          </a:xfrm>
          <a:prstGeom prst="rect">
            <a:avLst/>
          </a:prstGeom>
          <a:noFill/>
          <a:ln/>
        </p:spPr>
        <p:txBody>
          <a:bodyPr wrap="square" lIns="0" tIns="0" rIns="0" bIns="0" rtlCol="0" anchor="t"/>
          <a:lstStyle/>
          <a:p>
            <a:pPr indent="0" marL="0">
              <a:buNone/>
            </a:pPr>
            <a:r>
              <a:rPr lang="en-US" sz="1100" i="1" dirty="0">
                <a:solidFill>
                  <a:schemeClr val="accent5"/>
                </a:solidFill>
              </a:rPr>
              <a:t>Seuils critiques en phase d'exploitation ; ajouter 0,05 en montée en charge.</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Barème DSCR par régime de revenus</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Noyau financier · barème</a:t>
            </a:r>
            <a:endParaRPr lang="en-US" sz="1300" dirty="0"/>
          </a:p>
        </p:txBody>
      </p:sp>
      <p:graphicFrame>
        <p:nvGraphicFramePr>
          <p:cNvPr id="10"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8595360" cy="914400"/>
        </p:xfrm>
        <a:graphic>
          <a:graphicData uri="http://schemas.openxmlformats.org/drawingml/2006/table">
            <a:tbl>
              <a:tblPr/>
              <a:tblGrid>
                <a:gridCol w="2377440"/>
                <a:gridCol w="1554480"/>
                <a:gridCol w="1554480"/>
                <a:gridCol w="1554480"/>
                <a:gridCol w="1554480"/>
              </a:tblGrid>
              <a:tr h="384048">
                <a:tc>
                  <a:txBody>
                    <a:bodyPr/>
                    <a:lstStyle/>
                    <a:p>
                      <a:pPr algn="l" indent="0" marL="0">
                        <a:buNone/>
                      </a:pPr>
                      <a:r>
                        <a:rPr lang="en-US" sz="1400" b="1" i="1" dirty="0">
                          <a:solidFill>
                            <a:schemeClr val="tx2"/>
                          </a:solidFill>
                          <a:latin typeface="Segoe UI" pitchFamily="34" charset="0"/>
                          <a:ea typeface="Segoe UI" pitchFamily="34" charset="-122"/>
                          <a:cs typeface="Segoe UI" pitchFamily="34" charset="-120"/>
                        </a:rPr>
                        <a:t>Régime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Critique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Vigilance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Favorable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Très favorable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84048">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R1 Contrat ferme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&lt; 1,10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[1,10 ; 1,20[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[1,20 ; 1,30[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 1,30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R2 Disponibilité</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&lt; 1,12</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[1,12 ; 1,22[</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[1,22 ; 1,32[</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 1,32</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R3 Risque de volume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&lt; 1,20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[1,20 ; 1,35[</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[1,35 ; 1,50[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 1,50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R4 Marché</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&lt; 1,35</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[1,35 ; 1,55[</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[1,55 ; 1,80[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 1,80</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R5 Vente d'actifs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Sans objet</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LTC, LTV</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encaissements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Segoe UI" pitchFamily="34" charset="0"/>
                          <a:ea typeface="Segoe UI" pitchFamily="34" charset="-122"/>
                          <a:cs typeface="Segoe UI" pitchFamily="34" charset="-120"/>
                        </a:rPr>
                        <a:t>sécurisés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notes"/>
          <p:cNvSpPr/>
          <p:nvPr/>
        </p:nvSpPr>
        <p:spPr>
          <a:xfrm>
            <a:off x="9235440" y="1325880"/>
            <a:ext cx="2496312" cy="2377440"/>
          </a:xfrm>
          <a:prstGeom prst="rect">
            <a:avLst/>
          </a:prstGeom>
          <a:solidFill>
            <a:schemeClr val="bg2"/>
          </a:solidFill>
          <a:ln w="12700">
            <a:solidFill>
              <a:schemeClr val="bg2"/>
            </a:solidFill>
            <a:prstDash val="solid"/>
          </a:ln>
        </p:spPr>
      </p:sp>
      <p:sp>
        <p:nvSpPr>
          <p:cNvPr id="7" name="Text 3"/>
          <p:cNvSpPr txBox="1"/>
          <p:nvPr/>
        </p:nvSpPr>
        <p:spPr>
          <a:xfrm>
            <a:off x="9418320" y="1463040"/>
            <a:ext cx="2130552" cy="210312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Notes associées</a:t>
            </a:r>
            <a:endParaRPr lang="en-US" sz="1600" dirty="0"/>
          </a:p>
          <a:p>
            <a:pPr marL="342900" indent="-342900">
              <a:spcAft>
                <a:spcPts val="300"/>
              </a:spcAft>
              <a:buSzPct val="100000"/>
              <a:buChar char="▪"/>
            </a:pPr>
            <a:r>
              <a:rPr lang="en-US" sz="1300" dirty="0">
                <a:solidFill>
                  <a:schemeClr val="tx1"/>
                </a:solidFill>
              </a:rPr>
              <a:t>Très favorable : 100</a:t>
            </a:r>
            <a:endParaRPr lang="en-US" sz="1600" dirty="0"/>
          </a:p>
          <a:p>
            <a:pPr marL="342900" indent="-342900">
              <a:spcAft>
                <a:spcPts val="300"/>
              </a:spcAft>
              <a:buSzPct val="100000"/>
              <a:buChar char="▪"/>
            </a:pPr>
            <a:r>
              <a:rPr lang="en-US" sz="1300" dirty="0">
                <a:solidFill>
                  <a:schemeClr val="tx1"/>
                </a:solidFill>
              </a:rPr>
              <a:t>Favorable : 80</a:t>
            </a:r>
            <a:endParaRPr lang="en-US" sz="1600" dirty="0"/>
          </a:p>
          <a:p>
            <a:pPr marL="342900" indent="-342900">
              <a:spcAft>
                <a:spcPts val="300"/>
              </a:spcAft>
              <a:buSzPct val="100000"/>
              <a:buChar char="▪"/>
            </a:pPr>
            <a:r>
              <a:rPr lang="en-US" sz="1300" dirty="0">
                <a:solidFill>
                  <a:schemeClr val="tx1"/>
                </a:solidFill>
              </a:rPr>
              <a:t>Vigilance : 50</a:t>
            </a:r>
            <a:endParaRPr lang="en-US" sz="1600" dirty="0"/>
          </a:p>
          <a:p>
            <a:pPr marL="342900" indent="-342900">
              <a:spcAft>
                <a:spcPts val="300"/>
              </a:spcAft>
              <a:buSzPct val="100000"/>
              <a:buChar char="▪"/>
            </a:pPr>
            <a:r>
              <a:rPr lang="en-US" sz="1300" dirty="0">
                <a:solidFill>
                  <a:schemeClr val="tx1"/>
                </a:solidFill>
              </a:rPr>
              <a:t>Critique : 20</a:t>
            </a:r>
            <a:endParaRPr lang="en-US" sz="1600" dirty="0"/>
          </a:p>
          <a:p>
            <a:pPr marL="342900" indent="-342900">
              <a:spcAft>
                <a:spcPts val="300"/>
              </a:spcAft>
              <a:buSzPct val="100000"/>
              <a:buChar char="▪"/>
            </a:pPr>
            <a:r>
              <a:rPr lang="en-US" sz="1300" dirty="0">
                <a:solidFill>
                  <a:schemeClr val="tx1"/>
                </a:solidFill>
              </a:rPr>
              <a:t>CFADS négatif : 20 d'office</a:t>
            </a:r>
            <a:endParaRPr lang="en-US" sz="1600" dirty="0"/>
          </a:p>
        </p:txBody>
      </p:sp>
      <p:sp>
        <p:nvSpPr>
          <p:cNvPr id="8" name="exemple"/>
          <p:cNvSpPr/>
          <p:nvPr/>
        </p:nvSpPr>
        <p:spPr>
          <a:xfrm>
            <a:off x="457200" y="4023360"/>
            <a:ext cx="5455768" cy="1783080"/>
          </a:xfrm>
          <a:prstGeom prst="rect">
            <a:avLst/>
          </a:prstGeom>
          <a:solidFill>
            <a:schemeClr val="bg2"/>
          </a:solidFill>
          <a:ln w="12700">
            <a:solidFill>
              <a:schemeClr val="bg2"/>
            </a:solidFill>
            <a:prstDash val="solid"/>
          </a:ln>
        </p:spPr>
      </p:sp>
      <p:sp>
        <p:nvSpPr>
          <p:cNvPr id="9" name="Text 5"/>
          <p:cNvSpPr txBox="1"/>
          <p:nvPr/>
        </p:nvSpPr>
        <p:spPr>
          <a:xfrm>
            <a:off x="640080" y="4160520"/>
            <a:ext cx="5090008" cy="15087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Exemple</a:t>
            </a:r>
            <a:endParaRPr lang="en-US" sz="1600" dirty="0"/>
          </a:p>
          <a:p>
            <a:pPr indent="0" marL="0">
              <a:buNone/>
            </a:pPr>
            <a:r>
              <a:rPr lang="en-US" sz="1400" dirty="0">
                <a:solidFill>
                  <a:schemeClr val="tx1"/>
                </a:solidFill>
              </a:rPr>
              <a:t>Hôtel (R4, tourisme Δ + 0,20) en montée en charge (+ 0,05) : seuil critique 1,35 + 0,20 + 0,05 = 1,60. Un DSCR de 1,06 sur le semestre creux est Critique.</a:t>
            </a:r>
            <a:endParaRPr lang="en-US" sz="1600" dirty="0"/>
          </a:p>
        </p:txBody>
      </p:sp>
      <p:sp>
        <p:nvSpPr>
          <p:cNvPr id="10" name="coherence"/>
          <p:cNvSpPr/>
          <p:nvPr/>
        </p:nvSpPr>
        <p:spPr>
          <a:xfrm>
            <a:off x="6278728" y="4023360"/>
            <a:ext cx="5455768" cy="1783080"/>
          </a:xfrm>
          <a:prstGeom prst="rect">
            <a:avLst/>
          </a:prstGeom>
          <a:solidFill>
            <a:schemeClr val="bg2"/>
          </a:solidFill>
          <a:ln w="12700">
            <a:solidFill>
              <a:schemeClr val="bg2"/>
            </a:solidFill>
            <a:prstDash val="solid"/>
          </a:ln>
        </p:spPr>
      </p:sp>
      <p:sp>
        <p:nvSpPr>
          <p:cNvPr id="11" name="Text 7"/>
          <p:cNvSpPr txBox="1"/>
          <p:nvPr/>
        </p:nvSpPr>
        <p:spPr>
          <a:xfrm>
            <a:off x="6461608" y="4160520"/>
            <a:ext cx="5090008" cy="15087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Contrôle de cohérence</a:t>
            </a:r>
            <a:endParaRPr lang="en-US" sz="1600" dirty="0"/>
          </a:p>
          <a:p>
            <a:pPr indent="0" marL="0">
              <a:buNone/>
            </a:pPr>
            <a:r>
              <a:rPr lang="en-US" sz="1400" dirty="0">
                <a:solidFill>
                  <a:schemeClr val="tx1"/>
                </a:solidFill>
              </a:rPr>
              <a:t>Solaire sous contrat ferme (R1 + ENR) : critique sous 1,05, très favorable dès 1,25. Autoroute à péage (R4 + TRA) : critique sous 1,40 ; équipement payé à la disponibilité (R2 + TRA) : sous 1,17.</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Données sectorielles à réunir pour chaque dossier</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Routage · bloc 4 de l'outil</a:t>
            </a:r>
            <a:endParaRPr lang="en-US" sz="1300" dirty="0"/>
          </a:p>
        </p:txBody>
      </p:sp>
      <p:graphicFrame>
        <p:nvGraphicFramePr>
          <p:cNvPr id="11"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1371600"/>
                <a:gridCol w="9902952"/>
              </a:tblGrid>
              <a:tr h="365760">
                <a:tc>
                  <a:txBody>
                    <a:bodyPr/>
                    <a:lstStyle/>
                    <a:p>
                      <a:pPr algn="l" indent="0" marL="0">
                        <a:buNone/>
                      </a:pPr>
                      <a:r>
                        <a:rPr lang="en-US" sz="1200" b="1" i="1" dirty="0">
                          <a:solidFill>
                            <a:schemeClr val="tx2"/>
                          </a:solidFill>
                          <a:latin typeface="Segoe UI" pitchFamily="34" charset="0"/>
                          <a:ea typeface="Segoe UI" pitchFamily="34" charset="-122"/>
                          <a:cs typeface="Segoe UI" pitchFamily="34" charset="-120"/>
                        </a:rPr>
                        <a:t>Secteur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Données propres affichées par l'outil (information, non calculées)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ENR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Puissance (MW) · productible P50 et P90 (GWh/an) · durée et prix du contrat d'achat · dégradation annuelle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EAU</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Capacité (m³/j) · consommation électrique garantie (kWh/m³) · part de la redevance de capacité · part de l'énergie répercutée · durée du contrat</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TEL</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Capacité (MW IT) · taux de commercialisation · durée moyenne des contrats · PUE · part du premier client</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TRA</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Trafic de référence · durée de montée en charge · péage ou disponibilité · garantie de trafic minimum · durée résiduelle de concession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POR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Capacité (EVP ou t/an) · taux d'utilisation · part du premier client · volumes minimaux garantis · durée de concession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SAN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Nombre de lits · paiement à la disponibilité ou à l'activité · durée du contrat · pénalités de performance maximales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ETH</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Puissance · rendement net · durée et volume garanti du contrat de combustible · répercussion du prix du combustible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IMMO-REND</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Surface locative · taux d'occupation · durée résiduelle des baux · rendement locatif · part du premier locataire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IND</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Capacité de production · taux d'utilisation · part sous contrat d'enlèvement · dépendance à une matière première importée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AGR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Sécurisation de l'eau · rendement de référence · approvisionnement amont et débouchés aval contractualisés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TOU</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Chambres · taux d'occupation · prix moyen · RevPAR · part des recettes en haute saison · contrat de gestion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MIN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Réserves prouvées et probables · norme de certification · durée de vie · coût de production / prix · part des ventes sous contrat</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Régime S, M ou L : calculé, jamais choisi</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Régime d'instruction · axe E taille et complexité</a:t>
            </a:r>
            <a:endParaRPr lang="en-US" sz="1300" dirty="0"/>
          </a:p>
        </p:txBody>
      </p:sp>
      <p:sp>
        <p:nvSpPr>
          <p:cNvPr id="5" name="S"/>
          <p:cNvSpPr/>
          <p:nvPr/>
        </p:nvSpPr>
        <p:spPr>
          <a:xfrm>
            <a:off x="457200" y="1325880"/>
            <a:ext cx="3576218" cy="4023360"/>
          </a:xfrm>
          <a:prstGeom prst="rect">
            <a:avLst/>
          </a:prstGeom>
          <a:solidFill>
            <a:schemeClr val="bg2"/>
          </a:solidFill>
          <a:ln w="12700">
            <a:solidFill>
              <a:schemeClr val="bg2"/>
            </a:solidFill>
            <a:prstDash val="solid"/>
          </a:ln>
        </p:spPr>
      </p:sp>
      <p:sp>
        <p:nvSpPr>
          <p:cNvPr id="6" name="Text 3"/>
          <p:cNvSpPr txBox="1"/>
          <p:nvPr/>
        </p:nvSpPr>
        <p:spPr>
          <a:xfrm>
            <a:off x="640080" y="1463040"/>
            <a:ext cx="3210458" cy="37490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S · Simplifié (toutes les conditions)</a:t>
            </a:r>
            <a:endParaRPr lang="en-US" sz="1600" dirty="0"/>
          </a:p>
          <a:p>
            <a:pPr marL="342900" indent="-342900">
              <a:spcAft>
                <a:spcPts val="300"/>
              </a:spcAft>
              <a:buSzPct val="100000"/>
              <a:buChar char="▪"/>
            </a:pPr>
            <a:r>
              <a:rPr lang="en-US" sz="1300" dirty="0">
                <a:solidFill>
                  <a:schemeClr val="tx1"/>
                </a:solidFill>
              </a:rPr>
              <a:t>CAPEX ≤ 200 MMAD</a:t>
            </a:r>
            <a:endParaRPr lang="en-US" sz="1600" dirty="0"/>
          </a:p>
          <a:p>
            <a:pPr marL="342900" indent="-342900">
              <a:spcAft>
                <a:spcPts val="300"/>
              </a:spcAft>
              <a:buSzPct val="100000"/>
              <a:buChar char="▪"/>
            </a:pPr>
            <a:r>
              <a:rPr lang="en-US" sz="1300" dirty="0">
                <a:solidFill>
                  <a:schemeClr val="tx1"/>
                </a:solidFill>
              </a:rPr>
              <a:t>Exposition de la banque ≤ 100 MMAD</a:t>
            </a:r>
            <a:endParaRPr lang="en-US" sz="1600" dirty="0"/>
          </a:p>
          <a:p>
            <a:pPr marL="342900" indent="-342900">
              <a:spcAft>
                <a:spcPts val="300"/>
              </a:spcAft>
              <a:buSzPct val="100000"/>
              <a:buChar char="▪"/>
            </a:pPr>
            <a:r>
              <a:rPr lang="en-US" sz="1300" dirty="0">
                <a:solidFill>
                  <a:schemeClr val="tx1"/>
                </a:solidFill>
              </a:rPr>
              <a:t>Régime de revenus R1 ou R2</a:t>
            </a:r>
            <a:endParaRPr lang="en-US" sz="1600" dirty="0"/>
          </a:p>
          <a:p>
            <a:pPr marL="342900" indent="-342900">
              <a:spcAft>
                <a:spcPts val="300"/>
              </a:spcAft>
              <a:buSzPct val="100000"/>
              <a:buChar char="▪"/>
            </a:pPr>
            <a:r>
              <a:rPr lang="en-US" sz="1300" dirty="0">
                <a:solidFill>
                  <a:schemeClr val="tx1"/>
                </a:solidFill>
              </a:rPr>
              <a:t>Technologie : ≥ 3 références industrielles de plus de 3 ans</a:t>
            </a:r>
            <a:endParaRPr lang="en-US" sz="1600" dirty="0"/>
          </a:p>
          <a:p>
            <a:pPr marL="342900" indent="-342900">
              <a:spcAft>
                <a:spcPts val="300"/>
              </a:spcAft>
              <a:buSzPct val="100000"/>
              <a:buChar char="▪"/>
            </a:pPr>
            <a:r>
              <a:rPr lang="en-US" sz="1300" dirty="0">
                <a:solidFill>
                  <a:schemeClr val="tx1"/>
                </a:solidFill>
              </a:rPr>
              <a:t>Recettes, coûts et dette en dirhams</a:t>
            </a:r>
            <a:endParaRPr lang="en-US" sz="1600" dirty="0"/>
          </a:p>
          <a:p>
            <a:pPr marL="342900" indent="-342900">
              <a:spcAft>
                <a:spcPts val="300"/>
              </a:spcAft>
              <a:buSzPct val="100000"/>
              <a:buChar char="▪"/>
            </a:pPr>
            <a:r>
              <a:rPr lang="en-US" sz="1300" dirty="0">
                <a:solidFill>
                  <a:schemeClr val="tx1"/>
                </a:solidFill>
              </a:rPr>
              <a:t>Durée ≤ 12 ans</a:t>
            </a:r>
            <a:endParaRPr lang="en-US" sz="1600" dirty="0"/>
          </a:p>
          <a:p>
            <a:pPr marL="342900" indent="-342900">
              <a:spcAft>
                <a:spcPts val="300"/>
              </a:spcAft>
              <a:buSzPct val="100000"/>
              <a:buChar char="▪"/>
            </a:pPr>
            <a:r>
              <a:rPr lang="en-US" sz="1300" dirty="0">
                <a:solidFill>
                  <a:schemeClr val="tx1"/>
                </a:solidFill>
              </a:rPr>
              <a:t>P2, P3, ou P1 sous EPC forfaitaire &lt; 18 mois</a:t>
            </a:r>
            <a:endParaRPr lang="en-US" sz="1600" dirty="0"/>
          </a:p>
          <a:p>
            <a:pPr marL="342900" indent="-342900">
              <a:spcAft>
                <a:spcPts val="300"/>
              </a:spcAft>
              <a:buSzPct val="100000"/>
              <a:buChar char="▪"/>
            </a:pPr>
            <a:r>
              <a:rPr lang="en-US" sz="1300" dirty="0">
                <a:solidFill>
                  <a:schemeClr val="tx1"/>
                </a:solidFill>
              </a:rPr>
              <a:t>Acheteur principal unique et identifié</a:t>
            </a:r>
            <a:endParaRPr lang="en-US" sz="1600" dirty="0"/>
          </a:p>
          <a:p>
            <a:pPr marL="342900" indent="-342900">
              <a:spcAft>
                <a:spcPts val="300"/>
              </a:spcAft>
              <a:buSzPct val="100000"/>
              <a:buChar char="▪"/>
            </a:pPr>
            <a:r>
              <a:rPr lang="en-US" sz="1300" dirty="0">
                <a:solidFill>
                  <a:schemeClr val="tx1"/>
                </a:solidFill>
              </a:rPr>
              <a:t>Aucun verrou actif</a:t>
            </a:r>
            <a:endParaRPr lang="en-US" sz="1600" dirty="0"/>
          </a:p>
        </p:txBody>
      </p:sp>
      <p:sp>
        <p:nvSpPr>
          <p:cNvPr id="7" name="M"/>
          <p:cNvSpPr/>
          <p:nvPr/>
        </p:nvSpPr>
        <p:spPr>
          <a:xfrm>
            <a:off x="4307738" y="1325880"/>
            <a:ext cx="3576218" cy="4023360"/>
          </a:xfrm>
          <a:prstGeom prst="rect">
            <a:avLst/>
          </a:prstGeom>
          <a:solidFill>
            <a:schemeClr val="bg2"/>
          </a:solidFill>
          <a:ln w="12700">
            <a:solidFill>
              <a:schemeClr val="bg2"/>
            </a:solidFill>
            <a:prstDash val="solid"/>
          </a:ln>
        </p:spPr>
      </p:sp>
      <p:sp>
        <p:nvSpPr>
          <p:cNvPr id="8" name="Text 5"/>
          <p:cNvSpPr txBox="1"/>
          <p:nvPr/>
        </p:nvSpPr>
        <p:spPr>
          <a:xfrm>
            <a:off x="4490618" y="1463040"/>
            <a:ext cx="3210458" cy="37490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 · Standard</a:t>
            </a:r>
            <a:endParaRPr lang="en-US" sz="1600" dirty="0"/>
          </a:p>
          <a:p>
            <a:pPr indent="0" marL="0">
              <a:buNone/>
            </a:pPr>
            <a:r>
              <a:rPr lang="en-US" sz="1300" dirty="0">
                <a:solidFill>
                  <a:schemeClr val="tx1"/>
                </a:solidFill>
              </a:rPr>
              <a:t>Régime de référence, appliqué par défaut quand une condition de S manque et qu'aucune condition d'escalade n'est remplie.</a:t>
            </a:r>
            <a:endParaRPr lang="en-US" sz="1600" dirty="0"/>
          </a:p>
        </p:txBody>
      </p:sp>
      <p:sp>
        <p:nvSpPr>
          <p:cNvPr id="9" name="L"/>
          <p:cNvSpPr/>
          <p:nvPr/>
        </p:nvSpPr>
        <p:spPr>
          <a:xfrm>
            <a:off x="8158277" y="1325880"/>
            <a:ext cx="3576218" cy="4023360"/>
          </a:xfrm>
          <a:prstGeom prst="rect">
            <a:avLst/>
          </a:prstGeom>
          <a:solidFill>
            <a:schemeClr val="accent1"/>
          </a:solidFill>
          <a:ln w="12700">
            <a:solidFill>
              <a:schemeClr val="accent1"/>
            </a:solidFill>
            <a:prstDash val="solid"/>
          </a:ln>
        </p:spPr>
      </p:sp>
      <p:sp>
        <p:nvSpPr>
          <p:cNvPr id="10" name="Text 7"/>
          <p:cNvSpPr txBox="1"/>
          <p:nvPr/>
        </p:nvSpPr>
        <p:spPr>
          <a:xfrm>
            <a:off x="8341157" y="1463040"/>
            <a:ext cx="3210458" cy="374904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L · Approfondi (une condition suffit)</a:t>
            </a:r>
            <a:endParaRPr lang="en-US" sz="1600" dirty="0"/>
          </a:p>
          <a:p>
            <a:pPr marL="342900" indent="-342900">
              <a:spcAft>
                <a:spcPts val="300"/>
              </a:spcAft>
              <a:buSzPct val="100000"/>
              <a:buChar char="▪"/>
            </a:pPr>
            <a:r>
              <a:rPr lang="en-US" sz="1300" b="1" dirty="0">
                <a:solidFill>
                  <a:schemeClr val="bg1"/>
                </a:solidFill>
              </a:rPr>
              <a:t>CAPEX &gt; 1 500 MMAD ou exposition &gt; 500 MMAD</a:t>
            </a:r>
            <a:endParaRPr lang="en-US" sz="1600" dirty="0"/>
          </a:p>
          <a:p>
            <a:pPr marL="342900" indent="-342900">
              <a:spcAft>
                <a:spcPts val="300"/>
              </a:spcAft>
              <a:buSzPct val="100000"/>
              <a:buChar char="▪"/>
            </a:pPr>
            <a:r>
              <a:rPr lang="en-US" sz="1300" b="1" dirty="0">
                <a:solidFill>
                  <a:schemeClr val="bg1"/>
                </a:solidFill>
              </a:rPr>
              <a:t>Régime R4</a:t>
            </a:r>
            <a:endParaRPr lang="en-US" sz="1600" dirty="0"/>
          </a:p>
          <a:p>
            <a:pPr marL="342900" indent="-342900">
              <a:spcAft>
                <a:spcPts val="300"/>
              </a:spcAft>
              <a:buSzPct val="100000"/>
              <a:buChar char="▪"/>
            </a:pPr>
            <a:r>
              <a:rPr lang="en-US" sz="1300" b="1" dirty="0">
                <a:solidFill>
                  <a:schemeClr val="bg1"/>
                </a:solidFill>
              </a:rPr>
              <a:t>Première référence technologique au Maroc</a:t>
            </a:r>
            <a:endParaRPr lang="en-US" sz="1600" dirty="0"/>
          </a:p>
          <a:p>
            <a:pPr marL="342900" indent="-342900">
              <a:spcAft>
                <a:spcPts val="300"/>
              </a:spcAft>
              <a:buSzPct val="100000"/>
              <a:buChar char="▪"/>
            </a:pPr>
            <a:r>
              <a:rPr lang="en-US" sz="1300" b="1" dirty="0">
                <a:solidFill>
                  <a:schemeClr val="bg1"/>
                </a:solidFill>
              </a:rPr>
              <a:t>Exposition en devises non intégralement couverte</a:t>
            </a:r>
            <a:endParaRPr lang="en-US" sz="1600" dirty="0"/>
          </a:p>
          <a:p>
            <a:pPr marL="342900" indent="-342900">
              <a:spcAft>
                <a:spcPts val="300"/>
              </a:spcAft>
              <a:buSzPct val="100000"/>
              <a:buChar char="▪"/>
            </a:pPr>
            <a:r>
              <a:rPr lang="en-US" sz="1300" b="1" dirty="0">
                <a:solidFill>
                  <a:schemeClr val="bg1"/>
                </a:solidFill>
              </a:rPr>
              <a:t>Opération consortiale (directive 3/W/2025)</a:t>
            </a:r>
            <a:endParaRPr lang="en-US" sz="1600" dirty="0"/>
          </a:p>
          <a:p>
            <a:pPr marL="342900" indent="-342900">
              <a:spcAft>
                <a:spcPts val="300"/>
              </a:spcAft>
              <a:buSzPct val="100000"/>
              <a:buChar char="▪"/>
            </a:pPr>
            <a:r>
              <a:rPr lang="en-US" sz="1300" b="1" dirty="0">
                <a:solidFill>
                  <a:schemeClr val="bg1"/>
                </a:solidFill>
              </a:rPr>
              <a:t>Concession ou contrat &gt; 20 ans</a:t>
            </a:r>
            <a:endParaRPr lang="en-US" sz="1600" dirty="0"/>
          </a:p>
          <a:p>
            <a:pPr marL="342900" indent="-342900">
              <a:spcAft>
                <a:spcPts val="300"/>
              </a:spcAft>
              <a:buSzPct val="100000"/>
              <a:buChar char="▪"/>
            </a:pPr>
            <a:r>
              <a:rPr lang="en-US" sz="1300" b="1" dirty="0">
                <a:solidFill>
                  <a:schemeClr val="bg1"/>
                </a:solidFill>
              </a:rPr>
              <a:t>Site à risque climatique physique élevé</a:t>
            </a:r>
            <a:endParaRPr lang="en-US" sz="1600" dirty="0"/>
          </a:p>
          <a:p>
            <a:pPr marL="342900" indent="-342900">
              <a:spcAft>
                <a:spcPts val="300"/>
              </a:spcAft>
              <a:buSzPct val="100000"/>
              <a:buChar char="▪"/>
            </a:pPr>
            <a:r>
              <a:rPr lang="en-US" sz="1300" b="1" dirty="0">
                <a:solidFill>
                  <a:schemeClr val="bg1"/>
                </a:solidFill>
              </a:rPr>
              <a:t>Plus de 3 contreparties clés</a:t>
            </a:r>
            <a:endParaRPr lang="en-US" sz="1600" dirty="0"/>
          </a:p>
        </p:txBody>
      </p:sp>
      <p:sp>
        <p:nvSpPr>
          <p:cNvPr id="11" name="Text 8"/>
          <p:cNvSpPr txBox="1"/>
          <p:nvPr/>
        </p:nvSpPr>
        <p:spPr>
          <a:xfrm>
            <a:off x="457200" y="5532120"/>
            <a:ext cx="11277295" cy="548640"/>
          </a:xfrm>
          <a:prstGeom prst="rect">
            <a:avLst/>
          </a:prstGeom>
          <a:noFill/>
          <a:ln/>
        </p:spPr>
        <p:txBody>
          <a:bodyPr wrap="square" lIns="0" tIns="0" rIns="0" bIns="0" rtlCol="0" anchor="t"/>
          <a:lstStyle/>
          <a:p>
            <a:pPr indent="0" marL="0">
              <a:buNone/>
            </a:pPr>
            <a:r>
              <a:rPr lang="en-US" sz="1400" b="1" dirty="0">
                <a:solidFill>
                  <a:schemeClr val="tx2"/>
                </a:solidFill>
              </a:rPr>
              <a:t>Escalade automatique : un verrou fait passer S en M, un plafond fait passer M en L. Alléger le régime exige l'approbation du propriétaire du modèle.</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Ce que chaque régime modifie, et ce qui ne s'allège jamais</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Régime d'instruction</a:t>
            </a:r>
            <a:endParaRPr lang="en-US" sz="1300" dirty="0"/>
          </a:p>
        </p:txBody>
      </p:sp>
      <p:graphicFrame>
        <p:nvGraphicFramePr>
          <p:cNvPr id="13"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2926080"/>
                <a:gridCol w="2194560"/>
                <a:gridCol w="2834640"/>
                <a:gridCol w="3319272"/>
              </a:tblGrid>
              <a:tr h="36576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Élément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M</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Grille qualitative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25 sous-critères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Grille complète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Grille complète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Noyau financier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Complet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Complet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Complet, modèle de flux audité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Verrous, plafonds, module Maroc</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Intégral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Intégral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Intégral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Scénarios de stress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3 minimum</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5 minimum et combiné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Bibliothèque complète et combiné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Test inversé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Non requis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Requis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Requis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Revues externes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Aucune imposée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Ingénieur indépendant en P1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Ingénieur, juridique, marché, aléa climatique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Périodicité de revue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Annuelle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Annuelle, semestrielle en P1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Semestrielle, mensuelle en P1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or"/>
          <p:cNvSpPr/>
          <p:nvPr/>
        </p:nvSpPr>
        <p:spPr>
          <a:xfrm>
            <a:off x="457200" y="4480560"/>
            <a:ext cx="11277295" cy="1508760"/>
          </a:xfrm>
          <a:prstGeom prst="rect">
            <a:avLst/>
          </a:prstGeom>
          <a:solidFill>
            <a:schemeClr val="accent1"/>
          </a:solidFill>
          <a:ln w="12700">
            <a:solidFill>
              <a:schemeClr val="accent1"/>
            </a:solidFill>
            <a:prstDash val="solid"/>
          </a:ln>
        </p:spPr>
      </p:sp>
      <p:sp>
        <p:nvSpPr>
          <p:cNvPr id="7" name="Text 3"/>
          <p:cNvSpPr txBox="1"/>
          <p:nvPr/>
        </p:nvSpPr>
        <p:spPr>
          <a:xfrm>
            <a:off x="640080" y="4617720"/>
            <a:ext cx="10911535" cy="123444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La règle d'or : quatre éléments ne s'allègent dans aucun régime</a:t>
            </a:r>
            <a:endParaRPr lang="en-US" sz="1600" dirty="0"/>
          </a:p>
          <a:p>
            <a:pPr marL="342900" indent="-342900">
              <a:spcAft>
                <a:spcPts val="300"/>
              </a:spcAft>
              <a:buSzPct val="100000"/>
              <a:buChar char="▪"/>
            </a:pPr>
            <a:r>
              <a:rPr lang="en-US" sz="1300" b="1" dirty="0">
                <a:solidFill>
                  <a:schemeClr val="bg1"/>
                </a:solidFill>
              </a:rPr>
              <a:t>Les verrous et plafonds · le DSCR minimum par échéance sur un modèle de flux daté · le module Maroc (foncier, autorisations, acheteur public, change) · les trois stress minimaux du régime de revenus</a:t>
            </a:r>
            <a:endParaRPr lang="en-US" sz="1600" dirty="0"/>
          </a:p>
          <a:p>
            <a:pPr marL="342900" indent="-342900">
              <a:spcAft>
                <a:spcPts val="300"/>
              </a:spcAft>
              <a:buSzPct val="100000"/>
              <a:buChar char="▪"/>
            </a:pPr>
            <a:r>
              <a:rPr lang="en-US" sz="1300" b="1" dirty="0">
                <a:solidFill>
                  <a:schemeClr val="bg1"/>
                </a:solidFill>
              </a:rPr>
              <a:t>Anti-contournement : CAPEX du projet économique complet ; fractionner en SPV ou en tranches ne réduit pas le régime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Quatre classes de règles, quatre traitements</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Règles non compensables</a:t>
            </a:r>
            <a:endParaRPr lang="en-US" sz="1300" dirty="0"/>
          </a:p>
        </p:txBody>
      </p:sp>
      <p:graphicFrame>
        <p:nvGraphicFramePr>
          <p:cNvPr id="14"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1737360"/>
                <a:gridCol w="3291840"/>
                <a:gridCol w="3566160"/>
                <a:gridCol w="2679192"/>
              </a:tblGrid>
              <a:tr h="566928">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Classe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Effet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Levée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Autorité de levée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56692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X · Exclusion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Hors périmètre : aucune note produite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Disparition juridique de l'obstacle, démontrée par écrit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Aucune : pas de dérogation hiérarchique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 · Blocage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Note provisoire, un stade bloqué (octroi, décaissement, notation)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Production de la preuve validée, puis recalcul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Fonction métier compétente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 · Plafond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Note approuvée ≤ plafond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Changement de la donnée (structure, couverture, réserve)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Comité de crédit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6692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K · Condition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Note produite, condition suspensive datée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Réalisation avant l'échéance ; sinon réexamen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Gestionnaire avec contrôle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ordre0"/>
          <p:cNvSpPr/>
          <p:nvPr/>
        </p:nvSpPr>
        <p:spPr>
          <a:xfrm>
            <a:off x="1554480" y="4663440"/>
            <a:ext cx="914400" cy="914400"/>
          </a:xfrm>
          <a:prstGeom prst="ellipse">
            <a:avLst/>
          </a:prstGeom>
          <a:solidFill>
            <a:schemeClr val="accent1"/>
          </a:solidFill>
          <a:ln w="12700">
            <a:solidFill>
              <a:schemeClr val="accent1"/>
            </a:solidFill>
            <a:prstDash val="solid"/>
          </a:ln>
        </p:spPr>
      </p:sp>
      <p:sp>
        <p:nvSpPr>
          <p:cNvPr id="7" name="Text 3"/>
          <p:cNvSpPr txBox="1"/>
          <p:nvPr/>
        </p:nvSpPr>
        <p:spPr>
          <a:xfrm>
            <a:off x="1554480" y="4663440"/>
            <a:ext cx="914400" cy="914400"/>
          </a:xfrm>
          <a:prstGeom prst="rect">
            <a:avLst/>
          </a:prstGeom>
          <a:noFill/>
          <a:ln/>
        </p:spPr>
        <p:txBody>
          <a:bodyPr wrap="square" lIns="0" tIns="0" rIns="0" bIns="0" rtlCol="0" anchor="ctr"/>
          <a:lstStyle/>
          <a:p>
            <a:pPr algn="ctr" indent="0" marL="0">
              <a:buNone/>
            </a:pPr>
            <a:r>
              <a:rPr lang="en-US" sz="1800" b="1" dirty="0">
                <a:solidFill>
                  <a:schemeClr val="bg1"/>
                </a:solidFill>
              </a:rPr>
              <a:t>X</a:t>
            </a:r>
            <a:endParaRPr lang="en-US" sz="1800" dirty="0"/>
          </a:p>
        </p:txBody>
      </p:sp>
      <p:sp>
        <p:nvSpPr>
          <p:cNvPr id="8" name="ordref0"/>
          <p:cNvSpPr/>
          <p:nvPr/>
        </p:nvSpPr>
        <p:spPr>
          <a:xfrm>
            <a:off x="2743200" y="4983480"/>
            <a:ext cx="457200" cy="274320"/>
          </a:xfrm>
          <a:prstGeom prst="rightArrow">
            <a:avLst/>
          </a:prstGeom>
          <a:solidFill>
            <a:schemeClr val="accent1"/>
          </a:solidFill>
          <a:ln w="12700">
            <a:solidFill>
              <a:schemeClr val="accent1"/>
            </a:solidFill>
            <a:prstDash val="solid"/>
          </a:ln>
        </p:spPr>
      </p:sp>
      <p:sp>
        <p:nvSpPr>
          <p:cNvPr id="9" name="ordre1"/>
          <p:cNvSpPr/>
          <p:nvPr/>
        </p:nvSpPr>
        <p:spPr>
          <a:xfrm>
            <a:off x="3566160" y="4663440"/>
            <a:ext cx="914400" cy="914400"/>
          </a:xfrm>
          <a:prstGeom prst="ellipse">
            <a:avLst/>
          </a:prstGeom>
          <a:solidFill>
            <a:schemeClr val="accent1"/>
          </a:solidFill>
          <a:ln w="12700">
            <a:solidFill>
              <a:schemeClr val="accent1"/>
            </a:solidFill>
            <a:prstDash val="solid"/>
          </a:ln>
        </p:spPr>
      </p:sp>
      <p:sp>
        <p:nvSpPr>
          <p:cNvPr id="10" name="Text 6"/>
          <p:cNvSpPr txBox="1"/>
          <p:nvPr/>
        </p:nvSpPr>
        <p:spPr>
          <a:xfrm>
            <a:off x="3566160" y="4663440"/>
            <a:ext cx="914400" cy="9144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1" name="ordref1"/>
          <p:cNvSpPr/>
          <p:nvPr/>
        </p:nvSpPr>
        <p:spPr>
          <a:xfrm>
            <a:off x="4754880" y="4983480"/>
            <a:ext cx="457200" cy="274320"/>
          </a:xfrm>
          <a:prstGeom prst="rightArrow">
            <a:avLst/>
          </a:prstGeom>
          <a:solidFill>
            <a:schemeClr val="accent1"/>
          </a:solidFill>
          <a:ln w="12700">
            <a:solidFill>
              <a:schemeClr val="accent1"/>
            </a:solidFill>
            <a:prstDash val="solid"/>
          </a:ln>
        </p:spPr>
      </p:sp>
      <p:sp>
        <p:nvSpPr>
          <p:cNvPr id="12" name="ordre2"/>
          <p:cNvSpPr/>
          <p:nvPr/>
        </p:nvSpPr>
        <p:spPr>
          <a:xfrm>
            <a:off x="5577840" y="4663440"/>
            <a:ext cx="914400" cy="914400"/>
          </a:xfrm>
          <a:prstGeom prst="ellipse">
            <a:avLst/>
          </a:prstGeom>
          <a:solidFill>
            <a:schemeClr val="bg2"/>
          </a:solidFill>
          <a:ln w="12700">
            <a:solidFill>
              <a:schemeClr val="accent1"/>
            </a:solidFill>
            <a:prstDash val="solid"/>
          </a:ln>
        </p:spPr>
      </p:sp>
      <p:sp>
        <p:nvSpPr>
          <p:cNvPr id="13" name="Text 9"/>
          <p:cNvSpPr txBox="1"/>
          <p:nvPr/>
        </p:nvSpPr>
        <p:spPr>
          <a:xfrm>
            <a:off x="5577840" y="4663440"/>
            <a:ext cx="914400" cy="914400"/>
          </a:xfrm>
          <a:prstGeom prst="rect">
            <a:avLst/>
          </a:prstGeom>
          <a:noFill/>
          <a:ln/>
        </p:spPr>
        <p:txBody>
          <a:bodyPr wrap="square" lIns="0" tIns="0" rIns="0" bIns="0" rtlCol="0" anchor="ctr"/>
          <a:lstStyle/>
          <a:p>
            <a:pPr algn="ctr" indent="0" marL="0">
              <a:buNone/>
            </a:pPr>
            <a:r>
              <a:rPr lang="en-US" sz="1800" b="1" dirty="0">
                <a:solidFill>
                  <a:schemeClr val="accent1"/>
                </a:solidFill>
              </a:rPr>
              <a:t>Score</a:t>
            </a:r>
            <a:endParaRPr lang="en-US" sz="1800" dirty="0"/>
          </a:p>
        </p:txBody>
      </p:sp>
      <p:sp>
        <p:nvSpPr>
          <p:cNvPr id="14" name="ordref2"/>
          <p:cNvSpPr/>
          <p:nvPr/>
        </p:nvSpPr>
        <p:spPr>
          <a:xfrm>
            <a:off x="6766560" y="4983480"/>
            <a:ext cx="457200" cy="274320"/>
          </a:xfrm>
          <a:prstGeom prst="rightArrow">
            <a:avLst/>
          </a:prstGeom>
          <a:solidFill>
            <a:schemeClr val="accent1"/>
          </a:solidFill>
          <a:ln w="12700">
            <a:solidFill>
              <a:schemeClr val="accent1"/>
            </a:solidFill>
            <a:prstDash val="solid"/>
          </a:ln>
        </p:spPr>
      </p:sp>
      <p:sp>
        <p:nvSpPr>
          <p:cNvPr id="15" name="ordre3"/>
          <p:cNvSpPr/>
          <p:nvPr/>
        </p:nvSpPr>
        <p:spPr>
          <a:xfrm>
            <a:off x="7589520" y="4663440"/>
            <a:ext cx="914400" cy="914400"/>
          </a:xfrm>
          <a:prstGeom prst="ellipse">
            <a:avLst/>
          </a:prstGeom>
          <a:solidFill>
            <a:schemeClr val="accent1"/>
          </a:solidFill>
          <a:ln w="12700">
            <a:solidFill>
              <a:schemeClr val="accent1"/>
            </a:solidFill>
            <a:prstDash val="solid"/>
          </a:ln>
        </p:spPr>
      </p:sp>
      <p:sp>
        <p:nvSpPr>
          <p:cNvPr id="16" name="Text 12"/>
          <p:cNvSpPr txBox="1"/>
          <p:nvPr/>
        </p:nvSpPr>
        <p:spPr>
          <a:xfrm>
            <a:off x="7589520" y="4663440"/>
            <a:ext cx="914400" cy="914400"/>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7" name="ordref3"/>
          <p:cNvSpPr/>
          <p:nvPr/>
        </p:nvSpPr>
        <p:spPr>
          <a:xfrm>
            <a:off x="8778240" y="4983480"/>
            <a:ext cx="457200" cy="274320"/>
          </a:xfrm>
          <a:prstGeom prst="rightArrow">
            <a:avLst/>
          </a:prstGeom>
          <a:solidFill>
            <a:schemeClr val="accent1"/>
          </a:solidFill>
          <a:ln w="12700">
            <a:solidFill>
              <a:schemeClr val="accent1"/>
            </a:solidFill>
            <a:prstDash val="solid"/>
          </a:ln>
        </p:spPr>
      </p:sp>
      <p:sp>
        <p:nvSpPr>
          <p:cNvPr id="18" name="ordre4"/>
          <p:cNvSpPr/>
          <p:nvPr/>
        </p:nvSpPr>
        <p:spPr>
          <a:xfrm>
            <a:off x="9601200" y="4663440"/>
            <a:ext cx="914400" cy="914400"/>
          </a:xfrm>
          <a:prstGeom prst="ellipse">
            <a:avLst/>
          </a:prstGeom>
          <a:solidFill>
            <a:schemeClr val="accent1"/>
          </a:solidFill>
          <a:ln w="12700">
            <a:solidFill>
              <a:schemeClr val="accent1"/>
            </a:solidFill>
            <a:prstDash val="solid"/>
          </a:ln>
        </p:spPr>
      </p:sp>
      <p:sp>
        <p:nvSpPr>
          <p:cNvPr id="19" name="Text 15"/>
          <p:cNvSpPr txBox="1"/>
          <p:nvPr/>
        </p:nvSpPr>
        <p:spPr>
          <a:xfrm>
            <a:off x="9601200" y="4663440"/>
            <a:ext cx="914400" cy="914400"/>
          </a:xfrm>
          <a:prstGeom prst="rect">
            <a:avLst/>
          </a:prstGeom>
          <a:noFill/>
          <a:ln/>
        </p:spPr>
        <p:txBody>
          <a:bodyPr wrap="square" lIns="0" tIns="0" rIns="0" bIns="0" rtlCol="0" anchor="ctr"/>
          <a:lstStyle/>
          <a:p>
            <a:pPr algn="ctr" indent="0" marL="0">
              <a:buNone/>
            </a:pPr>
            <a:r>
              <a:rPr lang="en-US" sz="1800" b="1" dirty="0">
                <a:solidFill>
                  <a:schemeClr val="bg1"/>
                </a:solidFill>
              </a:rPr>
              <a:t>K</a:t>
            </a:r>
            <a:endParaRPr lang="en-US" sz="1800" dirty="0"/>
          </a:p>
        </p:txBody>
      </p:sp>
      <p:sp>
        <p:nvSpPr>
          <p:cNvPr id="20" name="Text 16"/>
          <p:cNvSpPr txBox="1"/>
          <p:nvPr/>
        </p:nvSpPr>
        <p:spPr>
          <a:xfrm>
            <a:off x="457200" y="5715000"/>
            <a:ext cx="11277295" cy="320040"/>
          </a:xfrm>
          <a:prstGeom prst="rect">
            <a:avLst/>
          </a:prstGeom>
          <a:noFill/>
          <a:ln/>
        </p:spPr>
        <p:txBody>
          <a:bodyPr wrap="square" lIns="0" tIns="0" rIns="0" bIns="0" rtlCol="0" anchor="t"/>
          <a:lstStyle/>
          <a:p>
            <a:pPr algn="ctr" indent="0" marL="0">
              <a:buNone/>
            </a:pPr>
            <a:r>
              <a:rPr lang="en-US" sz="1300" i="1" dirty="0">
                <a:solidFill>
                  <a:schemeClr val="tx2"/>
                </a:solidFill>
              </a:rPr>
              <a:t>Ordre d'application déterministe et reproductible</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Exclusions X1 à X4 et blocages B1 à B8</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Verrous</a:t>
            </a:r>
            <a:endParaRPr lang="en-US" sz="1300" dirty="0"/>
          </a:p>
        </p:txBody>
      </p:sp>
      <p:graphicFrame>
        <p:nvGraphicFramePr>
          <p:cNvPr id="15"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822960"/>
                <a:gridCol w="7863840"/>
                <a:gridCol w="2587752"/>
              </a:tblGrid>
              <a:tr h="347472">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Code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Fait générateur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Effet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X1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Activité interdite par la loi marocaine ou par la politique d'exclusion de la banque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Aucune 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X2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Autorisation légalement indispensable juridiquement impossible à obtenir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Aucune 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X3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Contrepartie clé sous sanctions ou signalée au titre du dispositif LBC-FT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Aucune 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X4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Contrepartie clé en défaut avéré non régularisé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Aucune 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Contrat de revenus principal non signé (régimes R1 à R3)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l'octroi</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Contrat EPC non signé en phase de construction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l'octroi</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Besoin à terminaison supérieur aux ressources engagées (couverture &lt; 95 %)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le décaissement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Droit d'occupation du site non établi, ou durée &lt; dette + 24 mois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l'octroi</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Avis juridique d'opposabilité des sûretés absent ou avec réserve substantielle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le décaissement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Modèle de flux daté absent ou non rapproché des états financiers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la notation validée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Complétude des critères critiques inférieure à 100 %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la notation validée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4747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Acceptabilité environnementale non obtenue au stade requis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Bloque l'octroi</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Les quinze plafonds de note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Plafonds de note · déclenchés par les données</a:t>
            </a:r>
            <a:endParaRPr lang="en-US" sz="1300" dirty="0"/>
          </a:p>
        </p:txBody>
      </p:sp>
      <p:graphicFrame>
        <p:nvGraphicFramePr>
          <p:cNvPr id="16" name="plafondsA"/>
          <p:cNvGraphicFramePr>
            <a:graphicFrameLocks noGrp="1"/>
          </p:cNvGraphicFramePr>
          <p:nvPr>
            <p:extLst>
              <p:ext uri="{D42A27DB-BD31-4B8C-83A1-F6EECF244321}">
                <p14:modId xmlns:p14="http://schemas.microsoft.com/office/powerpoint/2010/main" val="1579011935"/>
              </p:ext>
            </p:extLst>
          </p:nvPr>
        </p:nvGraphicFramePr>
        <p:xfrm>
          <a:off x="457200" y="1325880"/>
          <a:ext cx="5501488" cy="914400"/>
        </p:xfrm>
        <a:graphic>
          <a:graphicData uri="http://schemas.openxmlformats.org/drawingml/2006/table">
            <a:tbl>
              <a:tblPr/>
              <a:tblGrid>
                <a:gridCol w="640080"/>
                <a:gridCol w="4069080"/>
                <a:gridCol w="941832"/>
              </a:tblGrid>
              <a:tr h="45720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Code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Fait générateur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Note max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DSCR minimum de base &lt; 1,05x sur une échéance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DSCR minimum sous le seuil critique régime × secteur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DSCR minimum sous scénario défavorable &lt; 1,00x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LLCR &lt; 1,10x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Contrat de revenus expirant avant la dette, sans solution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Devises non couvertes &gt; 25 % du service annuel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DSRA absente ou &lt; 3 mois de service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Dette à refinancer &gt; 30 % du nominal, sans stratégie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graphicFrame>
        <p:nvGraphicFramePr>
          <p:cNvPr id="31" name="plafondsB"/>
          <p:cNvGraphicFramePr>
            <a:graphicFrameLocks noGrp="1"/>
          </p:cNvGraphicFramePr>
          <p:nvPr>
            <p:extLst>
              <p:ext uri="{D42A27DB-BD31-4B8C-83A1-F6EECF244321}">
                <p14:modId xmlns:p14="http://schemas.microsoft.com/office/powerpoint/2010/main" val="1579011935"/>
              </p:ext>
            </p:extLst>
          </p:nvPr>
        </p:nvGraphicFramePr>
        <p:xfrm>
          <a:off x="6233008" y="1325880"/>
          <a:ext cx="5501488" cy="914400"/>
        </p:xfrm>
        <a:graphic>
          <a:graphicData uri="http://schemas.openxmlformats.org/drawingml/2006/table">
            <a:tbl>
              <a:tblPr/>
              <a:tblGrid>
                <a:gridCol w="640080"/>
                <a:gridCol w="4069080"/>
                <a:gridCol w="941832"/>
              </a:tblGrid>
              <a:tr h="45720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Code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Fait générateur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Note max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C9</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Quote-part de dette &gt; 85 % du plan de financement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Acheteur &gt; 85 % des recettes et &lt; BBB−</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Risque climatique élevé sans plan financé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Capacité du sponsor insuffisante pour l'equity restant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Opérateur non remplaçable, O&amp;M expirant &gt; 5 ans avant la dette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Exposition du groupe sur un facteur commun &gt; limite interne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Évaluation partielle (statut provisoire)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7" name="Text 2"/>
          <p:cNvSpPr txBox="1"/>
          <p:nvPr/>
        </p:nvSpPr>
        <p:spPr>
          <a:xfrm>
            <a:off x="6233008" y="5212080"/>
            <a:ext cx="5501488" cy="731520"/>
          </a:xfrm>
          <a:prstGeom prst="rect">
            <a:avLst/>
          </a:prstGeom>
          <a:noFill/>
          <a:ln/>
        </p:spPr>
        <p:txBody>
          <a:bodyPr wrap="square" lIns="0" tIns="0" rIns="0" bIns="0" rtlCol="0" anchor="t"/>
          <a:lstStyle/>
          <a:p>
            <a:pPr indent="0" marL="0">
              <a:buNone/>
            </a:pPr>
            <a:r>
              <a:rPr lang="en-US" sz="1300" i="1" dirty="0">
                <a:solidFill>
                  <a:schemeClr val="tx2"/>
                </a:solidFill>
              </a:rPr>
              <a:t>Note approuvée = min (note calculée ; plafonds actifs). Une donnée manquante est signalée « n.r. ». C5 est sans objet en régime R4.</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Conditions K et règles d'articulation</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Conditions et articulation</a:t>
            </a:r>
            <a:endParaRPr lang="en-US" sz="1300" dirty="0"/>
          </a:p>
        </p:txBody>
      </p:sp>
      <p:sp>
        <p:nvSpPr>
          <p:cNvPr id="5" name="K"/>
          <p:cNvSpPr/>
          <p:nvPr/>
        </p:nvSpPr>
        <p:spPr>
          <a:xfrm>
            <a:off x="457200" y="1325880"/>
            <a:ext cx="5455768" cy="4206240"/>
          </a:xfrm>
          <a:prstGeom prst="rect">
            <a:avLst/>
          </a:prstGeom>
          <a:solidFill>
            <a:schemeClr val="bg2"/>
          </a:solidFill>
          <a:ln w="12700">
            <a:solidFill>
              <a:schemeClr val="bg2"/>
            </a:solidFill>
            <a:prstDash val="solid"/>
          </a:ln>
        </p:spPr>
      </p:sp>
      <p:sp>
        <p:nvSpPr>
          <p:cNvPr id="6" name="Text 3"/>
          <p:cNvSpPr txBox="1"/>
          <p:nvPr/>
        </p:nvSpPr>
        <p:spPr>
          <a:xfrm>
            <a:off x="640080" y="1463040"/>
            <a:ext cx="5090008" cy="393192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Conditions K : note produite, condition datée</a:t>
            </a:r>
            <a:endParaRPr lang="en-US" sz="1600" dirty="0"/>
          </a:p>
          <a:p>
            <a:pPr marL="342900" indent="-342900">
              <a:spcAft>
                <a:spcPts val="300"/>
              </a:spcAft>
              <a:buSzPct val="100000"/>
              <a:buChar char="▪"/>
            </a:pPr>
            <a:r>
              <a:rPr lang="en-US" sz="1400" dirty="0">
                <a:solidFill>
                  <a:schemeClr val="tx1"/>
                </a:solidFill>
              </a:rPr>
              <a:t>Sûreté à inscrire ou à perfectionner</a:t>
            </a:r>
            <a:endParaRPr lang="en-US" sz="1600" dirty="0"/>
          </a:p>
          <a:p>
            <a:pPr marL="342900" indent="-342900">
              <a:spcAft>
                <a:spcPts val="300"/>
              </a:spcAft>
              <a:buSzPct val="100000"/>
              <a:buChar char="▪"/>
            </a:pPr>
            <a:r>
              <a:rPr lang="en-US" sz="1400" dirty="0">
                <a:solidFill>
                  <a:schemeClr val="tx1"/>
                </a:solidFill>
              </a:rPr>
              <a:t>Autorisation à renouveler pendant la durée de la dette</a:t>
            </a:r>
            <a:endParaRPr lang="en-US" sz="1600" dirty="0"/>
          </a:p>
          <a:p>
            <a:pPr marL="342900" indent="-342900">
              <a:spcAft>
                <a:spcPts val="300"/>
              </a:spcAft>
              <a:buSzPct val="100000"/>
              <a:buChar char="▪"/>
            </a:pPr>
            <a:r>
              <a:rPr lang="en-US" sz="1400" dirty="0">
                <a:solidFill>
                  <a:schemeClr val="tx1"/>
                </a:solidFill>
              </a:rPr>
              <a:t>Plan de remédiation ESG financé et jalonné</a:t>
            </a:r>
            <a:endParaRPr lang="en-US" sz="1600" dirty="0"/>
          </a:p>
          <a:p>
            <a:pPr marL="342900" indent="-342900">
              <a:spcAft>
                <a:spcPts val="300"/>
              </a:spcAft>
              <a:buSzPct val="100000"/>
              <a:buChar char="▪"/>
            </a:pPr>
            <a:r>
              <a:rPr lang="en-US" sz="1400" dirty="0">
                <a:solidFill>
                  <a:schemeClr val="tx1"/>
                </a:solidFill>
              </a:rPr>
              <a:t>Couverture de taux ou de change au premier tirage</a:t>
            </a:r>
            <a:endParaRPr lang="en-US" sz="1600" dirty="0"/>
          </a:p>
          <a:p>
            <a:pPr marL="342900" indent="-342900">
              <a:spcAft>
                <a:spcPts val="300"/>
              </a:spcAft>
              <a:buSzPct val="100000"/>
              <a:buChar char="▪"/>
            </a:pPr>
            <a:r>
              <a:rPr lang="en-US" sz="1400" dirty="0">
                <a:solidFill>
                  <a:schemeClr val="tx1"/>
                </a:solidFill>
              </a:rPr>
              <a:t>Convention de compte et cascade de paiement à signer</a:t>
            </a:r>
            <a:endParaRPr lang="en-US" sz="1600" dirty="0"/>
          </a:p>
          <a:p>
            <a:pPr marL="342900" indent="-342900">
              <a:spcAft>
                <a:spcPts val="300"/>
              </a:spcAft>
              <a:buSzPct val="100000"/>
              <a:buChar char="▪"/>
            </a:pPr>
            <a:r>
              <a:rPr lang="en-US" sz="1400" dirty="0">
                <a:solidFill>
                  <a:schemeClr val="tx1"/>
                </a:solidFill>
              </a:rPr>
              <a:t>Pièce non essentielle manquante</a:t>
            </a:r>
            <a:endParaRPr lang="en-US" sz="1600" dirty="0"/>
          </a:p>
          <a:p>
            <a:pPr marL="342900" indent="-342900">
              <a:spcAft>
                <a:spcPts val="300"/>
              </a:spcAft>
              <a:buSzPct val="100000"/>
              <a:buChar char="▪"/>
            </a:pPr>
            <a:r>
              <a:rPr lang="en-US" sz="1400" dirty="0">
                <a:solidFill>
                  <a:schemeClr val="tx1"/>
                </a:solidFill>
              </a:rPr>
              <a:t>Chaque condition porte une échéance ; son expiration réactive la règle</a:t>
            </a:r>
            <a:endParaRPr lang="en-US" sz="1600" dirty="0"/>
          </a:p>
        </p:txBody>
      </p:sp>
      <p:sp>
        <p:nvSpPr>
          <p:cNvPr id="7" name="articulation"/>
          <p:cNvSpPr/>
          <p:nvPr/>
        </p:nvSpPr>
        <p:spPr>
          <a:xfrm>
            <a:off x="6278728" y="1325880"/>
            <a:ext cx="5455768" cy="4206240"/>
          </a:xfrm>
          <a:prstGeom prst="rect">
            <a:avLst/>
          </a:prstGeom>
          <a:solidFill>
            <a:schemeClr val="bg2"/>
          </a:solidFill>
          <a:ln w="12700">
            <a:solidFill>
              <a:schemeClr val="bg2"/>
            </a:solidFill>
            <a:prstDash val="solid"/>
          </a:ln>
        </p:spPr>
      </p:sp>
      <p:sp>
        <p:nvSpPr>
          <p:cNvPr id="8" name="Text 5"/>
          <p:cNvSpPr txBox="1"/>
          <p:nvPr/>
        </p:nvSpPr>
        <p:spPr>
          <a:xfrm>
            <a:off x="6461608" y="1463040"/>
            <a:ext cx="5090008" cy="393192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Règles d'articulation</a:t>
            </a:r>
            <a:endParaRPr lang="en-US" sz="1600" dirty="0"/>
          </a:p>
          <a:p>
            <a:pPr marL="342900" indent="-342900">
              <a:spcAft>
                <a:spcPts val="300"/>
              </a:spcAft>
              <a:buSzPct val="100000"/>
              <a:buChar char="▪"/>
            </a:pPr>
            <a:r>
              <a:rPr lang="en-US" sz="1400" dirty="0">
                <a:solidFill>
                  <a:schemeClr val="tx1"/>
                </a:solidFill>
              </a:rPr>
              <a:t>Aucun bonus, aucune dérogation, aucune modification de saisie ne lève un verrou</a:t>
            </a:r>
            <a:endParaRPr lang="en-US" sz="1600" dirty="0"/>
          </a:p>
          <a:p>
            <a:pPr marL="342900" indent="-342900">
              <a:spcAft>
                <a:spcPts val="300"/>
              </a:spcAft>
              <a:buSzPct val="100000"/>
              <a:buChar char="▪"/>
            </a:pPr>
            <a:r>
              <a:rPr lang="en-US" sz="1400" dirty="0">
                <a:solidFill>
                  <a:schemeClr val="tx1"/>
                </a:solidFill>
              </a:rPr>
              <a:t>Changer de secteur ou de régime ne désactive pas une règle : le routage est lui-même approuvé</a:t>
            </a:r>
            <a:endParaRPr lang="en-US" sz="1600" dirty="0"/>
          </a:p>
          <a:p>
            <a:pPr marL="342900" indent="-342900">
              <a:spcAft>
                <a:spcPts val="300"/>
              </a:spcAft>
              <a:buSzPct val="100000"/>
              <a:buChar char="▪"/>
            </a:pPr>
            <a:r>
              <a:rPr lang="en-US" sz="1400" dirty="0">
                <a:solidFill>
                  <a:schemeClr val="tx1"/>
                </a:solidFill>
              </a:rPr>
              <a:t>Chaque règle a une fiche : variable source, seuil, preuve, sévérité, autorité de levée, échéance</a:t>
            </a:r>
            <a:endParaRPr lang="en-US" sz="1600" dirty="0"/>
          </a:p>
          <a:p>
            <a:pPr marL="342900" indent="-342900">
              <a:spcAft>
                <a:spcPts val="300"/>
              </a:spcAft>
              <a:buSzPct val="100000"/>
              <a:buChar char="▪"/>
            </a:pPr>
            <a:r>
              <a:rPr lang="en-US" sz="1400" dirty="0">
                <a:solidFill>
                  <a:schemeClr val="tx1"/>
                </a:solidFill>
              </a:rPr>
              <a:t>Lien vers les critères déjà affectés : un même fait n'est pas sanctionné deux fois</a:t>
            </a:r>
            <a:endParaRPr lang="en-US" sz="1600" dirty="0"/>
          </a:p>
          <a:p>
            <a:pPr marL="342900" indent="-342900">
              <a:spcAft>
                <a:spcPts val="300"/>
              </a:spcAft>
              <a:buSzPct val="100000"/>
              <a:buChar char="▪"/>
            </a:pPr>
            <a:r>
              <a:rPr lang="en-US" sz="1400" dirty="0">
                <a:solidFill>
                  <a:schemeClr val="tx1"/>
                </a:solidFill>
              </a:rPr>
              <a:t>Les signaux d'alerte existants sont reclassés en X, B, C, K ou en simples points d'attention</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Le modèle de flux daté</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Noyau financier · bloc calculé</a:t>
            </a:r>
            <a:endParaRPr lang="en-US" sz="1300" dirty="0"/>
          </a:p>
        </p:txBody>
      </p:sp>
      <p:sp>
        <p:nvSpPr>
          <p:cNvPr id="5" name="formules"/>
          <p:cNvSpPr/>
          <p:nvPr/>
        </p:nvSpPr>
        <p:spPr>
          <a:xfrm>
            <a:off x="457200" y="1325880"/>
            <a:ext cx="6675120" cy="2743200"/>
          </a:xfrm>
          <a:prstGeom prst="rect">
            <a:avLst/>
          </a:prstGeom>
          <a:solidFill>
            <a:schemeClr val="bg2"/>
          </a:solidFill>
          <a:ln w="12700">
            <a:solidFill>
              <a:schemeClr val="bg2"/>
            </a:solidFill>
            <a:prstDash val="solid"/>
          </a:ln>
        </p:spPr>
      </p:sp>
      <p:sp>
        <p:nvSpPr>
          <p:cNvPr id="6" name="Text 3"/>
          <p:cNvSpPr txBox="1"/>
          <p:nvPr/>
        </p:nvSpPr>
        <p:spPr>
          <a:xfrm>
            <a:off x="685800" y="1554480"/>
            <a:ext cx="6217920" cy="2377440"/>
          </a:xfrm>
          <a:prstGeom prst="rect">
            <a:avLst/>
          </a:prstGeom>
          <a:noFill/>
          <a:ln/>
        </p:spPr>
        <p:txBody>
          <a:bodyPr wrap="square" lIns="0" tIns="0" rIns="0" bIns="0" rtlCol="0" anchor="t"/>
          <a:lstStyle/>
          <a:p>
            <a:pPr indent="0" marL="0">
              <a:buNone/>
            </a:pPr>
            <a:r>
              <a:rPr lang="en-US" sz="1500" b="1" dirty="0">
                <a:solidFill>
                  <a:schemeClr val="accent1"/>
                </a:solidFill>
              </a:rPr>
              <a:t>CFADS(t) </a:t>
            </a:r>
            <a:pPr indent="0" marL="0">
              <a:buNone/>
            </a:pPr>
            <a:r>
              <a:rPr lang="en-US" sz="1500" dirty="0">
                <a:solidFill>
                  <a:schemeClr val="tx1"/>
                </a:solidFill>
              </a:rPr>
              <a:t>= EBITDA retraité(t) − IS payé(t) − Δ BFR(t) − CAPEX de maintien(t) ± règlements de couverture(t)</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accent1"/>
                </a:solidFill>
              </a:rPr>
              <a:t>DSCR(t) </a:t>
            </a:r>
            <a:pPr indent="0" marL="0">
              <a:buNone/>
            </a:pPr>
            <a:r>
              <a:rPr lang="en-US" sz="1500" dirty="0">
                <a:solidFill>
                  <a:schemeClr val="tx1"/>
                </a:solidFill>
              </a:rPr>
              <a:t>= CFADS(t) ÷ service de la dette contractuel(t)</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accent1"/>
                </a:solidFill>
              </a:rPr>
              <a:t>DSCR min </a:t>
            </a:r>
            <a:pPr indent="0" marL="0">
              <a:buNone/>
            </a:pPr>
            <a:r>
              <a:rPr lang="en-US" sz="1500" dirty="0">
                <a:solidFill>
                  <a:schemeClr val="tx1"/>
                </a:solidFill>
              </a:rPr>
              <a:t>= minimum de DSCR(t) sur toutes les échéances</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accent1"/>
                </a:solidFill>
              </a:rPr>
              <a:t>LLCR </a:t>
            </a:r>
            <a:pPr indent="0" marL="0">
              <a:buNone/>
            </a:pPr>
            <a:r>
              <a:rPr lang="en-US" sz="1500" dirty="0">
                <a:solidFill>
                  <a:schemeClr val="tx1"/>
                </a:solidFill>
              </a:rPr>
              <a:t>= VAN des CFADS jusqu'à maturité ÷ encours de la dette</a:t>
            </a:r>
            <a:endParaRPr lang="en-US" sz="1500" dirty="0"/>
          </a:p>
        </p:txBody>
      </p:sp>
      <p:sp>
        <p:nvSpPr>
          <p:cNvPr id="7" name="exclus"/>
          <p:cNvSpPr/>
          <p:nvPr/>
        </p:nvSpPr>
        <p:spPr>
          <a:xfrm>
            <a:off x="7498080" y="1325880"/>
            <a:ext cx="4233672" cy="2743200"/>
          </a:xfrm>
          <a:prstGeom prst="rect">
            <a:avLst/>
          </a:prstGeom>
          <a:solidFill>
            <a:schemeClr val="bg2"/>
          </a:solidFill>
          <a:ln w="12700">
            <a:solidFill>
              <a:schemeClr val="bg2"/>
            </a:solidFill>
            <a:prstDash val="solid"/>
          </a:ln>
        </p:spPr>
      </p:sp>
      <p:sp>
        <p:nvSpPr>
          <p:cNvPr id="8" name="Text 5"/>
          <p:cNvSpPr txBox="1"/>
          <p:nvPr/>
        </p:nvSpPr>
        <p:spPr>
          <a:xfrm>
            <a:off x="7680960" y="1463040"/>
            <a:ext cx="3867912" cy="24688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Exclus du CFADS</a:t>
            </a:r>
            <a:endParaRPr lang="en-US" sz="1600" dirty="0"/>
          </a:p>
          <a:p>
            <a:pPr marL="342900" indent="-342900">
              <a:spcAft>
                <a:spcPts val="300"/>
              </a:spcAft>
              <a:buSzPct val="100000"/>
              <a:buChar char="▪"/>
            </a:pPr>
            <a:r>
              <a:rPr lang="en-US" sz="1400" dirty="0">
                <a:solidFill>
                  <a:schemeClr val="tx1"/>
                </a:solidFill>
              </a:rPr>
              <a:t>Apports et tirages</a:t>
            </a:r>
            <a:endParaRPr lang="en-US" sz="1600" dirty="0"/>
          </a:p>
          <a:p>
            <a:pPr marL="342900" indent="-342900">
              <a:spcAft>
                <a:spcPts val="300"/>
              </a:spcAft>
              <a:buSzPct val="100000"/>
              <a:buChar char="▪"/>
            </a:pPr>
            <a:r>
              <a:rPr lang="en-US" sz="1400" dirty="0">
                <a:solidFill>
                  <a:schemeClr val="tx1"/>
                </a:solidFill>
              </a:rPr>
              <a:t>Cash bloqué</a:t>
            </a:r>
            <a:endParaRPr lang="en-US" sz="1600" dirty="0"/>
          </a:p>
          <a:p>
            <a:pPr marL="342900" indent="-342900">
              <a:spcAft>
                <a:spcPts val="300"/>
              </a:spcAft>
              <a:buSzPct val="100000"/>
              <a:buChar char="▪"/>
            </a:pPr>
            <a:r>
              <a:rPr lang="en-US" sz="1400" dirty="0">
                <a:solidFill>
                  <a:schemeClr val="tx1"/>
                </a:solidFill>
              </a:rPr>
              <a:t>Subventions non encaissées</a:t>
            </a:r>
            <a:endParaRPr lang="en-US" sz="1600" dirty="0"/>
          </a:p>
          <a:p>
            <a:pPr marL="342900" indent="-342900">
              <a:spcAft>
                <a:spcPts val="300"/>
              </a:spcAft>
              <a:buSzPct val="100000"/>
              <a:buChar char="▪"/>
            </a:pPr>
            <a:r>
              <a:rPr lang="en-US" sz="1400" dirty="0">
                <a:solidFill>
                  <a:schemeClr val="tx1"/>
                </a:solidFill>
              </a:rPr>
              <a:t>Toute ressource non récurrente</a:t>
            </a:r>
            <a:endParaRPr lang="en-US" sz="1600" dirty="0"/>
          </a:p>
          <a:p>
            <a:pPr marL="342900" indent="-342900">
              <a:spcAft>
                <a:spcPts val="300"/>
              </a:spcAft>
              <a:buSzPct val="100000"/>
              <a:buChar char="▪"/>
            </a:pPr>
            <a:r>
              <a:rPr lang="en-US" sz="1400" dirty="0">
                <a:solidFill>
                  <a:schemeClr val="tx1"/>
                </a:solidFill>
              </a:rPr>
              <a:t>La DSRA et les lignes de secours sont dans la liquidité, jamais au numérateur</a:t>
            </a:r>
            <a:endParaRPr lang="en-US" sz="1600" dirty="0"/>
          </a:p>
        </p:txBody>
      </p:sp>
      <p:sp>
        <p:nvSpPr>
          <p:cNvPr id="9" name="periodicite"/>
          <p:cNvSpPr/>
          <p:nvPr/>
        </p:nvSpPr>
        <p:spPr>
          <a:xfrm>
            <a:off x="457200" y="4343400"/>
            <a:ext cx="11277295" cy="1371600"/>
          </a:xfrm>
          <a:prstGeom prst="rect">
            <a:avLst/>
          </a:prstGeom>
          <a:solidFill>
            <a:schemeClr val="accent1"/>
          </a:solidFill>
          <a:ln w="12700">
            <a:solidFill>
              <a:schemeClr val="accent1"/>
            </a:solidFill>
            <a:prstDash val="solid"/>
          </a:ln>
        </p:spPr>
      </p:sp>
      <p:sp>
        <p:nvSpPr>
          <p:cNvPr id="10" name="Text 7"/>
          <p:cNvSpPr txBox="1"/>
          <p:nvPr/>
        </p:nvSpPr>
        <p:spPr>
          <a:xfrm>
            <a:off x="640080" y="4480560"/>
            <a:ext cx="10911535" cy="109728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Périodicité</a:t>
            </a:r>
            <a:endParaRPr lang="en-US" sz="1600" dirty="0"/>
          </a:p>
          <a:p>
            <a:pPr indent="0" marL="0">
              <a:buNone/>
            </a:pPr>
            <a:r>
              <a:rPr lang="en-US" sz="1400" b="1" dirty="0">
                <a:solidFill>
                  <a:schemeClr val="bg1"/>
                </a:solidFill>
              </a:rPr>
              <a:t>Celle du service de la dette (mensuelle, trimestrielle, semestrielle), jamais annuelle. Un CFADS de 20 puis 100 face à 40 d'échéance donne 1,50 en annuel mais 0,50 sur la première échéance : seul le second chiffre décrit la capacité à payer. Le DSCR moyen n'est qu'indicatif.</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Six indicateurs, 25 à 30 % de la note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Noyau financier · D7</a:t>
            </a:r>
            <a:endParaRPr lang="en-US" sz="1300" dirty="0"/>
          </a:p>
        </p:txBody>
      </p:sp>
      <p:graphicFrame>
        <p:nvGraphicFramePr>
          <p:cNvPr id="19"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731520"/>
                <a:gridCol w="4114800"/>
                <a:gridCol w="914400"/>
                <a:gridCol w="5513832"/>
              </a:tblGrid>
              <a:tr h="45720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Code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Indicateur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Poids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Comment il est noté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N1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DSCR minimum, scénario central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25 %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Calculé sur l'échéancier, barème du régime + Δ</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N2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DSCR minimum, scénario défavorable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20 %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Calculé après le choc, même barème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N3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LLCR ; en construction : financement à terminaison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P1 : ≥ 110 % → 100 ; ≥ 100 % → 80 ; ≥ 95 % avec plan → 50 ; sinon 20 et B3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N4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Liquidité : DSRA, MRA, lignes de secours, cascade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Situation choisie dans une liste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N5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Levier et fonds propres réellement à risque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Situation choisie dans une liste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N6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Exposition résiduelle : taux, change, refinancement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Situation choisie dans une liste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457200" y="4846320"/>
            <a:ext cx="11277295" cy="640080"/>
          </a:xfrm>
          <a:prstGeom prst="rect">
            <a:avLst/>
          </a:prstGeom>
          <a:noFill/>
          <a:ln/>
        </p:spPr>
        <p:txBody>
          <a:bodyPr wrap="square" lIns="0" tIns="0" rIns="0" bIns="0" rtlCol="0" anchor="t"/>
          <a:lstStyle/>
          <a:p>
            <a:pPr indent="0" marL="0">
              <a:buNone/>
            </a:pPr>
            <a:r>
              <a:rPr lang="en-US" sz="1500" dirty="0">
                <a:solidFill>
                  <a:schemeClr val="tx1"/>
                </a:solidFill>
              </a:rPr>
              <a:t>Chaque indicateur vaut 100, 80, 50 ou 20. Une information insuffisante compte 20 et rend la note provisoire. Les plafonds C1 à C9 lisent les mêmes données.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Le DSCR se mesure échéance par échéance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Le piège du ratio annuel · cas C4A</a:t>
            </a:r>
            <a:endParaRPr lang="en-US" sz="1300" dirty="0"/>
          </a:p>
        </p:txBody>
      </p:sp>
      <p:sp>
        <p:nvSpPr>
          <p:cNvPr id="5" name="Text 2"/>
          <p:cNvSpPr txBox="1"/>
          <p:nvPr/>
        </p:nvSpPr>
        <p:spPr>
          <a:xfrm>
            <a:off x="457200" y="1371600"/>
            <a:ext cx="5029200" cy="1280160"/>
          </a:xfrm>
          <a:prstGeom prst="rect">
            <a:avLst/>
          </a:prstGeom>
          <a:noFill/>
          <a:ln/>
        </p:spPr>
        <p:txBody>
          <a:bodyPr wrap="square" lIns="0" tIns="0" rIns="0" bIns="0" rtlCol="0" anchor="t"/>
          <a:lstStyle/>
          <a:p>
            <a:pPr indent="0" marL="0">
              <a:buNone/>
            </a:pPr>
            <a:r>
              <a:rPr lang="en-US" sz="8000" b="1" dirty="0">
                <a:solidFill>
                  <a:schemeClr val="tx2"/>
                </a:solidFill>
              </a:rPr>
              <a:t>1,53</a:t>
            </a:r>
            <a:endParaRPr lang="en-US" sz="8000" dirty="0"/>
          </a:p>
        </p:txBody>
      </p:sp>
      <p:sp>
        <p:nvSpPr>
          <p:cNvPr id="6" name="Text 3"/>
          <p:cNvSpPr txBox="1"/>
          <p:nvPr/>
        </p:nvSpPr>
        <p:spPr>
          <a:xfrm>
            <a:off x="457200" y="2697480"/>
            <a:ext cx="5029200" cy="457200"/>
          </a:xfrm>
          <a:prstGeom prst="rect">
            <a:avLst/>
          </a:prstGeom>
          <a:noFill/>
          <a:ln/>
        </p:spPr>
        <p:txBody>
          <a:bodyPr wrap="square" lIns="0" tIns="0" rIns="0" bIns="0" rtlCol="0" anchor="t"/>
          <a:lstStyle/>
          <a:p>
            <a:pPr indent="0" marL="0">
              <a:buNone/>
            </a:pPr>
            <a:r>
              <a:rPr lang="en-US" sz="1800" dirty="0">
                <a:solidFill>
                  <a:schemeClr val="tx1"/>
                </a:solidFill>
              </a:rPr>
              <a:t>DSCR annuel : semble Favorable</a:t>
            </a:r>
            <a:endParaRPr lang="en-US" sz="1800" dirty="0"/>
          </a:p>
        </p:txBody>
      </p:sp>
      <p:sp>
        <p:nvSpPr>
          <p:cNvPr id="7" name="Text 4"/>
          <p:cNvSpPr txBox="1"/>
          <p:nvPr/>
        </p:nvSpPr>
        <p:spPr>
          <a:xfrm>
            <a:off x="6309360" y="1371600"/>
            <a:ext cx="5029200" cy="1280160"/>
          </a:xfrm>
          <a:prstGeom prst="rect">
            <a:avLst/>
          </a:prstGeom>
          <a:noFill/>
          <a:ln/>
        </p:spPr>
        <p:txBody>
          <a:bodyPr wrap="square" lIns="0" tIns="0" rIns="0" bIns="0" rtlCol="0" anchor="t"/>
          <a:lstStyle/>
          <a:p>
            <a:pPr indent="0" marL="0">
              <a:buNone/>
            </a:pPr>
            <a:r>
              <a:rPr lang="en-US" sz="8000" b="1" dirty="0">
                <a:solidFill>
                  <a:schemeClr val="accent1"/>
                </a:solidFill>
              </a:rPr>
              <a:t>0,59</a:t>
            </a:r>
            <a:endParaRPr lang="en-US" sz="8000" dirty="0"/>
          </a:p>
        </p:txBody>
      </p:sp>
      <p:sp>
        <p:nvSpPr>
          <p:cNvPr id="8" name="Text 5"/>
          <p:cNvSpPr txBox="1"/>
          <p:nvPr/>
        </p:nvSpPr>
        <p:spPr>
          <a:xfrm>
            <a:off x="6309360" y="2697480"/>
            <a:ext cx="5303520" cy="457200"/>
          </a:xfrm>
          <a:prstGeom prst="rect">
            <a:avLst/>
          </a:prstGeom>
          <a:noFill/>
          <a:ln/>
        </p:spPr>
        <p:txBody>
          <a:bodyPr wrap="square" lIns="0" tIns="0" rIns="0" bIns="0" rtlCol="0" anchor="t"/>
          <a:lstStyle/>
          <a:p>
            <a:pPr indent="0" marL="0">
              <a:buNone/>
            </a:pPr>
            <a:r>
              <a:rPr lang="en-US" sz="1800" dirty="0">
                <a:solidFill>
                  <a:schemeClr val="tx1"/>
                </a:solidFill>
              </a:rPr>
              <a:t>DSCR du semestre d'intercampagne : Critique</a:t>
            </a:r>
            <a:endParaRPr lang="en-US" sz="1800" dirty="0"/>
          </a:p>
        </p:txBody>
      </p:sp>
      <p:sp>
        <p:nvSpPr>
          <p:cNvPr id="9" name="Text 6"/>
          <p:cNvSpPr txBox="1"/>
          <p:nvPr/>
        </p:nvSpPr>
        <p:spPr>
          <a:xfrm>
            <a:off x="457200" y="3657600"/>
            <a:ext cx="11277295" cy="1371600"/>
          </a:xfrm>
          <a:prstGeom prst="rect">
            <a:avLst/>
          </a:prstGeom>
          <a:noFill/>
          <a:ln/>
        </p:spPr>
        <p:txBody>
          <a:bodyPr wrap="square" lIns="0" tIns="0" rIns="0" bIns="0" rtlCol="0" anchor="t"/>
          <a:lstStyle/>
          <a:p>
            <a:pPr indent="0" marL="0">
              <a:buNone/>
            </a:pPr>
            <a:r>
              <a:rPr lang="en-US" sz="1800" dirty="0">
                <a:solidFill>
                  <a:schemeClr val="tx1"/>
                </a:solidFill>
              </a:rPr>
              <a:t>Une huilerie encaisse 42 MMAD en campagne et 10 MMAD hors campagne, pour 17 MMAD dus chaque semestre. L'année « passe », le semestre creux fait défaut. Après sculpture de l'amortissement et ligne de campagne (C4B), la note passe de 3 à 6.</a:t>
            </a:r>
            <a:endParaRPr lang="en-US" sz="1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Bornes, cas atypiques et dérogation</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Noyau financier</a:t>
            </a:r>
            <a:endParaRPr lang="en-US" sz="1300" dirty="0"/>
          </a:p>
        </p:txBody>
      </p:sp>
      <p:graphicFrame>
        <p:nvGraphicFramePr>
          <p:cNvPr id="21"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3291840"/>
                <a:gridCol w="7982712"/>
              </a:tblGrid>
              <a:tr h="457200">
                <a:tc>
                  <a:txBody>
                    <a:bodyPr/>
                    <a:lstStyle/>
                    <a:p>
                      <a:pPr algn="l" indent="0" marL="0">
                        <a:buNone/>
                      </a:pPr>
                      <a:r>
                        <a:rPr lang="en-US" sz="1400" b="1" i="1" dirty="0">
                          <a:solidFill>
                            <a:schemeClr val="tx2"/>
                          </a:solidFill>
                          <a:latin typeface="Segoe UI" pitchFamily="34" charset="0"/>
                          <a:ea typeface="Segoe UI" pitchFamily="34" charset="-122"/>
                          <a:cs typeface="Segoe UI" pitchFamily="34" charset="-120"/>
                        </a:rPr>
                        <a:t>Cas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400" b="1" i="1" dirty="0">
                          <a:solidFill>
                            <a:schemeClr val="tx2"/>
                          </a:solidFill>
                          <a:latin typeface="Segoe UI" pitchFamily="34" charset="0"/>
                          <a:ea typeface="Segoe UI" pitchFamily="34" charset="-122"/>
                          <a:cs typeface="Segoe UI" pitchFamily="34" charset="-120"/>
                        </a:rPr>
                        <a:t>Traitement</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57200">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Service de la dette nul (différé)</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Statut « période de différé », exclue du minimum ; capacité future et financement de construction évalués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CFADS négatif sur une période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N1 Critique d'office et alerte de liquidité</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Capitaux propres nuls ou négatifs</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Gearing non calculé, statut dédié, test prudentiel séparé</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57200">
                <a:tc>
                  <a:txBody>
                    <a:bodyPr/>
                    <a:lstStyle/>
                    <a:p>
                      <a:pPr algn="l" indent="0" marL="0">
                        <a:buNone/>
                      </a:pPr>
                      <a:r>
                        <a:rPr lang="en-US" sz="1400" b="1" i="1" dirty="0">
                          <a:solidFill>
                            <a:schemeClr val="bg1"/>
                          </a:solidFill>
                          <a:latin typeface="Segoe UI" pitchFamily="34" charset="0"/>
                          <a:ea typeface="Segoe UI" pitchFamily="34" charset="-122"/>
                          <a:cs typeface="Segoe UI" pitchFamily="34" charset="-120"/>
                        </a:rPr>
                        <a:t>Valeur hors de toute plage</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400" dirty="0">
                          <a:solidFill>
                            <a:schemeClr val="tx1"/>
                          </a:solidFill>
                          <a:latin typeface="Segoe UI" pitchFamily="34" charset="0"/>
                          <a:ea typeface="Segoe UI" pitchFamily="34" charset="-122"/>
                          <a:cs typeface="Segoe UI" pitchFamily="34" charset="-120"/>
                        </a:rPr>
                        <a:t>Refus de calcul et signalement, jamais un score nul silencieux</a:t>
                      </a:r>
                      <a:endParaRPr lang="en-US" sz="14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bornes"/>
          <p:cNvSpPr/>
          <p:nvPr/>
        </p:nvSpPr>
        <p:spPr>
          <a:xfrm>
            <a:off x="457200" y="3931920"/>
            <a:ext cx="5455768" cy="1828800"/>
          </a:xfrm>
          <a:prstGeom prst="rect">
            <a:avLst/>
          </a:prstGeom>
          <a:solidFill>
            <a:schemeClr val="bg2"/>
          </a:solidFill>
          <a:ln w="12700">
            <a:solidFill>
              <a:schemeClr val="bg2"/>
            </a:solidFill>
            <a:prstDash val="solid"/>
          </a:ln>
        </p:spPr>
      </p:sp>
      <p:sp>
        <p:nvSpPr>
          <p:cNvPr id="7" name="Text 3"/>
          <p:cNvSpPr txBox="1"/>
          <p:nvPr/>
        </p:nvSpPr>
        <p:spPr>
          <a:xfrm>
            <a:off x="640080" y="4069080"/>
            <a:ext cx="5090008" cy="15544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Bornes</a:t>
            </a:r>
            <a:endParaRPr lang="en-US" sz="1600" dirty="0"/>
          </a:p>
          <a:p>
            <a:pPr indent="0" marL="0">
              <a:buNone/>
            </a:pPr>
            <a:r>
              <a:rPr lang="en-US" sz="1400" dirty="0">
                <a:solidFill>
                  <a:schemeClr val="tx1"/>
                </a:solidFill>
              </a:rPr>
              <a:t>Plages fermées à gauche, ouvertes à droite, comparées sur la valeur non arrondie : aucun trou, aucun chevauchement.</a:t>
            </a:r>
            <a:endParaRPr lang="en-US" sz="1600" dirty="0"/>
          </a:p>
        </p:txBody>
      </p:sp>
      <p:sp>
        <p:nvSpPr>
          <p:cNvPr id="8" name="derogation"/>
          <p:cNvSpPr/>
          <p:nvPr/>
        </p:nvSpPr>
        <p:spPr>
          <a:xfrm>
            <a:off x="6278728" y="3931920"/>
            <a:ext cx="5455768" cy="1828800"/>
          </a:xfrm>
          <a:prstGeom prst="rect">
            <a:avLst/>
          </a:prstGeom>
          <a:solidFill>
            <a:schemeClr val="accent1"/>
          </a:solidFill>
          <a:ln w="12700">
            <a:solidFill>
              <a:schemeClr val="accent1"/>
            </a:solidFill>
            <a:prstDash val="solid"/>
          </a:ln>
        </p:spPr>
      </p:sp>
      <p:sp>
        <p:nvSpPr>
          <p:cNvPr id="9" name="Text 5"/>
          <p:cNvSpPr txBox="1"/>
          <p:nvPr/>
        </p:nvSpPr>
        <p:spPr>
          <a:xfrm>
            <a:off x="6461608" y="4069080"/>
            <a:ext cx="5090008" cy="155448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Dérogation</a:t>
            </a:r>
            <a:endParaRPr lang="en-US" sz="1600" dirty="0"/>
          </a:p>
          <a:p>
            <a:pPr indent="0" marL="0">
              <a:buNone/>
            </a:pPr>
            <a:r>
              <a:rPr lang="en-US" sz="1400" b="1" dirty="0">
                <a:solidFill>
                  <a:schemeClr val="bg1"/>
                </a:solidFill>
              </a:rPr>
              <a:t>Objet distinct tracé : note initiale, note proposée, motif, justificatif, approbateur, durée. Ne franchit jamais un verrou. Un taux élevé sur un critère déclenche une revue de la grille.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Seuils des règles soumis à validation</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Paramètres candidats</a:t>
            </a:r>
            <a:endParaRPr lang="en-US" sz="1300" dirty="0"/>
          </a:p>
        </p:txBody>
      </p:sp>
      <p:graphicFrame>
        <p:nvGraphicFramePr>
          <p:cNvPr id="22" name="paramsA"/>
          <p:cNvGraphicFramePr>
            <a:graphicFrameLocks noGrp="1"/>
          </p:cNvGraphicFramePr>
          <p:nvPr>
            <p:extLst>
              <p:ext uri="{D42A27DB-BD31-4B8C-83A1-F6EECF244321}">
                <p14:modId xmlns:p14="http://schemas.microsoft.com/office/powerpoint/2010/main" val="1579011935"/>
              </p:ext>
            </p:extLst>
          </p:nvPr>
        </p:nvGraphicFramePr>
        <p:xfrm>
          <a:off x="457200" y="1325880"/>
          <a:ext cx="5501488" cy="914400"/>
        </p:xfrm>
        <a:graphic>
          <a:graphicData uri="http://schemas.openxmlformats.org/drawingml/2006/table">
            <a:tbl>
              <a:tblPr/>
              <a:tblGrid>
                <a:gridCol w="3931920"/>
                <a:gridCol w="1572768"/>
              </a:tblGrid>
              <a:tr h="36576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Paramètre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r" indent="0" marL="0">
                        <a:buNone/>
                      </a:pPr>
                      <a:r>
                        <a:rPr lang="en-US" sz="1300" b="1" i="1" dirty="0">
                          <a:solidFill>
                            <a:schemeClr val="tx2"/>
                          </a:solidFill>
                          <a:latin typeface="Segoe UI" pitchFamily="34" charset="0"/>
                          <a:ea typeface="Segoe UI" pitchFamily="34" charset="-122"/>
                          <a:cs typeface="Segoe UI" pitchFamily="34" charset="-120"/>
                        </a:rPr>
                        <a:t>Valeur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Régime S : CAPEX maximal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200 MMAD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Régime S : exposition maximale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100 MMAD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Régime S : durée maximale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12 ans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Régime L : CAPEX au-delà duquel on escalade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1 500 MMAD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Régime L : exposition au-delà de laquelle on escalade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500 MMAD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Régime L : contreparties clés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&gt; 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N3 (P1) : couverture Très favorable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 110 %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N3 (P1) : couverture Favorable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 100 %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N3 (P1) : Vigilance avec plan approuvé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 95 %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Majoration de phase P2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+ 0,05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graphicFrame>
        <p:nvGraphicFramePr>
          <p:cNvPr id="43" name="paramsB"/>
          <p:cNvGraphicFramePr>
            <a:graphicFrameLocks noGrp="1"/>
          </p:cNvGraphicFramePr>
          <p:nvPr>
            <p:extLst>
              <p:ext uri="{D42A27DB-BD31-4B8C-83A1-F6EECF244321}">
                <p14:modId xmlns:p14="http://schemas.microsoft.com/office/powerpoint/2010/main" val="1579011935"/>
              </p:ext>
            </p:extLst>
          </p:nvPr>
        </p:nvGraphicFramePr>
        <p:xfrm>
          <a:off x="6233008" y="1325880"/>
          <a:ext cx="5501488" cy="914400"/>
        </p:xfrm>
        <a:graphic>
          <a:graphicData uri="http://schemas.openxmlformats.org/drawingml/2006/table">
            <a:tbl>
              <a:tblPr/>
              <a:tblGrid>
                <a:gridCol w="3657600"/>
                <a:gridCol w="1847088"/>
              </a:tblGrid>
              <a:tr h="36576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Paramètre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r" indent="0" marL="0">
                        <a:buNone/>
                      </a:pPr>
                      <a:r>
                        <a:rPr lang="en-US" sz="1300" b="1" i="1" dirty="0">
                          <a:solidFill>
                            <a:schemeClr val="tx2"/>
                          </a:solidFill>
                          <a:latin typeface="Segoe UI" pitchFamily="34" charset="0"/>
                          <a:ea typeface="Segoe UI" pitchFamily="34" charset="-122"/>
                          <a:cs typeface="Segoe UI" pitchFamily="34" charset="-120"/>
                        </a:rPr>
                        <a:t>Valeur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C1 : DSCR minimum</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1,05x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C3 : DSCR sous stress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1,00x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C4 : LLCR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1,10x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C6 : devises non couvertes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25 % du service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C7 : DSRA minimale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3 mois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C8 : dette à refinancer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30 % du nominal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C9 : quote-part de dette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85 %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C10 : part de l'acheteur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85 %, BBB−</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C13 : écart O&amp;M / dette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5 ans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Couverture pondérée de la grille (C15)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95 %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Information insuffisante comptée à</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Segoe UI" pitchFamily="34" charset="0"/>
                          <a:ea typeface="Segoe UI" pitchFamily="34" charset="-122"/>
                          <a:cs typeface="Segoe UI" pitchFamily="34" charset="-120"/>
                        </a:rPr>
                        <a:t>20 / 100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Neuf domaines redéfinis, sans recouvrement</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Grille qualitative</a:t>
            </a:r>
            <a:endParaRPr lang="en-US" sz="1300" dirty="0"/>
          </a:p>
        </p:txBody>
      </p:sp>
      <p:graphicFrame>
        <p:nvGraphicFramePr>
          <p:cNvPr id="23"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2377440"/>
                <a:gridCol w="5486400"/>
                <a:gridCol w="3410712"/>
              </a:tblGrid>
              <a:tr h="438912">
                <a:tc>
                  <a:txBody>
                    <a:bodyPr/>
                    <a:lstStyle/>
                    <a:p>
                      <a:pPr algn="l" indent="0" marL="0">
                        <a:buNone/>
                      </a:pPr>
                      <a:r>
                        <a:rPr lang="en-US" sz="1200" b="1" i="1" dirty="0">
                          <a:solidFill>
                            <a:schemeClr val="tx2"/>
                          </a:solidFill>
                          <a:latin typeface="Segoe UI" pitchFamily="34" charset="0"/>
                          <a:ea typeface="Segoe UI" pitchFamily="34" charset="-122"/>
                          <a:cs typeface="Segoe UI" pitchFamily="34" charset="-120"/>
                        </a:rPr>
                        <a:t>Domaine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Ce qui est évalué</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Ce qui va ailleurs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D1 Sponsors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Capacité financière, volonté économique et obligation juridique de soutien, séparées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Soutien chiffré → N5 ; reporting ESG → D9</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D2 Projet, site, technologie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Technologie, performance, foncier physique, accès, planning</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Taille du CAPEX jamais notée seule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D3 Construction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EPC, interfaces, assurances, dispositif d'achèvement</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Test chiffré à terminaison → N3</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D4 Recettes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Mécanisme économique : parts fermes, indexées, exposées ; durée ; concurrence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Conséquence chiffrée → noyau</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D5 Exploitation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Opérateur, disponibilité, gros entretien, coûts, dépendance technique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Crédit fournisseur → D6</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D6 Contreparties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Solvabilité du payeur, fournisseurs, certitude des engagements des prêteurs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Prestige des prêteurs non noté</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D7 Finance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Score importé du noyau financier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Aucune saisie analyste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D8 Juridique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Documentation, sûretés opposables, substitution, autorisations, litiges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D9 ESG et climat</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Risques résiduels, conformité, exécution des plans, gouvernance ESG</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Effets chiffrés du climat → D4, D5, noyau</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Poids des domaines selon la phase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Grille qualitative</a:t>
            </a:r>
            <a:endParaRPr lang="en-US" sz="1300" dirty="0"/>
          </a:p>
        </p:txBody>
      </p:sp>
      <p:graphicFrame>
        <p:nvGraphicFramePr>
          <p:cNvPr id="24"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8138160" cy="914400"/>
        </p:xfrm>
        <a:graphic>
          <a:graphicData uri="http://schemas.openxmlformats.org/drawingml/2006/table">
            <a:tbl>
              <a:tblPr/>
              <a:tblGrid>
                <a:gridCol w="3291840"/>
                <a:gridCol w="1554480"/>
                <a:gridCol w="1737360"/>
                <a:gridCol w="1554480"/>
              </a:tblGrid>
              <a:tr h="36576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Domaine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P1 construction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P2 montée en charge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P3 exploitation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D1 Sponsors et actionnariat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8 %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D2 Projet, site, technologie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D3 Construction et achèvement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20 %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8 %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D4 Mécanisme des recettes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12 %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D5 Exploitation et maintenance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12 %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D6 Contreparties et consortium</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12 %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D7 Noyau financier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tx1"/>
                          </a:solidFill>
                          <a:latin typeface="Segoe UI" pitchFamily="34" charset="0"/>
                          <a:ea typeface="Segoe UI" pitchFamily="34" charset="-122"/>
                          <a:cs typeface="Segoe UI" pitchFamily="34" charset="-120"/>
                        </a:rPr>
                        <a:t>25 %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tx1"/>
                          </a:solidFill>
                          <a:latin typeface="Segoe UI" pitchFamily="34" charset="0"/>
                          <a:ea typeface="Segoe UI" pitchFamily="34" charset="-122"/>
                          <a:cs typeface="Segoe UI" pitchFamily="34" charset="-120"/>
                        </a:rPr>
                        <a:t>28 %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tx1"/>
                          </a:solidFill>
                          <a:latin typeface="Segoe UI" pitchFamily="34" charset="0"/>
                          <a:ea typeface="Segoe UI" pitchFamily="34" charset="-122"/>
                          <a:cs typeface="Segoe UI" pitchFamily="34" charset="-120"/>
                        </a:rPr>
                        <a:t>30 %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6"/>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D8 Juridique, sûretés, continuité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8 %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D9 ESG et climat (IFC, EBRD)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Total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tx1"/>
                          </a:solidFill>
                          <a:latin typeface="Segoe UI" pitchFamily="34" charset="0"/>
                          <a:ea typeface="Segoe UI" pitchFamily="34" charset="-122"/>
                          <a:cs typeface="Segoe UI" pitchFamily="34" charset="-120"/>
                        </a:rPr>
                        <a:t>100 %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tx1"/>
                          </a:solidFill>
                          <a:latin typeface="Segoe UI" pitchFamily="34" charset="0"/>
                          <a:ea typeface="Segoe UI" pitchFamily="34" charset="-122"/>
                          <a:cs typeface="Segoe UI" pitchFamily="34" charset="-120"/>
                        </a:rPr>
                        <a:t>100 %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tx1"/>
                          </a:solidFill>
                          <a:latin typeface="Segoe UI" pitchFamily="34" charset="0"/>
                          <a:ea typeface="Segoe UI" pitchFamily="34" charset="-122"/>
                          <a:cs typeface="Segoe UI" pitchFamily="34" charset="-120"/>
                        </a:rPr>
                        <a:t>100 %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6"/>
                    </a:solidFill>
                  </a:tcPr>
                </a:tc>
              </a:tr>
            </a:tbl>
          </a:graphicData>
        </a:graphic>
      </p:graphicFrame>
      <p:sp>
        <p:nvSpPr>
          <p:cNvPr id="6" name="conditionsPoids"/>
          <p:cNvSpPr/>
          <p:nvPr/>
        </p:nvSpPr>
        <p:spPr>
          <a:xfrm>
            <a:off x="8823960" y="1325880"/>
            <a:ext cx="2907792" cy="4023360"/>
          </a:xfrm>
          <a:prstGeom prst="rect">
            <a:avLst/>
          </a:prstGeom>
          <a:solidFill>
            <a:schemeClr val="bg2"/>
          </a:solidFill>
          <a:ln w="12700">
            <a:solidFill>
              <a:schemeClr val="bg2"/>
            </a:solidFill>
            <a:prstDash val="solid"/>
          </a:ln>
        </p:spPr>
      </p:sp>
      <p:sp>
        <p:nvSpPr>
          <p:cNvPr id="7" name="Text 3"/>
          <p:cNvSpPr txBox="1"/>
          <p:nvPr/>
        </p:nvSpPr>
        <p:spPr>
          <a:xfrm>
            <a:off x="9006840" y="1463040"/>
            <a:ext cx="2542032" cy="37490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Deux conditions</a:t>
            </a:r>
            <a:endParaRPr lang="en-US" sz="1600" dirty="0"/>
          </a:p>
          <a:p>
            <a:pPr marL="342900" indent="-342900">
              <a:spcAft>
                <a:spcPts val="300"/>
              </a:spcAft>
              <a:buSzPct val="100000"/>
              <a:buChar char="▪"/>
            </a:pPr>
            <a:r>
              <a:rPr lang="en-US" sz="1300" dirty="0">
                <a:solidFill>
                  <a:schemeClr val="tx1"/>
                </a:solidFill>
              </a:rPr>
              <a:t>D3 ne passe à 0 % en exploitation qu'après une réception complète documentée ; défauts latents et gros entretien sont repris en D5</a:t>
            </a:r>
            <a:endParaRPr lang="en-US" sz="1600" dirty="0"/>
          </a:p>
          <a:p>
            <a:pPr marL="342900" indent="-342900">
              <a:spcAft>
                <a:spcPts val="300"/>
              </a:spcAft>
              <a:buSzPct val="100000"/>
              <a:buChar char="▪"/>
            </a:pPr>
            <a:r>
              <a:rPr lang="en-US" sz="1300" dirty="0">
                <a:solidFill>
                  <a:schemeClr val="tx1"/>
                </a:solidFill>
              </a:rPr>
              <a:t>D9 n'est à 5 % que si les effets climatiques sont intégrés aux flux ; sinon il reste à 10 %</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Vingt-cinq sous-critères et leurs poids</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Grille qualitative · poids publiés, indépendants de la phase</a:t>
            </a:r>
            <a:endParaRPr lang="en-US" sz="1300" dirty="0"/>
          </a:p>
        </p:txBody>
      </p:sp>
      <p:graphicFrame>
        <p:nvGraphicFramePr>
          <p:cNvPr id="25" name="scA"/>
          <p:cNvGraphicFramePr>
            <a:graphicFrameLocks noGrp="1"/>
          </p:cNvGraphicFramePr>
          <p:nvPr>
            <p:extLst>
              <p:ext uri="{D42A27DB-BD31-4B8C-83A1-F6EECF244321}">
                <p14:modId xmlns:p14="http://schemas.microsoft.com/office/powerpoint/2010/main" val="1579011935"/>
              </p:ext>
            </p:extLst>
          </p:nvPr>
        </p:nvGraphicFramePr>
        <p:xfrm>
          <a:off x="457200" y="1325880"/>
          <a:ext cx="5501488" cy="914400"/>
        </p:xfrm>
        <a:graphic>
          <a:graphicData uri="http://schemas.openxmlformats.org/drawingml/2006/table">
            <a:tbl>
              <a:tblPr/>
              <a:tblGrid>
                <a:gridCol w="640080"/>
                <a:gridCol w="4041648"/>
                <a:gridCol w="941832"/>
              </a:tblGrid>
              <a:tr h="329184">
                <a:tc>
                  <a:txBody>
                    <a:bodyPr/>
                    <a:lstStyle/>
                    <a:p>
                      <a:pPr algn="l" indent="0" marL="0">
                        <a:buNone/>
                      </a:pPr>
                      <a:r>
                        <a:rPr lang="en-US" sz="1200" b="1" i="1" dirty="0">
                          <a:solidFill>
                            <a:schemeClr val="tx2"/>
                          </a:solidFill>
                          <a:latin typeface="Segoe UI" pitchFamily="34" charset="0"/>
                          <a:ea typeface="Segoe UI" pitchFamily="34" charset="-122"/>
                          <a:cs typeface="Segoe UI" pitchFamily="34" charset="-120"/>
                        </a:rPr>
                        <a:t>Dom.</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Sous-critère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Poids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D1</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Capacité financière du sponsor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40 %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D1</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Obligation juridique de soutien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D1</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Structure actionnariale et gouvernance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D2</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Technologie et performance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D2</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Site, foncier physique et accès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40 %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D2</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Planning et complexité d'exécution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D3</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Contrat EPC et constructeur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40 %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D3</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Interfaces et gouvernance de chantier</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D3</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Assurances et garanties mobilisables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D4</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Structure contractuelle des recettes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45 %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D4</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Mécanisme de prix et indexation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D4</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Marché et concurrence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D5</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Opérateur et contrat O&amp;M</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graphicFrame>
        <p:nvGraphicFramePr>
          <p:cNvPr id="49" name="scB"/>
          <p:cNvGraphicFramePr>
            <a:graphicFrameLocks noGrp="1"/>
          </p:cNvGraphicFramePr>
          <p:nvPr>
            <p:extLst>
              <p:ext uri="{D42A27DB-BD31-4B8C-83A1-F6EECF244321}">
                <p14:modId xmlns:p14="http://schemas.microsoft.com/office/powerpoint/2010/main" val="1579011935"/>
              </p:ext>
            </p:extLst>
          </p:nvPr>
        </p:nvGraphicFramePr>
        <p:xfrm>
          <a:off x="6233008" y="1325880"/>
          <a:ext cx="5501488" cy="914400"/>
        </p:xfrm>
        <a:graphic>
          <a:graphicData uri="http://schemas.openxmlformats.org/drawingml/2006/table">
            <a:tbl>
              <a:tblPr/>
              <a:tblGrid>
                <a:gridCol w="640080"/>
                <a:gridCol w="4041648"/>
                <a:gridCol w="941832"/>
              </a:tblGrid>
              <a:tr h="329184">
                <a:tc>
                  <a:txBody>
                    <a:bodyPr/>
                    <a:lstStyle/>
                    <a:p>
                      <a:pPr algn="l" indent="0" marL="0">
                        <a:buNone/>
                      </a:pPr>
                      <a:r>
                        <a:rPr lang="en-US" sz="1200" b="1" i="1" dirty="0">
                          <a:solidFill>
                            <a:schemeClr val="tx2"/>
                          </a:solidFill>
                          <a:latin typeface="Segoe UI" pitchFamily="34" charset="0"/>
                          <a:ea typeface="Segoe UI" pitchFamily="34" charset="-122"/>
                          <a:cs typeface="Segoe UI" pitchFamily="34" charset="-120"/>
                        </a:rPr>
                        <a:t>Dom.</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Sous-critère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Poids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D5</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Performance technique et disponibilité</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40 %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D5</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Coûts, gros entretien et dépendances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D6</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Acheteur ou payeur principal</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50 %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D6</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Fournisseurs critiques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D6</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Prêteurs et consortium</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D8</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Documentation contractuelle et droits directs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D8</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Sûretés et opposabilité</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40 %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D8</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Autorisations, cadre réglementaire, litiges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D9</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Environnement et ressources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D9</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Social et acceptabilité</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30 %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D9</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Gouvernance ESG et exécution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15 %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29184">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D9</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Climat résiduel</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Segoe UI" pitchFamily="34" charset="0"/>
                          <a:ea typeface="Segoe UI" pitchFamily="34" charset="-122"/>
                          <a:cs typeface="Segoe UI" pitchFamily="34" charset="-120"/>
                        </a:rPr>
                        <a:t>25 %</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On choisit une situation, la note en découle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Grille qualitative · saisie par description</a:t>
            </a:r>
            <a:endParaRPr lang="en-US" sz="1300" dirty="0"/>
          </a:p>
        </p:txBody>
      </p:sp>
      <p:graphicFrame>
        <p:nvGraphicFramePr>
          <p:cNvPr id="26"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1097280"/>
                <a:gridCol w="10177272"/>
              </a:tblGrid>
              <a:tr h="411480">
                <a:tc>
                  <a:txBody>
                    <a:bodyPr/>
                    <a:lstStyle/>
                    <a:p>
                      <a:pPr algn="l" indent="0" marL="0">
                        <a:buNone/>
                      </a:pPr>
                      <a:r>
                        <a:rPr lang="en-US" sz="1500" b="1" i="1" dirty="0">
                          <a:solidFill>
                            <a:schemeClr val="tx2"/>
                          </a:solidFill>
                          <a:latin typeface="Segoe UI" pitchFamily="34" charset="0"/>
                          <a:ea typeface="Segoe UI" pitchFamily="34" charset="-122"/>
                          <a:cs typeface="Segoe UI" pitchFamily="34" charset="-120"/>
                        </a:rPr>
                        <a:t>Note</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500" b="1" i="1" dirty="0">
                          <a:solidFill>
                            <a:schemeClr val="tx2"/>
                          </a:solidFill>
                          <a:latin typeface="Segoe UI" pitchFamily="34" charset="0"/>
                          <a:ea typeface="Segoe UI" pitchFamily="34" charset="-122"/>
                          <a:cs typeface="Segoe UI" pitchFamily="34" charset="-120"/>
                        </a:rPr>
                        <a:t>D2.1 Technologie — variante éolien et solaire (ENR)</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11480">
                <a:tc>
                  <a:txBody>
                    <a:bodyPr/>
                    <a:lstStyle/>
                    <a:p>
                      <a:pPr algn="r" indent="0" marL="0">
                        <a:buNone/>
                      </a:pPr>
                      <a:r>
                        <a:rPr lang="en-US" sz="1500" b="1" i="1" dirty="0">
                          <a:solidFill>
                            <a:schemeClr val="bg1"/>
                          </a:solidFill>
                          <a:latin typeface="Segoe UI" pitchFamily="34" charset="0"/>
                          <a:ea typeface="Segoe UI" pitchFamily="34" charset="-122"/>
                          <a:cs typeface="Segoe UI" pitchFamily="34" charset="-120"/>
                        </a:rPr>
                        <a:t>100</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500" dirty="0">
                          <a:solidFill>
                            <a:schemeClr val="tx1"/>
                          </a:solidFill>
                          <a:latin typeface="Segoe UI" pitchFamily="34" charset="0"/>
                          <a:ea typeface="Segoe UI" pitchFamily="34" charset="-122"/>
                          <a:cs typeface="Segoe UI" pitchFamily="34" charset="-120"/>
                        </a:rPr>
                        <a:t>Équipements de premier rang, productible P90 établi par un expert</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11480">
                <a:tc>
                  <a:txBody>
                    <a:bodyPr/>
                    <a:lstStyle/>
                    <a:p>
                      <a:pPr algn="r" indent="0" marL="0">
                        <a:buNone/>
                      </a:pPr>
                      <a:r>
                        <a:rPr lang="en-US" sz="1500" b="1" i="1" dirty="0">
                          <a:solidFill>
                            <a:schemeClr val="bg1"/>
                          </a:solidFill>
                          <a:latin typeface="Segoe UI" pitchFamily="34" charset="0"/>
                          <a:ea typeface="Segoe UI" pitchFamily="34" charset="-122"/>
                          <a:cs typeface="Segoe UI" pitchFamily="34" charset="-120"/>
                        </a:rPr>
                        <a:t>80</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500" dirty="0">
                          <a:solidFill>
                            <a:schemeClr val="tx1"/>
                          </a:solidFill>
                          <a:latin typeface="Segoe UI" pitchFamily="34" charset="0"/>
                          <a:ea typeface="Segoe UI" pitchFamily="34" charset="-122"/>
                          <a:cs typeface="Segoe UI" pitchFamily="34" charset="-120"/>
                        </a:rPr>
                        <a:t>Équipements reconnus, productible P90 établi sur des données courtes</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11480">
                <a:tc>
                  <a:txBody>
                    <a:bodyPr/>
                    <a:lstStyle/>
                    <a:p>
                      <a:pPr algn="r" indent="0" marL="0">
                        <a:buNone/>
                      </a:pPr>
                      <a:r>
                        <a:rPr lang="en-US" sz="1500" b="1" i="1" dirty="0">
                          <a:solidFill>
                            <a:schemeClr val="bg1"/>
                          </a:solidFill>
                          <a:latin typeface="Segoe UI" pitchFamily="34" charset="0"/>
                          <a:ea typeface="Segoe UI" pitchFamily="34" charset="-122"/>
                          <a:cs typeface="Segoe UI" pitchFamily="34" charset="-120"/>
                        </a:rPr>
                        <a:t>50</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500" dirty="0">
                          <a:solidFill>
                            <a:schemeClr val="tx1"/>
                          </a:solidFill>
                          <a:latin typeface="Segoe UI" pitchFamily="34" charset="0"/>
                          <a:ea typeface="Segoe UI" pitchFamily="34" charset="-122"/>
                          <a:cs typeface="Segoe UI" pitchFamily="34" charset="-120"/>
                        </a:rPr>
                        <a:t>Équipement récent ou productible établi par le développeur seul</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11480">
                <a:tc>
                  <a:txBody>
                    <a:bodyPr/>
                    <a:lstStyle/>
                    <a:p>
                      <a:pPr algn="r" indent="0" marL="0">
                        <a:buNone/>
                      </a:pPr>
                      <a:r>
                        <a:rPr lang="en-US" sz="1500" b="1" i="1" dirty="0">
                          <a:solidFill>
                            <a:schemeClr val="bg1"/>
                          </a:solidFill>
                          <a:latin typeface="Segoe UI" pitchFamily="34" charset="0"/>
                          <a:ea typeface="Segoe UI" pitchFamily="34" charset="-122"/>
                          <a:cs typeface="Segoe UI" pitchFamily="34" charset="-120"/>
                        </a:rPr>
                        <a:t>20</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500" dirty="0">
                          <a:solidFill>
                            <a:schemeClr val="tx1"/>
                          </a:solidFill>
                          <a:latin typeface="Segoe UI" pitchFamily="34" charset="0"/>
                          <a:ea typeface="Segoe UI" pitchFamily="34" charset="-122"/>
                          <a:cs typeface="Segoe UI" pitchFamily="34" charset="-120"/>
                        </a:rPr>
                        <a:t>Productible non établi de façon indépendante</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11480">
                <a:tc>
                  <a:txBody>
                    <a:bodyPr/>
                    <a:lstStyle/>
                    <a:p>
                      <a:pPr algn="r" indent="0" marL="0">
                        <a:buNone/>
                      </a:pPr>
                      <a:r>
                        <a:rPr lang="en-US" sz="1500" b="1" i="1" dirty="0">
                          <a:solidFill>
                            <a:schemeClr val="bg1"/>
                          </a:solidFill>
                          <a:latin typeface="Segoe UI" pitchFamily="34" charset="0"/>
                          <a:ea typeface="Segoe UI" pitchFamily="34" charset="-122"/>
                          <a:cs typeface="Segoe UI" pitchFamily="34" charset="-120"/>
                        </a:rPr>
                        <a:t>20</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500" dirty="0">
                          <a:solidFill>
                            <a:schemeClr val="tx1"/>
                          </a:solidFill>
                          <a:latin typeface="Segoe UI" pitchFamily="34" charset="0"/>
                          <a:ea typeface="Segoe UI" pitchFamily="34" charset="-122"/>
                          <a:cs typeface="Segoe UI" pitchFamily="34" charset="-120"/>
                        </a:rPr>
                        <a:t>Info. insuffisante : note provisoire, commentaire exigé</a:t>
                      </a:r>
                      <a:endParaRPr lang="en-US" sz="15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tous"/>
          <p:cNvSpPr/>
          <p:nvPr/>
        </p:nvSpPr>
        <p:spPr>
          <a:xfrm>
            <a:off x="457200" y="4069080"/>
            <a:ext cx="5455768" cy="1691640"/>
          </a:xfrm>
          <a:prstGeom prst="rect">
            <a:avLst/>
          </a:prstGeom>
          <a:solidFill>
            <a:schemeClr val="bg2"/>
          </a:solidFill>
          <a:ln w="12700">
            <a:solidFill>
              <a:schemeClr val="bg2"/>
            </a:solidFill>
            <a:prstDash val="solid"/>
          </a:ln>
        </p:spPr>
      </p:sp>
      <p:sp>
        <p:nvSpPr>
          <p:cNvPr id="7" name="Text 3"/>
          <p:cNvSpPr txBox="1"/>
          <p:nvPr/>
        </p:nvSpPr>
        <p:spPr>
          <a:xfrm>
            <a:off x="640080" y="4206240"/>
            <a:ext cx="5090008" cy="141732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Pour tous les sous-critères et N4 à N6</a:t>
            </a:r>
            <a:endParaRPr lang="en-US" sz="1600" dirty="0"/>
          </a:p>
          <a:p>
            <a:pPr indent="0" marL="0">
              <a:buNone/>
            </a:pPr>
            <a:r>
              <a:rPr lang="en-US" sz="1400" dirty="0">
                <a:solidFill>
                  <a:schemeClr val="tx1"/>
                </a:solidFill>
              </a:rPr>
              <a:t>Quatre situations décrites et « Info. insuffisante ». Critique ou Info. insuffisante : commentaire obligatoire.</a:t>
            </a:r>
            <a:endParaRPr lang="en-US" sz="1600" dirty="0"/>
          </a:p>
        </p:txBody>
      </p:sp>
      <p:sp>
        <p:nvSpPr>
          <p:cNvPr id="8" name="variantes"/>
          <p:cNvSpPr/>
          <p:nvPr/>
        </p:nvSpPr>
        <p:spPr>
          <a:xfrm>
            <a:off x="6278728" y="4069080"/>
            <a:ext cx="5455768" cy="1691640"/>
          </a:xfrm>
          <a:prstGeom prst="rect">
            <a:avLst/>
          </a:prstGeom>
          <a:solidFill>
            <a:schemeClr val="bg2"/>
          </a:solidFill>
          <a:ln w="12700">
            <a:solidFill>
              <a:schemeClr val="bg2"/>
            </a:solidFill>
            <a:prstDash val="solid"/>
          </a:ln>
        </p:spPr>
      </p:sp>
      <p:sp>
        <p:nvSpPr>
          <p:cNvPr id="9" name="Text 5"/>
          <p:cNvSpPr txBox="1"/>
          <p:nvPr/>
        </p:nvSpPr>
        <p:spPr>
          <a:xfrm>
            <a:off x="6461608" y="4206240"/>
            <a:ext cx="5090008" cy="141732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Variantes sectorielles</a:t>
            </a:r>
            <a:endParaRPr lang="en-US" sz="1600" dirty="0"/>
          </a:p>
          <a:p>
            <a:pPr indent="0" marL="0">
              <a:buNone/>
            </a:pPr>
            <a:r>
              <a:rPr lang="en-US" sz="1400" dirty="0">
                <a:solidFill>
                  <a:schemeClr val="tx1"/>
                </a:solidFill>
              </a:rPr>
              <a:t>D2.1 Technologie, D4.1 Structure des recettes, D4.3 Marché, D5.2 Performance : une description par secteur (12 secteurs).</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Échelle, information insuffisante et complétude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Grille qualitative</a:t>
            </a:r>
            <a:endParaRPr lang="en-US" sz="1300" dirty="0"/>
          </a:p>
        </p:txBody>
      </p:sp>
      <p:sp>
        <p:nvSpPr>
          <p:cNvPr id="5" name="ancres"/>
          <p:cNvSpPr/>
          <p:nvPr/>
        </p:nvSpPr>
        <p:spPr>
          <a:xfrm>
            <a:off x="457200" y="1325880"/>
            <a:ext cx="3576218" cy="3840480"/>
          </a:xfrm>
          <a:prstGeom prst="rect">
            <a:avLst/>
          </a:prstGeom>
          <a:solidFill>
            <a:schemeClr val="bg2"/>
          </a:solidFill>
          <a:ln w="12700">
            <a:solidFill>
              <a:schemeClr val="bg2"/>
            </a:solidFill>
            <a:prstDash val="solid"/>
          </a:ln>
        </p:spPr>
      </p:sp>
      <p:sp>
        <p:nvSpPr>
          <p:cNvPr id="6" name="Text 3"/>
          <p:cNvSpPr txBox="1"/>
          <p:nvPr/>
        </p:nvSpPr>
        <p:spPr>
          <a:xfrm>
            <a:off x="640080" y="1463040"/>
            <a:ext cx="3210458" cy="35661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Quatre ancres</a:t>
            </a:r>
            <a:endParaRPr lang="en-US" sz="1600" dirty="0"/>
          </a:p>
          <a:p>
            <a:pPr marL="342900" indent="-342900">
              <a:spcAft>
                <a:spcPts val="300"/>
              </a:spcAft>
              <a:buSzPct val="100000"/>
              <a:buChar char="▪"/>
            </a:pPr>
            <a:r>
              <a:rPr lang="en-US" sz="1400" dirty="0">
                <a:solidFill>
                  <a:schemeClr val="tx1"/>
                </a:solidFill>
              </a:rPr>
              <a:t>100 Très favorable · 80 Favorable · 50 Vigilance · 20 Critique</a:t>
            </a:r>
            <a:endParaRPr lang="en-US" sz="1600" dirty="0"/>
          </a:p>
          <a:p>
            <a:pPr marL="342900" indent="-342900">
              <a:spcAft>
                <a:spcPts val="300"/>
              </a:spcAft>
              <a:buSzPct val="100000"/>
              <a:buChar char="▪"/>
            </a:pPr>
            <a:r>
              <a:rPr lang="en-US" sz="1400" dirty="0">
                <a:solidFill>
                  <a:schemeClr val="tx1"/>
                </a:solidFill>
              </a:rPr>
              <a:t>Pas de niveau central</a:t>
            </a:r>
            <a:endParaRPr lang="en-US" sz="1600" dirty="0"/>
          </a:p>
          <a:p>
            <a:pPr marL="342900" indent="-342900">
              <a:spcAft>
                <a:spcPts val="300"/>
              </a:spcAft>
              <a:buSzPct val="100000"/>
              <a:buChar char="▪"/>
            </a:pPr>
            <a:r>
              <a:rPr lang="en-US" sz="1400" dirty="0">
                <a:solidFill>
                  <a:schemeClr val="tx1"/>
                </a:solidFill>
              </a:rPr>
              <a:t>Écarts inégaux (20 puis 30 points) : hypothèse ordinale testée en sensibilité</a:t>
            </a:r>
            <a:endParaRPr lang="en-US" sz="1600" dirty="0"/>
          </a:p>
        </p:txBody>
      </p:sp>
      <p:sp>
        <p:nvSpPr>
          <p:cNvPr id="7" name="info"/>
          <p:cNvSpPr/>
          <p:nvPr/>
        </p:nvSpPr>
        <p:spPr>
          <a:xfrm>
            <a:off x="4307738" y="1325880"/>
            <a:ext cx="3576218" cy="3840480"/>
          </a:xfrm>
          <a:prstGeom prst="rect">
            <a:avLst/>
          </a:prstGeom>
          <a:solidFill>
            <a:schemeClr val="bg2"/>
          </a:solidFill>
          <a:ln w="12700">
            <a:solidFill>
              <a:schemeClr val="bg2"/>
            </a:solidFill>
            <a:prstDash val="solid"/>
          </a:ln>
        </p:spPr>
      </p:sp>
      <p:sp>
        <p:nvSpPr>
          <p:cNvPr id="8" name="Text 5"/>
          <p:cNvSpPr txBox="1"/>
          <p:nvPr/>
        </p:nvSpPr>
        <p:spPr>
          <a:xfrm>
            <a:off x="4490618" y="1463040"/>
            <a:ext cx="3210458" cy="35661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Information insuffisante</a:t>
            </a:r>
            <a:endParaRPr lang="en-US" sz="1600" dirty="0"/>
          </a:p>
          <a:p>
            <a:pPr marL="342900" indent="-342900">
              <a:spcAft>
                <a:spcPts val="300"/>
              </a:spcAft>
              <a:buSzPct val="100000"/>
              <a:buChar char="▪"/>
            </a:pPr>
            <a:r>
              <a:rPr lang="en-US" sz="1400" dirty="0">
                <a:solidFill>
                  <a:schemeClr val="tx1"/>
                </a:solidFill>
              </a:rPr>
              <a:t>Statut distinct, pas une note</a:t>
            </a:r>
            <a:endParaRPr lang="en-US" sz="1600" dirty="0"/>
          </a:p>
          <a:p>
            <a:pPr marL="342900" indent="-342900">
              <a:spcAft>
                <a:spcPts val="300"/>
              </a:spcAft>
              <a:buSzPct val="100000"/>
              <a:buChar char="▪"/>
            </a:pPr>
            <a:r>
              <a:rPr lang="en-US" sz="1400" dirty="0">
                <a:solidFill>
                  <a:schemeClr val="tx1"/>
                </a:solidFill>
              </a:rPr>
              <a:t>Comptée 20 dans le calcul, sans renormalisation</a:t>
            </a:r>
            <a:endParaRPr lang="en-US" sz="1600" dirty="0"/>
          </a:p>
          <a:p>
            <a:pPr marL="342900" indent="-342900">
              <a:spcAft>
                <a:spcPts val="300"/>
              </a:spcAft>
              <a:buSzPct val="100000"/>
              <a:buChar char="▪"/>
            </a:pPr>
            <a:r>
              <a:rPr lang="en-US" sz="1400" dirty="0">
                <a:solidFill>
                  <a:schemeClr val="tx1"/>
                </a:solidFill>
              </a:rPr>
              <a:t>Réduit la couverture et la complétude</a:t>
            </a:r>
            <a:endParaRPr lang="en-US" sz="1600" dirty="0"/>
          </a:p>
          <a:p>
            <a:pPr marL="342900" indent="-342900">
              <a:spcAft>
                <a:spcPts val="300"/>
              </a:spcAft>
              <a:buSzPct val="100000"/>
              <a:buChar char="▪"/>
            </a:pPr>
            <a:r>
              <a:rPr lang="en-US" sz="1400" dirty="0">
                <a:solidFill>
                  <a:schemeClr val="tx1"/>
                </a:solidFill>
              </a:rPr>
              <a:t>Non-applicabilité seulement par règle approuvée</a:t>
            </a:r>
            <a:endParaRPr lang="en-US" sz="1600" dirty="0"/>
          </a:p>
        </p:txBody>
      </p:sp>
      <p:sp>
        <p:nvSpPr>
          <p:cNvPr id="9" name="validee"/>
          <p:cNvSpPr/>
          <p:nvPr/>
        </p:nvSpPr>
        <p:spPr>
          <a:xfrm>
            <a:off x="8158277" y="1325880"/>
            <a:ext cx="3576218" cy="3840480"/>
          </a:xfrm>
          <a:prstGeom prst="rect">
            <a:avLst/>
          </a:prstGeom>
          <a:solidFill>
            <a:schemeClr val="accent1"/>
          </a:solidFill>
          <a:ln w="12700">
            <a:solidFill>
              <a:schemeClr val="accent1"/>
            </a:solidFill>
            <a:prstDash val="solid"/>
          </a:ln>
        </p:spPr>
      </p:sp>
      <p:sp>
        <p:nvSpPr>
          <p:cNvPr id="10" name="Text 7"/>
          <p:cNvSpPr txBox="1"/>
          <p:nvPr/>
        </p:nvSpPr>
        <p:spPr>
          <a:xfrm>
            <a:off x="8341157" y="1463040"/>
            <a:ext cx="3210458" cy="356616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Note validée</a:t>
            </a:r>
            <a:endParaRPr lang="en-US" sz="1600" dirty="0"/>
          </a:p>
          <a:p>
            <a:pPr marL="342900" indent="-342900">
              <a:spcAft>
                <a:spcPts val="300"/>
              </a:spcAft>
              <a:buSzPct val="100000"/>
              <a:buChar char="▪"/>
            </a:pPr>
            <a:r>
              <a:rPr lang="en-US" sz="1400" b="1" dirty="0">
                <a:solidFill>
                  <a:schemeClr val="bg1"/>
                </a:solidFill>
              </a:rPr>
              <a:t>100 % des critères requis renseignés (N1 à N6 et sous-critères de la phase)</a:t>
            </a:r>
            <a:endParaRPr lang="en-US" sz="1600" dirty="0"/>
          </a:p>
          <a:p>
            <a:pPr marL="342900" indent="-342900">
              <a:spcAft>
                <a:spcPts val="300"/>
              </a:spcAft>
              <a:buSzPct val="100000"/>
              <a:buChar char="▪"/>
            </a:pPr>
            <a:r>
              <a:rPr lang="en-US" sz="1400" b="1" dirty="0">
                <a:solidFill>
                  <a:schemeClr val="bg1"/>
                </a:solidFill>
              </a:rPr>
              <a:t>95 % de couverture pondérée</a:t>
            </a:r>
            <a:endParaRPr lang="en-US" sz="1600" dirty="0"/>
          </a:p>
          <a:p>
            <a:pPr marL="342900" indent="-342900">
              <a:spcAft>
                <a:spcPts val="300"/>
              </a:spcAft>
              <a:buSzPct val="100000"/>
              <a:buChar char="▪"/>
            </a:pPr>
            <a:r>
              <a:rPr lang="en-US" sz="1400" b="1" dirty="0">
                <a:solidFill>
                  <a:schemeClr val="bg1"/>
                </a:solidFill>
              </a:rPr>
              <a:t>Sinon : blocage B7, plafond C15, note ≤ 6</a:t>
            </a:r>
            <a:endParaRPr lang="en-US" sz="1600" dirty="0"/>
          </a:p>
        </p:txBody>
      </p:sp>
      <p:sp>
        <p:nvSpPr>
          <p:cNvPr id="11" name="Text 8"/>
          <p:cNvSpPr txBox="1"/>
          <p:nvPr/>
        </p:nvSpPr>
        <p:spPr>
          <a:xfrm>
            <a:off x="457200" y="5349240"/>
            <a:ext cx="11277295" cy="457200"/>
          </a:xfrm>
          <a:prstGeom prst="rect">
            <a:avLst/>
          </a:prstGeom>
          <a:noFill/>
          <a:ln/>
        </p:spPr>
        <p:txBody>
          <a:bodyPr wrap="square" lIns="0" tIns="0" rIns="0" bIns="0" rtlCol="0" anchor="t"/>
          <a:lstStyle/>
          <a:p>
            <a:pPr indent="0" marL="0">
              <a:buNone/>
            </a:pPr>
            <a:r>
              <a:rPr lang="en-US" sz="1400" i="1" dirty="0">
                <a:solidFill>
                  <a:schemeClr val="tx2"/>
                </a:solidFill>
              </a:rPr>
              <a:t>Le poids effectif de chaque critère (domaine × sous-critère) est publié et totalise 100 % pour chaque phase.</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Référentiel réglementaire daté</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Module Maroc · transversal</a:t>
            </a:r>
            <a:endParaRPr lang="en-US" sz="1300" dirty="0"/>
          </a:p>
        </p:txBody>
      </p:sp>
      <p:graphicFrame>
        <p:nvGraphicFramePr>
          <p:cNvPr id="28"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2560320"/>
                <a:gridCol w="4114800"/>
                <a:gridCol w="4599432"/>
              </a:tblGrid>
              <a:tr h="438912">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Texte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Application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Traduction dans le modèle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3891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Circulaire BAM 1/W/2025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Du 15/12/2025, en vigueur au 01/01/2027, échéances transitoires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Moteur de classification daté et mode simulation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Directive BAM 3/W/2025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Du 15/12/2025, applicable depuis le 01/07/2026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Note propre de la banque, contrôles de consortium</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Directive BAM 5/W/2021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Du 04/03/2021, art. 10 à 13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Évaluation climatique par projet et scénarios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Directive BAM 3/W/2021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Du 04/03/2021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Concentrations, stress de portefeuille, ICAAP</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Loi 21-18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Sûretés mobilières et agent des sûretés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Matrice des sûretés et preuves d'inscription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IGOC 2026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Applicable depuis le 01/01/2026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Éligibilité, paiements et couvertures de change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38912">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Bâle CRE33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Version du 08/12/2022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Comparaison de méthode, sans transposition au capital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457200" y="5074920"/>
            <a:ext cx="11277295" cy="457200"/>
          </a:xfrm>
          <a:prstGeom prst="rect">
            <a:avLst/>
          </a:prstGeom>
          <a:noFill/>
          <a:ln/>
        </p:spPr>
        <p:txBody>
          <a:bodyPr wrap="square" lIns="0" tIns="0" rIns="0" bIns="0" rtlCol="0" anchor="t"/>
          <a:lstStyle/>
          <a:p>
            <a:pPr indent="0" marL="0">
              <a:buNone/>
            </a:pPr>
            <a:r>
              <a:rPr lang="en-US" sz="1400" i="1" dirty="0">
                <a:solidFill>
                  <a:schemeClr val="tx2"/>
                </a:solidFill>
              </a:rPr>
              <a:t>La règle appliquée est celle en vigueur à la date d'évaluation ; le futur régime est accessible en simulation, identifié comme tel.</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Huit thèmes marocains transversaux</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Module Maroc · huit thèmes injectés dans les blocs</a:t>
            </a:r>
            <a:endParaRPr lang="en-US" sz="1300" dirty="0"/>
          </a:p>
        </p:txBody>
      </p:sp>
      <p:sp>
        <p:nvSpPr>
          <p:cNvPr id="5" name="m1"/>
          <p:cNvSpPr/>
          <p:nvPr/>
        </p:nvSpPr>
        <p:spPr>
          <a:xfrm>
            <a:off x="457200" y="1325880"/>
            <a:ext cx="2647874" cy="2240280"/>
          </a:xfrm>
          <a:prstGeom prst="rect">
            <a:avLst/>
          </a:prstGeom>
          <a:solidFill>
            <a:schemeClr val="bg2"/>
          </a:solidFill>
          <a:ln w="12700">
            <a:solidFill>
              <a:schemeClr val="bg2"/>
            </a:solidFill>
            <a:prstDash val="solid"/>
          </a:ln>
        </p:spPr>
      </p:sp>
      <p:sp>
        <p:nvSpPr>
          <p:cNvPr id="6" name="Text 3"/>
          <p:cNvSpPr txBox="1"/>
          <p:nvPr/>
        </p:nvSpPr>
        <p:spPr>
          <a:xfrm>
            <a:off x="640080" y="146304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M1 Foncier</a:t>
            </a:r>
            <a:endParaRPr lang="en-US" sz="1600" dirty="0"/>
          </a:p>
          <a:p>
            <a:pPr indent="0" marL="0">
              <a:buNone/>
            </a:pPr>
            <a:r>
              <a:rPr lang="en-US" sz="1200" dirty="0">
                <a:solidFill>
                  <a:schemeClr val="tx1"/>
                </a:solidFill>
              </a:rPr>
              <a:t>Nature du droit (titre, melk, collectif, guich, habous, domaine public, bail, concession). Durée ≥ dette + 24 mois, sinon B4</a:t>
            </a:r>
            <a:endParaRPr lang="en-US" sz="1600" dirty="0"/>
          </a:p>
        </p:txBody>
      </p:sp>
      <p:sp>
        <p:nvSpPr>
          <p:cNvPr id="7" name="m2"/>
          <p:cNvSpPr/>
          <p:nvPr/>
        </p:nvSpPr>
        <p:spPr>
          <a:xfrm>
            <a:off x="3333674" y="1325880"/>
            <a:ext cx="2647874" cy="2240280"/>
          </a:xfrm>
          <a:prstGeom prst="rect">
            <a:avLst/>
          </a:prstGeom>
          <a:solidFill>
            <a:schemeClr val="bg2"/>
          </a:solidFill>
          <a:ln w="12700">
            <a:solidFill>
              <a:schemeClr val="bg2"/>
            </a:solidFill>
            <a:prstDash val="solid"/>
          </a:ln>
        </p:spPr>
      </p:sp>
      <p:sp>
        <p:nvSpPr>
          <p:cNvPr id="8" name="Text 5"/>
          <p:cNvSpPr txBox="1"/>
          <p:nvPr/>
        </p:nvSpPr>
        <p:spPr>
          <a:xfrm>
            <a:off x="3516554" y="146304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M2 Acheteur public</a:t>
            </a:r>
            <a:endParaRPr lang="en-US" sz="1600" dirty="0"/>
          </a:p>
          <a:p>
            <a:pPr indent="0" marL="0">
              <a:buNone/>
            </a:pPr>
            <a:r>
              <a:rPr lang="en-US" sz="1200" dirty="0">
                <a:solidFill>
                  <a:schemeClr val="tx1"/>
                </a:solidFill>
              </a:rPr>
              <a:t>Cinq niveaux, de l'État à l'entreprise privée. Garantie souveraine jamais présumée. Subvention : ressource si acquise ou encaissée</a:t>
            </a:r>
            <a:endParaRPr lang="en-US" sz="1600" dirty="0"/>
          </a:p>
        </p:txBody>
      </p:sp>
      <p:sp>
        <p:nvSpPr>
          <p:cNvPr id="9" name="m3"/>
          <p:cNvSpPr/>
          <p:nvPr/>
        </p:nvSpPr>
        <p:spPr>
          <a:xfrm>
            <a:off x="6210148" y="1325880"/>
            <a:ext cx="2647874" cy="2240280"/>
          </a:xfrm>
          <a:prstGeom prst="rect">
            <a:avLst/>
          </a:prstGeom>
          <a:solidFill>
            <a:schemeClr val="bg2"/>
          </a:solidFill>
          <a:ln w="12700">
            <a:solidFill>
              <a:schemeClr val="bg2"/>
            </a:solidFill>
            <a:prstDash val="solid"/>
          </a:ln>
        </p:spPr>
      </p:sp>
      <p:sp>
        <p:nvSpPr>
          <p:cNvPr id="10" name="Text 7"/>
          <p:cNvSpPr txBox="1"/>
          <p:nvPr/>
        </p:nvSpPr>
        <p:spPr>
          <a:xfrm>
            <a:off x="6393028" y="146304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M3 Change</a:t>
            </a:r>
            <a:endParaRPr lang="en-US" sz="1600" dirty="0"/>
          </a:p>
          <a:p>
            <a:pPr indent="0" marL="0">
              <a:buNone/>
            </a:pPr>
            <a:r>
              <a:rPr lang="en-US" sz="1200" dirty="0">
                <a:solidFill>
                  <a:schemeClr val="tx1"/>
                </a:solidFill>
              </a:rPr>
              <a:t>Flux nets par devise et par période ; part couverte, maturité, coût et contreparties des couvertures ; éligibilité IGOC</a:t>
            </a:r>
            <a:endParaRPr lang="en-US" sz="1600" dirty="0"/>
          </a:p>
        </p:txBody>
      </p:sp>
      <p:sp>
        <p:nvSpPr>
          <p:cNvPr id="11" name="m4"/>
          <p:cNvSpPr/>
          <p:nvPr/>
        </p:nvSpPr>
        <p:spPr>
          <a:xfrm>
            <a:off x="9086621" y="1325880"/>
            <a:ext cx="2647874" cy="2240280"/>
          </a:xfrm>
          <a:prstGeom prst="rect">
            <a:avLst/>
          </a:prstGeom>
          <a:solidFill>
            <a:schemeClr val="bg2"/>
          </a:solidFill>
          <a:ln w="12700">
            <a:solidFill>
              <a:schemeClr val="bg2"/>
            </a:solidFill>
            <a:prstDash val="solid"/>
          </a:ln>
        </p:spPr>
      </p:sp>
      <p:sp>
        <p:nvSpPr>
          <p:cNvPr id="12" name="Text 9"/>
          <p:cNvSpPr txBox="1"/>
          <p:nvPr/>
        </p:nvSpPr>
        <p:spPr>
          <a:xfrm>
            <a:off x="9269501" y="146304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M4 Classification BAM</a:t>
            </a:r>
            <a:endParaRPr lang="en-US" sz="1600" dirty="0"/>
          </a:p>
          <a:p>
            <a:pPr indent="0" marL="0">
              <a:buNone/>
            </a:pPr>
            <a:r>
              <a:rPr lang="en-US" sz="1200" dirty="0">
                <a:solidFill>
                  <a:schemeClr val="tx1"/>
                </a:solidFill>
              </a:rPr>
              <a:t>Test prudentiel dettes / capitaux propres comptables &gt; 5 (art. 5) ; rapprochement avec le levier interne, sans assimilation</a:t>
            </a:r>
            <a:endParaRPr lang="en-US" sz="1600" dirty="0"/>
          </a:p>
        </p:txBody>
      </p:sp>
      <p:sp>
        <p:nvSpPr>
          <p:cNvPr id="13" name="m5"/>
          <p:cNvSpPr/>
          <p:nvPr/>
        </p:nvSpPr>
        <p:spPr>
          <a:xfrm>
            <a:off x="457200" y="3749040"/>
            <a:ext cx="2647874" cy="2240280"/>
          </a:xfrm>
          <a:prstGeom prst="rect">
            <a:avLst/>
          </a:prstGeom>
          <a:solidFill>
            <a:schemeClr val="bg2"/>
          </a:solidFill>
          <a:ln w="12700">
            <a:solidFill>
              <a:schemeClr val="bg2"/>
            </a:solidFill>
            <a:prstDash val="solid"/>
          </a:ln>
        </p:spPr>
      </p:sp>
      <p:sp>
        <p:nvSpPr>
          <p:cNvPr id="14" name="Text 11"/>
          <p:cNvSpPr txBox="1"/>
          <p:nvPr/>
        </p:nvSpPr>
        <p:spPr>
          <a:xfrm>
            <a:off x="640080" y="388620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M5 Consortium</a:t>
            </a:r>
            <a:endParaRPr lang="en-US" sz="1600" dirty="0"/>
          </a:p>
          <a:p>
            <a:pPr indent="0" marL="0">
              <a:buNone/>
            </a:pPr>
            <a:r>
              <a:rPr lang="en-US" sz="1200" dirty="0">
                <a:solidFill>
                  <a:schemeClr val="tx1"/>
                </a:solidFill>
              </a:rPr>
              <a:t>Toujours la note propre de la banque, jamais celle du chef de file ; rôles, votes, information alimentent D6</a:t>
            </a:r>
            <a:endParaRPr lang="en-US" sz="1600" dirty="0"/>
          </a:p>
        </p:txBody>
      </p:sp>
      <p:sp>
        <p:nvSpPr>
          <p:cNvPr id="15" name="m6"/>
          <p:cNvSpPr/>
          <p:nvPr/>
        </p:nvSpPr>
        <p:spPr>
          <a:xfrm>
            <a:off x="3333674" y="3749040"/>
            <a:ext cx="2647874" cy="2240280"/>
          </a:xfrm>
          <a:prstGeom prst="rect">
            <a:avLst/>
          </a:prstGeom>
          <a:solidFill>
            <a:schemeClr val="bg2"/>
          </a:solidFill>
          <a:ln w="12700">
            <a:solidFill>
              <a:schemeClr val="bg2"/>
            </a:solidFill>
            <a:prstDash val="solid"/>
          </a:ln>
        </p:spPr>
      </p:sp>
      <p:sp>
        <p:nvSpPr>
          <p:cNvPr id="16" name="Text 13"/>
          <p:cNvSpPr txBox="1"/>
          <p:nvPr/>
        </p:nvSpPr>
        <p:spPr>
          <a:xfrm>
            <a:off x="3516554" y="388620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M6 Climat et eau</a:t>
            </a:r>
            <a:endParaRPr lang="en-US" sz="1600" dirty="0"/>
          </a:p>
          <a:p>
            <a:pPr indent="0" marL="0">
              <a:buNone/>
            </a:pPr>
            <a:r>
              <a:rPr lang="en-US" sz="1200" dirty="0">
                <a:solidFill>
                  <a:schemeClr val="tx1"/>
                </a:solidFill>
              </a:rPr>
              <a:t>Aléa, exposition, vulnérabilité, adaptation, perte de CFADS, au site ; volumes et droits d'eau documentés</a:t>
            </a:r>
            <a:endParaRPr lang="en-US" sz="1600" dirty="0"/>
          </a:p>
        </p:txBody>
      </p:sp>
      <p:sp>
        <p:nvSpPr>
          <p:cNvPr id="17" name="m7"/>
          <p:cNvSpPr/>
          <p:nvPr/>
        </p:nvSpPr>
        <p:spPr>
          <a:xfrm>
            <a:off x="6210148" y="3749040"/>
            <a:ext cx="2647874" cy="2240280"/>
          </a:xfrm>
          <a:prstGeom prst="rect">
            <a:avLst/>
          </a:prstGeom>
          <a:solidFill>
            <a:schemeClr val="bg2"/>
          </a:solidFill>
          <a:ln w="12700">
            <a:solidFill>
              <a:schemeClr val="bg2"/>
            </a:solidFill>
            <a:prstDash val="solid"/>
          </a:ln>
        </p:spPr>
      </p:sp>
      <p:sp>
        <p:nvSpPr>
          <p:cNvPr id="18" name="Text 15"/>
          <p:cNvSpPr txBox="1"/>
          <p:nvPr/>
        </p:nvSpPr>
        <p:spPr>
          <a:xfrm>
            <a:off x="6393028" y="388620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M7 Sûretés</a:t>
            </a:r>
            <a:endParaRPr lang="en-US" sz="1600" dirty="0"/>
          </a:p>
          <a:p>
            <a:pPr indent="0" marL="0">
              <a:buNone/>
            </a:pPr>
            <a:r>
              <a:rPr lang="en-US" sz="1200" dirty="0">
                <a:solidFill>
                  <a:schemeClr val="tx1"/>
                </a:solidFill>
              </a:rPr>
              <a:t>Ligne par ligne : rang, inscription, opposabilité, valeur réalisable nette, délai de réalisation (loi 21-18)</a:t>
            </a:r>
            <a:endParaRPr lang="en-US" sz="1600" dirty="0"/>
          </a:p>
        </p:txBody>
      </p:sp>
      <p:sp>
        <p:nvSpPr>
          <p:cNvPr id="19" name="m8"/>
          <p:cNvSpPr/>
          <p:nvPr/>
        </p:nvSpPr>
        <p:spPr>
          <a:xfrm>
            <a:off x="9086621" y="3749040"/>
            <a:ext cx="2647874" cy="2240280"/>
          </a:xfrm>
          <a:prstGeom prst="rect">
            <a:avLst/>
          </a:prstGeom>
          <a:solidFill>
            <a:schemeClr val="bg2"/>
          </a:solidFill>
          <a:ln w="12700">
            <a:solidFill>
              <a:schemeClr val="bg2"/>
            </a:solidFill>
            <a:prstDash val="solid"/>
          </a:ln>
        </p:spPr>
      </p:sp>
      <p:sp>
        <p:nvSpPr>
          <p:cNvPr id="20" name="Text 17"/>
          <p:cNvSpPr txBox="1"/>
          <p:nvPr/>
        </p:nvSpPr>
        <p:spPr>
          <a:xfrm>
            <a:off x="9269501" y="3886200"/>
            <a:ext cx="2282114" cy="19659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M8 Concentrations</a:t>
            </a:r>
            <a:endParaRPr lang="en-US" sz="1600" dirty="0"/>
          </a:p>
          <a:p>
            <a:pPr indent="0" marL="0">
              <a:buNone/>
            </a:pPr>
            <a:r>
              <a:rPr lang="en-US" sz="1200" dirty="0">
                <a:solidFill>
                  <a:schemeClr val="tx1"/>
                </a:solidFill>
              </a:rPr>
              <a:t>Agrégation par sponsor, acheteur, EPC, bassin, poste, garant, banque des DSRA ; alimente l'ICAAP et C14</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Bibliothèque de chocs</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Stress · alimentent N2, C3 et C6</a:t>
            </a:r>
            <a:endParaRPr lang="en-US" sz="1300" dirty="0"/>
          </a:p>
        </p:txBody>
      </p:sp>
      <p:graphicFrame>
        <p:nvGraphicFramePr>
          <p:cNvPr id="30"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2468880"/>
                <a:gridCol w="2286000"/>
                <a:gridCol w="1463040"/>
                <a:gridCol w="5056632"/>
              </a:tblGrid>
              <a:tr h="36576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Facteur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Niveau 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Niveau 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Lecture attendue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Retard de construction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6 mois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12 mois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Revenus reportés, intérêts, pénalités réellement encaissables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Coût de construction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+ 10 % du restant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+ 20 %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Besoin à terminaison et appel d'equity</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Recettes exposées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− 20 %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DSCR minimum et besoin de liquidité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Coûts d'exploitation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+ 10 %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+ 20 %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Effet net des clauses d'indexation et de leurs délais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Taux variable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+ 200 pb</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+ 300 pb</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Service de la dette après couverture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Change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+ 10 % du coût non couvert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+ 20 %</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CAPEX, achats et dette, nets des recettes en devises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Paiement de l'acheteur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Retard 90 jours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180 jours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BFR et durée d'épuisement des réserves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Disponibilité technique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Perte calibrée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Production, pénalités, réparations, assurance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Climat et eau</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Choc propre au site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Arrêt, baisse de production, coût d'adaptation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Refinancement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Pas de marché à l'échéance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Déficit terminal et remboursement autonome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Scénarios obligatoires, scénario combiné et test inversé</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Stress</a:t>
            </a:r>
            <a:endParaRPr lang="en-US" sz="1300" dirty="0"/>
          </a:p>
        </p:txBody>
      </p:sp>
      <p:graphicFrame>
        <p:nvGraphicFramePr>
          <p:cNvPr id="31"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6035040" cy="914400"/>
        </p:xfrm>
        <a:graphic>
          <a:graphicData uri="http://schemas.openxmlformats.org/drawingml/2006/table">
            <a:tbl>
              <a:tblPr/>
              <a:tblGrid>
                <a:gridCol w="2194560"/>
                <a:gridCol w="3840480"/>
              </a:tblGrid>
              <a:tr h="384048">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Régime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Scénarios minimaux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R1 Contrat ferme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Retard payeur, taux, change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R2 Disponibilité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Disponibilité technique, coûts, retard payeur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R3 Risque de volume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Volume, coûts, taux</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R4 Marché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Prix, volume, coûts, taux, change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R5 Vente d'actifs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Prix de sortie, rythme de vente, coût à terminaison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457200" y="3840480"/>
            <a:ext cx="6035040" cy="1097280"/>
          </a:xfrm>
          <a:prstGeom prst="rect">
            <a:avLst/>
          </a:prstGeom>
          <a:noFill/>
          <a:ln/>
        </p:spPr>
        <p:txBody>
          <a:bodyPr wrap="square" lIns="0" tIns="0" rIns="0" bIns="0" rtlCol="0" anchor="t"/>
          <a:lstStyle/>
          <a:p>
            <a:pPr indent="0" marL="0">
              <a:buNone/>
            </a:pPr>
            <a:r>
              <a:rPr lang="en-US" sz="1300" i="1" dirty="0">
                <a:solidFill>
                  <a:schemeClr val="tx2"/>
                </a:solidFill>
              </a:rPr>
              <a:t>En plus : retard et surcoût en construction ; choc hydrique pour les projets sensibles à l'eau ; refinancement pour une dette avec ballon. Régime S : les 3 premiers ; M et L : la ligne complète.</a:t>
            </a:r>
            <a:endParaRPr lang="en-US" sz="1300" dirty="0"/>
          </a:p>
        </p:txBody>
      </p:sp>
      <p:sp>
        <p:nvSpPr>
          <p:cNvPr id="7" name="combine"/>
          <p:cNvSpPr/>
          <p:nvPr/>
        </p:nvSpPr>
        <p:spPr>
          <a:xfrm>
            <a:off x="6812280" y="1325880"/>
            <a:ext cx="4919472" cy="1325880"/>
          </a:xfrm>
          <a:prstGeom prst="rect">
            <a:avLst/>
          </a:prstGeom>
          <a:solidFill>
            <a:schemeClr val="bg2"/>
          </a:solidFill>
          <a:ln w="12700">
            <a:solidFill>
              <a:schemeClr val="bg2"/>
            </a:solidFill>
            <a:prstDash val="solid"/>
          </a:ln>
        </p:spPr>
      </p:sp>
      <p:sp>
        <p:nvSpPr>
          <p:cNvPr id="8" name="Text 4"/>
          <p:cNvSpPr txBox="1"/>
          <p:nvPr/>
        </p:nvSpPr>
        <p:spPr>
          <a:xfrm>
            <a:off x="6995160" y="1463040"/>
            <a:ext cx="4553712" cy="10515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Scénario combiné</a:t>
            </a:r>
            <a:endParaRPr lang="en-US" sz="1600" dirty="0"/>
          </a:p>
          <a:p>
            <a:pPr indent="0" marL="0">
              <a:buNone/>
            </a:pPr>
            <a:r>
              <a:rPr lang="en-US" sz="1300" dirty="0">
                <a:solidFill>
                  <a:schemeClr val="tx1"/>
                </a:solidFill>
              </a:rPr>
              <a:t>Un récit cohérent (retard et inflation du coût restant ; sécheresse et coût de l'eau…), jamais une addition aléatoire.</a:t>
            </a:r>
            <a:endParaRPr lang="en-US" sz="1600" dirty="0"/>
          </a:p>
        </p:txBody>
      </p:sp>
      <p:sp>
        <p:nvSpPr>
          <p:cNvPr id="9" name="inverse"/>
          <p:cNvSpPr/>
          <p:nvPr/>
        </p:nvSpPr>
        <p:spPr>
          <a:xfrm>
            <a:off x="6812280" y="2788920"/>
            <a:ext cx="4919472" cy="1463040"/>
          </a:xfrm>
          <a:prstGeom prst="rect">
            <a:avLst/>
          </a:prstGeom>
          <a:solidFill>
            <a:schemeClr val="accent1"/>
          </a:solidFill>
          <a:ln w="12700">
            <a:solidFill>
              <a:schemeClr val="accent1"/>
            </a:solidFill>
            <a:prstDash val="solid"/>
          </a:ln>
        </p:spPr>
      </p:sp>
      <p:sp>
        <p:nvSpPr>
          <p:cNvPr id="10" name="Text 6"/>
          <p:cNvSpPr txBox="1"/>
          <p:nvPr/>
        </p:nvSpPr>
        <p:spPr>
          <a:xfrm>
            <a:off x="6995160" y="2926080"/>
            <a:ext cx="4553712" cy="118872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Test inversé (régimes M et L)</a:t>
            </a:r>
            <a:endParaRPr lang="en-US" sz="1600" dirty="0"/>
          </a:p>
          <a:p>
            <a:pPr indent="0" marL="0">
              <a:buNone/>
            </a:pPr>
            <a:r>
              <a:rPr lang="en-US" sz="1300" b="1" dirty="0">
                <a:solidFill>
                  <a:schemeClr val="bg1"/>
                </a:solidFill>
              </a:rPr>
              <a:t>Trois chiffres pour le comité : baisse de recettes absorbable, retard maximum finançable, surcoût à partir duquel les sources manquent.</a:t>
            </a:r>
            <a:endParaRPr lang="en-US" sz="1600" dirty="0"/>
          </a:p>
        </p:txBody>
      </p:sp>
      <p:sp>
        <p:nvSpPr>
          <p:cNvPr id="11" name="secours"/>
          <p:cNvSpPr/>
          <p:nvPr/>
        </p:nvSpPr>
        <p:spPr>
          <a:xfrm>
            <a:off x="6812280" y="4389120"/>
            <a:ext cx="4919472" cy="1463040"/>
          </a:xfrm>
          <a:prstGeom prst="rect">
            <a:avLst/>
          </a:prstGeom>
          <a:solidFill>
            <a:schemeClr val="bg2"/>
          </a:solidFill>
          <a:ln w="12700">
            <a:solidFill>
              <a:schemeClr val="bg2"/>
            </a:solidFill>
            <a:prstDash val="solid"/>
          </a:ln>
        </p:spPr>
      </p:sp>
      <p:sp>
        <p:nvSpPr>
          <p:cNvPr id="12" name="Text 8"/>
          <p:cNvSpPr txBox="1"/>
          <p:nvPr/>
        </p:nvSpPr>
        <p:spPr>
          <a:xfrm>
            <a:off x="6995160" y="4526280"/>
            <a:ext cx="4553712" cy="118872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Ressources de secours</a:t>
            </a:r>
            <a:endParaRPr lang="en-US" sz="1600" dirty="0"/>
          </a:p>
          <a:p>
            <a:pPr indent="0" marL="0">
              <a:buNone/>
            </a:pPr>
            <a:r>
              <a:rPr lang="en-US" sz="1300" dirty="0">
                <a:solidFill>
                  <a:schemeClr val="tx1"/>
                </a:solidFill>
              </a:rPr>
              <a:t>Résultats avant et après DSRA, lignes et sponsor ; le sponsor est évalué dans le même scénario de tension ; une garantie n'est comptée qu'une fois.</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Du score à la note de 1 à 10</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Agrégation · échelle unique 0 à 100</a:t>
            </a:r>
            <a:endParaRPr lang="en-US" sz="1300" dirty="0"/>
          </a:p>
        </p:txBody>
      </p:sp>
      <p:graphicFrame>
        <p:nvGraphicFramePr>
          <p:cNvPr id="32"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7406640" cy="914400"/>
        </p:xfrm>
        <a:graphic>
          <a:graphicData uri="http://schemas.openxmlformats.org/drawingml/2006/table">
            <a:tbl>
              <a:tblPr/>
              <a:tblGrid>
                <a:gridCol w="1463040"/>
                <a:gridCol w="822960"/>
                <a:gridCol w="1828800"/>
                <a:gridCol w="3291840"/>
              </a:tblGrid>
              <a:tr h="36576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Score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Libellé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Orientation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[92 ; 100]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Excellent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Profil de référence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[86 ; 92[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9</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Très solide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Conditions minimales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[80 ; 86[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Solide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Réserves mineures à documenter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[73 ; 80[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Satisfaisant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Conditions légères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[66 ; 73[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Acceptable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Conditions et mitigants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[58 ; 66[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Moyen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Sous surveillance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[50 ; 58[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Fragile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Restructuration à examiner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[42 ; 50[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Préoccupant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Révision de fond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[32 ; 42[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Critique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Refus en l'état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[20 ; 32[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Très critique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Refus ou restructuration complète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calcul"/>
          <p:cNvSpPr/>
          <p:nvPr/>
        </p:nvSpPr>
        <p:spPr>
          <a:xfrm>
            <a:off x="8138160" y="1325880"/>
            <a:ext cx="3593592" cy="2011680"/>
          </a:xfrm>
          <a:prstGeom prst="rect">
            <a:avLst/>
          </a:prstGeom>
          <a:solidFill>
            <a:schemeClr val="bg2"/>
          </a:solidFill>
          <a:ln w="12700">
            <a:solidFill>
              <a:schemeClr val="bg2"/>
            </a:solidFill>
            <a:prstDash val="solid"/>
          </a:ln>
        </p:spPr>
      </p:sp>
      <p:sp>
        <p:nvSpPr>
          <p:cNvPr id="7" name="Text 3"/>
          <p:cNvSpPr txBox="1"/>
          <p:nvPr/>
        </p:nvSpPr>
        <p:spPr>
          <a:xfrm>
            <a:off x="8321040" y="1463040"/>
            <a:ext cx="3227832" cy="17373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Calcul</a:t>
            </a:r>
            <a:endParaRPr lang="en-US" sz="1600" dirty="0"/>
          </a:p>
          <a:p>
            <a:pPr marL="342900" indent="-342900">
              <a:spcAft>
                <a:spcPts val="300"/>
              </a:spcAft>
              <a:buSzPct val="100000"/>
              <a:buChar char="▪"/>
            </a:pPr>
            <a:r>
              <a:rPr lang="en-US" sz="1300" dirty="0">
                <a:solidFill>
                  <a:schemeClr val="tx1"/>
                </a:solidFill>
              </a:rPr>
              <a:t>Score domaine = Σ sous-critères × poids</a:t>
            </a:r>
            <a:endParaRPr lang="en-US" sz="1600" dirty="0"/>
          </a:p>
          <a:p>
            <a:pPr marL="342900" indent="-342900">
              <a:spcAft>
                <a:spcPts val="300"/>
              </a:spcAft>
              <a:buSzPct val="100000"/>
              <a:buChar char="▪"/>
            </a:pPr>
            <a:r>
              <a:rPr lang="en-US" sz="1300" dirty="0">
                <a:solidFill>
                  <a:schemeClr val="tx1"/>
                </a:solidFill>
              </a:rPr>
              <a:t>Score global = Σ domaines × poids de la phase</a:t>
            </a:r>
            <a:endParaRPr lang="en-US" sz="1600" dirty="0"/>
          </a:p>
          <a:p>
            <a:pPr marL="342900" indent="-342900">
              <a:spcAft>
                <a:spcPts val="300"/>
              </a:spcAft>
              <a:buSzPct val="100000"/>
              <a:buChar char="▪"/>
            </a:pPr>
            <a:r>
              <a:rPr lang="en-US" sz="1300" dirty="0">
                <a:solidFill>
                  <a:schemeClr val="tx1"/>
                </a:solidFill>
              </a:rPr>
              <a:t>Note approuvée = min (conversion ; plafonds)</a:t>
            </a:r>
            <a:endParaRPr lang="en-US" sz="1600" dirty="0"/>
          </a:p>
        </p:txBody>
      </p:sp>
      <p:sp>
        <p:nvSpPr>
          <p:cNvPr id="8" name="lecture"/>
          <p:cNvSpPr/>
          <p:nvPr/>
        </p:nvSpPr>
        <p:spPr>
          <a:xfrm>
            <a:off x="8138160" y="3520440"/>
            <a:ext cx="3593592" cy="1828800"/>
          </a:xfrm>
          <a:prstGeom prst="rect">
            <a:avLst/>
          </a:prstGeom>
          <a:solidFill>
            <a:schemeClr val="accent1"/>
          </a:solidFill>
          <a:ln w="12700">
            <a:solidFill>
              <a:schemeClr val="accent1"/>
            </a:solidFill>
            <a:prstDash val="solid"/>
          </a:ln>
        </p:spPr>
      </p:sp>
      <p:sp>
        <p:nvSpPr>
          <p:cNvPr id="9" name="Text 5"/>
          <p:cNvSpPr txBox="1"/>
          <p:nvPr/>
        </p:nvSpPr>
        <p:spPr>
          <a:xfrm>
            <a:off x="8321040" y="3657600"/>
            <a:ext cx="3227832" cy="155448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Lecture</a:t>
            </a:r>
            <a:endParaRPr lang="en-US" sz="1600" dirty="0"/>
          </a:p>
          <a:p>
            <a:pPr indent="0" marL="0">
              <a:buNone/>
            </a:pPr>
            <a:r>
              <a:rPr lang="en-US" sz="1300" b="1" dirty="0">
                <a:solidFill>
                  <a:schemeClr val="bg1"/>
                </a:solidFill>
              </a:rPr>
              <a:t>Note 1 atteignable par le calcul (tout Critique = 20). Tout en Vigilance = 50, soit 4 : une faiblesse générale ne donne pas une note moyenne rassurante.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La moyenne ne cache pas un point de rupture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Anti-compensation</a:t>
            </a:r>
            <a:endParaRPr lang="en-US" sz="1300" dirty="0"/>
          </a:p>
        </p:txBody>
      </p:sp>
      <p:sp>
        <p:nvSpPr>
          <p:cNvPr id="5" name="exemple1"/>
          <p:cNvSpPr/>
          <p:nvPr/>
        </p:nvSpPr>
        <p:spPr>
          <a:xfrm>
            <a:off x="457200" y="1325880"/>
            <a:ext cx="5455768" cy="3474720"/>
          </a:xfrm>
          <a:prstGeom prst="rect">
            <a:avLst/>
          </a:prstGeom>
          <a:solidFill>
            <a:schemeClr val="bg2"/>
          </a:solidFill>
          <a:ln w="12700">
            <a:solidFill>
              <a:schemeClr val="bg2"/>
            </a:solidFill>
            <a:prstDash val="solid"/>
          </a:ln>
        </p:spPr>
      </p:sp>
      <p:sp>
        <p:nvSpPr>
          <p:cNvPr id="6" name="Text 3"/>
          <p:cNvSpPr txBox="1"/>
          <p:nvPr/>
        </p:nvSpPr>
        <p:spPr>
          <a:xfrm>
            <a:off x="640080" y="1463040"/>
            <a:ext cx="5090008" cy="32004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Noyau financier faible</a:t>
            </a:r>
            <a:endParaRPr lang="en-US" sz="1600" dirty="0"/>
          </a:p>
          <a:p>
            <a:pPr marL="342900" indent="-342900">
              <a:spcAft>
                <a:spcPts val="300"/>
              </a:spcAft>
              <a:buSzPct val="100000"/>
              <a:buChar char="▪"/>
            </a:pPr>
            <a:r>
              <a:rPr lang="en-US" sz="1500" dirty="0">
                <a:solidFill>
                  <a:schemeClr val="tx1"/>
                </a:solidFill>
              </a:rPr>
              <a:t>Exploitation : D7 pèse 30 %</a:t>
            </a:r>
            <a:endParaRPr lang="en-US" sz="1600" dirty="0"/>
          </a:p>
          <a:p>
            <a:pPr marL="342900" indent="-342900">
              <a:spcAft>
                <a:spcPts val="300"/>
              </a:spcAft>
              <a:buSzPct val="100000"/>
              <a:buChar char="▪"/>
            </a:pPr>
            <a:r>
              <a:rPr lang="en-US" sz="1500" dirty="0">
                <a:solidFill>
                  <a:schemeClr val="tx1"/>
                </a:solidFill>
              </a:rPr>
              <a:t>D7 à 20, les huit autres domaines à 80</a:t>
            </a:r>
            <a:endParaRPr lang="en-US" sz="1600" dirty="0"/>
          </a:p>
          <a:p>
            <a:pPr marL="342900" indent="-342900">
              <a:spcAft>
                <a:spcPts val="300"/>
              </a:spcAft>
              <a:buSzPct val="100000"/>
              <a:buChar char="▪"/>
            </a:pPr>
            <a:r>
              <a:rPr lang="en-US" sz="1500" dirty="0">
                <a:solidFill>
                  <a:schemeClr val="tx1"/>
                </a:solidFill>
              </a:rPr>
              <a:t>Score : 0,30 × 20 + 0,70 × 80 = 62, soit la note 5</a:t>
            </a:r>
            <a:endParaRPr lang="en-US" sz="1600" dirty="0"/>
          </a:p>
          <a:p>
            <a:pPr marL="342900" indent="-342900">
              <a:spcAft>
                <a:spcPts val="300"/>
              </a:spcAft>
              <a:buSzPct val="100000"/>
              <a:buChar char="▪"/>
            </a:pPr>
            <a:r>
              <a:rPr lang="en-US" sz="1500" dirty="0">
                <a:solidFill>
                  <a:schemeClr val="tx1"/>
                </a:solidFill>
              </a:rPr>
              <a:t>Le plafond C2 s'active : note approuvée 5</a:t>
            </a:r>
            <a:endParaRPr lang="en-US" sz="1600" dirty="0"/>
          </a:p>
          <a:p>
            <a:pPr marL="342900" indent="-342900">
              <a:spcAft>
                <a:spcPts val="300"/>
              </a:spcAft>
              <a:buSzPct val="100000"/>
              <a:buChar char="▪"/>
            </a:pPr>
            <a:r>
              <a:rPr lang="en-US" sz="1500" dirty="0">
                <a:solidFill>
                  <a:schemeClr val="tx1"/>
                </a:solidFill>
              </a:rPr>
              <a:t>Une moyenne classique aurait donné près de 7</a:t>
            </a:r>
            <a:endParaRPr lang="en-US" sz="1600" dirty="0"/>
          </a:p>
        </p:txBody>
      </p:sp>
      <p:sp>
        <p:nvSpPr>
          <p:cNvPr id="7" name="exemple2"/>
          <p:cNvSpPr/>
          <p:nvPr/>
        </p:nvSpPr>
        <p:spPr>
          <a:xfrm>
            <a:off x="6278728" y="1325880"/>
            <a:ext cx="5455768" cy="3474720"/>
          </a:xfrm>
          <a:prstGeom prst="rect">
            <a:avLst/>
          </a:prstGeom>
          <a:solidFill>
            <a:schemeClr val="accent1"/>
          </a:solidFill>
          <a:ln w="12700">
            <a:solidFill>
              <a:schemeClr val="accent1"/>
            </a:solidFill>
            <a:prstDash val="solid"/>
          </a:ln>
        </p:spPr>
      </p:sp>
      <p:sp>
        <p:nvSpPr>
          <p:cNvPr id="8" name="Text 5"/>
          <p:cNvSpPr txBox="1"/>
          <p:nvPr/>
        </p:nvSpPr>
        <p:spPr>
          <a:xfrm>
            <a:off x="6461608" y="1463040"/>
            <a:ext cx="5090008" cy="320040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Cas C3 · hôtel</a:t>
            </a:r>
            <a:endParaRPr lang="en-US" sz="1600" dirty="0"/>
          </a:p>
          <a:p>
            <a:pPr marL="342900" indent="-342900">
              <a:spcAft>
                <a:spcPts val="300"/>
              </a:spcAft>
              <a:buSzPct val="100000"/>
              <a:buChar char="▪"/>
            </a:pPr>
            <a:r>
              <a:rPr lang="en-US" sz="1500" b="1" dirty="0">
                <a:solidFill>
                  <a:schemeClr val="bg1"/>
                </a:solidFill>
              </a:rPr>
              <a:t>Sponsor et documentation à 100</a:t>
            </a:r>
            <a:endParaRPr lang="en-US" sz="1600" dirty="0"/>
          </a:p>
          <a:p>
            <a:pPr marL="342900" indent="-342900">
              <a:spcAft>
                <a:spcPts val="300"/>
              </a:spcAft>
              <a:buSzPct val="100000"/>
              <a:buChar char="▪"/>
            </a:pPr>
            <a:r>
              <a:rPr lang="en-US" sz="1500" b="1" dirty="0">
                <a:solidFill>
                  <a:schemeClr val="bg1"/>
                </a:solidFill>
              </a:rPr>
              <a:t>Score 73,7 : note calculée 7</a:t>
            </a:r>
            <a:endParaRPr lang="en-US" sz="1600" dirty="0"/>
          </a:p>
          <a:p>
            <a:pPr marL="342900" indent="-342900">
              <a:spcAft>
                <a:spcPts val="300"/>
              </a:spcAft>
              <a:buSzPct val="100000"/>
              <a:buChar char="▪"/>
            </a:pPr>
            <a:r>
              <a:rPr lang="en-US" sz="1500" b="1" dirty="0">
                <a:solidFill>
                  <a:schemeClr val="bg1"/>
                </a:solidFill>
              </a:rPr>
              <a:t>DSCR du semestre creux 1,06 ; stressé 0,75</a:t>
            </a:r>
            <a:endParaRPr lang="en-US" sz="1600" dirty="0"/>
          </a:p>
          <a:p>
            <a:pPr marL="342900" indent="-342900">
              <a:spcAft>
                <a:spcPts val="300"/>
              </a:spcAft>
              <a:buSzPct val="100000"/>
              <a:buChar char="▪"/>
            </a:pPr>
            <a:r>
              <a:rPr lang="en-US" sz="1500" b="1" dirty="0">
                <a:solidFill>
                  <a:schemeClr val="bg1"/>
                </a:solidFill>
              </a:rPr>
              <a:t>Plafonds C2 et C3 actifs</a:t>
            </a:r>
            <a:endParaRPr lang="en-US" sz="1600" dirty="0"/>
          </a:p>
          <a:p>
            <a:pPr marL="342900" indent="-342900">
              <a:spcAft>
                <a:spcPts val="300"/>
              </a:spcAft>
              <a:buSzPct val="100000"/>
              <a:buChar char="▪"/>
            </a:pPr>
            <a:r>
              <a:rPr lang="en-US" sz="1500" b="1" dirty="0">
                <a:solidFill>
                  <a:schemeClr val="bg1"/>
                </a:solidFill>
              </a:rPr>
              <a:t>Note approuvée : 4</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Huit sorties distinctes, une note ordinale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Sorties du modèle</a:t>
            </a:r>
            <a:endParaRPr lang="en-US" sz="1300" dirty="0"/>
          </a:p>
        </p:txBody>
      </p:sp>
      <p:graphicFrame>
        <p:nvGraphicFramePr>
          <p:cNvPr id="34"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2743200"/>
                <a:gridCol w="4937760"/>
                <a:gridCol w="3593592"/>
              </a:tblGrid>
              <a:tr h="365760">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Sortie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Objet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Usage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1. Score et 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Qualité de crédit du projet dans le montage examiné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Comparaison, analyse, usage ordinal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2. Plafonds et ajustements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Fragilités non représentées dans la moyenne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Encadrement de la note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3. Statut de décision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Recevable, provisoire, sous conditions, bloqué, hors périmètre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Instruction et validation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4. État de défaut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Événement de défaut selon le référentiel approuvé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Suivi et calibration future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5. Classification BAM</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Classement prudentiel à la date applicable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Reporting réglementaire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6. Statut IFRS 9</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Dégradation du risque depuis l'origine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Provisionnement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7. Analyse de facilité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Rang, sûretés, recouvrabilité, exposition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LGD, récupération, structuration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65760">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8. Conditions d'utilisation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Version, complétude, validité, approbations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Audit et gouvernance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457200" y="4846320"/>
            <a:ext cx="11277295" cy="731520"/>
          </a:xfrm>
          <a:prstGeom prst="rect">
            <a:avLst/>
          </a:prstGeom>
          <a:noFill/>
          <a:ln/>
        </p:spPr>
        <p:txBody>
          <a:bodyPr wrap="square" lIns="0" tIns="0" rIns="0" bIns="0" rtlCol="0" anchor="t"/>
          <a:lstStyle/>
          <a:p>
            <a:pPr indent="0" marL="0">
              <a:buNone/>
            </a:pPr>
            <a:r>
              <a:rPr lang="en-US" sz="1400" i="1" dirty="0">
                <a:solidFill>
                  <a:schemeClr val="tx2"/>
                </a:solidFill>
              </a:rPr>
              <a:t>Aucune probabilité de défaut n'est annoncée avant calibration ; pas de baisse mécanique des actifs pondérés. Un refus n'est pas un défaut ; un défaut ne s'efface pas par une bonne moyenne.</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Un dossier par onglet, treize blocs de saisie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L'outil Excel</a:t>
            </a:r>
            <a:endParaRPr lang="en-US" sz="1300" dirty="0"/>
          </a:p>
        </p:txBody>
      </p:sp>
      <p:sp>
        <p:nvSpPr>
          <p:cNvPr id="5" name="bloc1"/>
          <p:cNvSpPr/>
          <p:nvPr/>
        </p:nvSpPr>
        <p:spPr>
          <a:xfrm>
            <a:off x="457200" y="1325880"/>
            <a:ext cx="5455768" cy="1645920"/>
          </a:xfrm>
          <a:prstGeom prst="rect">
            <a:avLst/>
          </a:prstGeom>
          <a:solidFill>
            <a:schemeClr val="bg2"/>
          </a:solidFill>
          <a:ln w="12700">
            <a:solidFill>
              <a:schemeClr val="bg2"/>
            </a:solidFill>
            <a:prstDash val="solid"/>
          </a:ln>
        </p:spPr>
      </p:sp>
      <p:sp>
        <p:nvSpPr>
          <p:cNvPr id="6" name="Text 3"/>
          <p:cNvSpPr txBox="1"/>
          <p:nvPr/>
        </p:nvSpPr>
        <p:spPr>
          <a:xfrm>
            <a:off x="640080" y="1463040"/>
            <a:ext cx="5090008" cy="13716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Identification</a:t>
            </a:r>
            <a:endParaRPr lang="en-US" sz="1600" dirty="0"/>
          </a:p>
          <a:p>
            <a:pPr indent="0" marL="0">
              <a:buNone/>
            </a:pPr>
            <a:r>
              <a:rPr lang="en-US" sz="1400" dirty="0">
                <a:solidFill>
                  <a:schemeClr val="tx1"/>
                </a:solidFill>
              </a:rPr>
              <a:t>Code client T24, radical à 7 chiffres, code projet PF-AAAA-NNNN, crédits du projet.</a:t>
            </a:r>
            <a:endParaRPr lang="en-US" sz="1600" dirty="0"/>
          </a:p>
        </p:txBody>
      </p:sp>
      <p:sp>
        <p:nvSpPr>
          <p:cNvPr id="7" name="bloc2"/>
          <p:cNvSpPr/>
          <p:nvPr/>
        </p:nvSpPr>
        <p:spPr>
          <a:xfrm>
            <a:off x="6278728" y="1325880"/>
            <a:ext cx="5455768" cy="1645920"/>
          </a:xfrm>
          <a:prstGeom prst="rect">
            <a:avLst/>
          </a:prstGeom>
          <a:solidFill>
            <a:schemeClr val="bg2"/>
          </a:solidFill>
          <a:ln w="12700">
            <a:solidFill>
              <a:schemeClr val="bg2"/>
            </a:solidFill>
            <a:prstDash val="solid"/>
          </a:ln>
        </p:spPr>
      </p:sp>
      <p:sp>
        <p:nvSpPr>
          <p:cNvPr id="8" name="Text 5"/>
          <p:cNvSpPr txBox="1"/>
          <p:nvPr/>
        </p:nvSpPr>
        <p:spPr>
          <a:xfrm>
            <a:off x="6461608" y="1463040"/>
            <a:ext cx="5090008" cy="13716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Saisie guidée</a:t>
            </a:r>
            <a:endParaRPr lang="en-US" sz="1600" dirty="0"/>
          </a:p>
          <a:p>
            <a:pPr indent="0" marL="0">
              <a:buNone/>
            </a:pPr>
            <a:r>
              <a:rPr lang="en-US" sz="1400" dirty="0">
                <a:solidFill>
                  <a:schemeClr val="tx1"/>
                </a:solidFill>
              </a:rPr>
              <a:t>Cellules orange à remplir, ligne « À SAISIR » et lien vers la prochaine, info-bulles, listes.</a:t>
            </a:r>
            <a:endParaRPr lang="en-US" sz="1600" dirty="0"/>
          </a:p>
        </p:txBody>
      </p:sp>
      <p:sp>
        <p:nvSpPr>
          <p:cNvPr id="9" name="bloc3"/>
          <p:cNvSpPr/>
          <p:nvPr/>
        </p:nvSpPr>
        <p:spPr>
          <a:xfrm>
            <a:off x="457200" y="3246120"/>
            <a:ext cx="5455768" cy="1645920"/>
          </a:xfrm>
          <a:prstGeom prst="rect">
            <a:avLst/>
          </a:prstGeom>
          <a:solidFill>
            <a:schemeClr val="bg2"/>
          </a:solidFill>
          <a:ln w="12700">
            <a:solidFill>
              <a:schemeClr val="bg2"/>
            </a:solidFill>
            <a:prstDash val="solid"/>
          </a:ln>
        </p:spPr>
      </p:sp>
      <p:sp>
        <p:nvSpPr>
          <p:cNvPr id="10" name="Text 7"/>
          <p:cNvSpPr txBox="1"/>
          <p:nvPr/>
        </p:nvSpPr>
        <p:spPr>
          <a:xfrm>
            <a:off x="640080" y="3383280"/>
            <a:ext cx="5090008" cy="13716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Calcul automatique</a:t>
            </a:r>
            <a:endParaRPr lang="en-US" sz="1600" dirty="0"/>
          </a:p>
          <a:p>
            <a:pPr indent="0" marL="0">
              <a:buNone/>
            </a:pPr>
            <a:r>
              <a:rPr lang="en-US" sz="1400" dirty="0">
                <a:solidFill>
                  <a:schemeClr val="tx1"/>
                </a:solidFill>
              </a:rPr>
              <a:t>Seuils, DSCR par échéance et stressé, N1 à N3, plafonds, verrous, régime S / M / L.</a:t>
            </a:r>
            <a:endParaRPr lang="en-US" sz="1600" dirty="0"/>
          </a:p>
        </p:txBody>
      </p:sp>
      <p:sp>
        <p:nvSpPr>
          <p:cNvPr id="11" name="bloc4"/>
          <p:cNvSpPr/>
          <p:nvPr/>
        </p:nvSpPr>
        <p:spPr>
          <a:xfrm>
            <a:off x="6278728" y="3246120"/>
            <a:ext cx="5455768" cy="1645920"/>
          </a:xfrm>
          <a:prstGeom prst="rect">
            <a:avLst/>
          </a:prstGeom>
          <a:solidFill>
            <a:schemeClr val="bg2"/>
          </a:solidFill>
          <a:ln w="12700">
            <a:solidFill>
              <a:schemeClr val="bg2"/>
            </a:solidFill>
            <a:prstDash val="solid"/>
          </a:ln>
        </p:spPr>
      </p:sp>
      <p:sp>
        <p:nvSpPr>
          <p:cNvPr id="12" name="Text 9"/>
          <p:cNvSpPr txBox="1"/>
          <p:nvPr/>
        </p:nvSpPr>
        <p:spPr>
          <a:xfrm>
            <a:off x="6461608" y="3383280"/>
            <a:ext cx="5090008" cy="13716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Comité</a:t>
            </a:r>
            <a:endParaRPr lang="en-US" sz="1600" dirty="0"/>
          </a:p>
          <a:p>
            <a:pPr indent="0" marL="0">
              <a:buNone/>
            </a:pPr>
            <a:r>
              <a:rPr lang="en-US" sz="1400" dirty="0">
                <a:solidFill>
                  <a:schemeClr val="tx1"/>
                </a:solidFill>
              </a:rPr>
              <a:t>Bloc 13 commentaires et conditions, fiche comité en PDF, comparaison, journal.</a:t>
            </a:r>
            <a:endParaRPr lang="en-US" sz="1600" dirty="0"/>
          </a:p>
        </p:txBody>
      </p:sp>
      <p:sp>
        <p:nvSpPr>
          <p:cNvPr id="13" name="Text 10"/>
          <p:cNvSpPr txBox="1"/>
          <p:nvPr/>
        </p:nvSpPr>
        <p:spPr>
          <a:xfrm>
            <a:off x="457200" y="5257800"/>
            <a:ext cx="11277295" cy="457200"/>
          </a:xfrm>
          <a:prstGeom prst="rect">
            <a:avLst/>
          </a:prstGeom>
          <a:noFill/>
          <a:ln/>
        </p:spPr>
        <p:txBody>
          <a:bodyPr wrap="square" lIns="0" tIns="0" rIns="0" bIns="0" rtlCol="0" anchor="t"/>
          <a:lstStyle/>
          <a:p>
            <a:pPr indent="0" marL="0">
              <a:buNone/>
            </a:pPr>
            <a:r>
              <a:rPr lang="en-US" sz="1400" i="1" dirty="0">
                <a:solidFill>
                  <a:schemeClr val="tx2"/>
                </a:solidFill>
              </a:rPr>
              <a:t>Autres onglets : référentiel des niveaux, paramètres, synthèse des dossiers, comparaison de deux dossiers, concordance des 18 cas, journal.</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Note calculée, puis note approuvée après garde-fous</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18 cas d'étude fictifs</a:t>
            </a:r>
            <a:endParaRPr lang="en-US" sz="1300" dirty="0"/>
          </a:p>
        </p:txBody>
      </p:sp>
      <p:graphicFrame>
        <p:nvGraphicFramePr>
          <p:cNvPr id="36" name="casGauche"/>
          <p:cNvGraphicFramePr>
            <a:graphicFrameLocks noGrp="1"/>
          </p:cNvGraphicFramePr>
          <p:nvPr>
            <p:extLst>
              <p:ext uri="{D42A27DB-BD31-4B8C-83A1-F6EECF244321}">
                <p14:modId xmlns:p14="http://schemas.microsoft.com/office/powerpoint/2010/main" val="1579011935"/>
              </p:ext>
            </p:extLst>
          </p:nvPr>
        </p:nvGraphicFramePr>
        <p:xfrm>
          <a:off x="457200" y="1325880"/>
          <a:ext cx="5455768" cy="914400"/>
        </p:xfrm>
        <a:graphic>
          <a:graphicData uri="http://schemas.openxmlformats.org/drawingml/2006/table">
            <a:tbl>
              <a:tblPr/>
              <a:tblGrid>
                <a:gridCol w="1463040"/>
                <a:gridCol w="731520"/>
                <a:gridCol w="1325880"/>
                <a:gridCol w="2116836"/>
              </a:tblGrid>
              <a:tr h="384048">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Cas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Calc.</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Approuvée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Raison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C1 solaire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9</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9</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Aucun garde-fou</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C2 eau</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Stress énergie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C3 hôtel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C2, C3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C4A agro</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C1, C2, C3, C6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C4B agro</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Restructuré</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C5 solaire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ENR éolien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10</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Référence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EAU</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Climat couvert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TEL</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graphicFrame>
        <p:nvGraphicFramePr>
          <p:cNvPr id="71" name="casDroite"/>
          <p:cNvGraphicFramePr>
            <a:graphicFrameLocks noGrp="1"/>
          </p:cNvGraphicFramePr>
          <p:nvPr>
            <p:extLst>
              <p:ext uri="{D42A27DB-BD31-4B8C-83A1-F6EECF244321}">
                <p14:modId xmlns:p14="http://schemas.microsoft.com/office/powerpoint/2010/main" val="1579011935"/>
              </p:ext>
            </p:extLst>
          </p:nvPr>
        </p:nvGraphicFramePr>
        <p:xfrm>
          <a:off x="6278728" y="1325880"/>
          <a:ext cx="5455768" cy="914400"/>
        </p:xfrm>
        <a:graphic>
          <a:graphicData uri="http://schemas.openxmlformats.org/drawingml/2006/table">
            <a:tbl>
              <a:tblPr/>
              <a:tblGrid>
                <a:gridCol w="1463040"/>
                <a:gridCol w="731520"/>
                <a:gridCol w="1325880"/>
                <a:gridCol w="2116836"/>
              </a:tblGrid>
              <a:tr h="384048">
                <a:tc>
                  <a:txBody>
                    <a:bodyPr/>
                    <a:lstStyle/>
                    <a:p>
                      <a:pPr algn="l" indent="0" marL="0">
                        <a:buNone/>
                      </a:pPr>
                      <a:r>
                        <a:rPr lang="en-US" sz="1300" b="1" i="1" dirty="0">
                          <a:solidFill>
                            <a:schemeClr val="tx2"/>
                          </a:solidFill>
                          <a:latin typeface="Segoe UI" pitchFamily="34" charset="0"/>
                          <a:ea typeface="Segoe UI" pitchFamily="34" charset="-122"/>
                          <a:cs typeface="Segoe UI" pitchFamily="34" charset="-120"/>
                        </a:rPr>
                        <a:t>Cas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Calc.</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Approuvée</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300" b="1" i="1" dirty="0">
                          <a:solidFill>
                            <a:schemeClr val="tx2"/>
                          </a:solidFill>
                          <a:latin typeface="Segoe UI" pitchFamily="34" charset="0"/>
                          <a:ea typeface="Segoe UI" pitchFamily="34" charset="-122"/>
                          <a:cs typeface="Segoe UI" pitchFamily="34" charset="-120"/>
                        </a:rPr>
                        <a:t>Raison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TRA</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POR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Provisoire B2</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SAN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C13, C15, B7</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ETH</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C4, C8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IMMO</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C7, C9</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IND</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C5, C6, B5</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AGR</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8</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Régime S</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TOU</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C1, C11, B4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300" b="1" i="1" dirty="0">
                          <a:solidFill>
                            <a:schemeClr val="bg1"/>
                          </a:solidFill>
                          <a:latin typeface="Segoe UI" pitchFamily="34" charset="0"/>
                          <a:ea typeface="Segoe UI" pitchFamily="34" charset="-122"/>
                          <a:cs typeface="Segoe UI" pitchFamily="34" charset="-120"/>
                        </a:rPr>
                        <a:t>MIN</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Segoe UI" pitchFamily="34" charset="0"/>
                          <a:ea typeface="Segoe UI" pitchFamily="34" charset="-122"/>
                          <a:cs typeface="Segoe UI" pitchFamily="34" charset="-120"/>
                        </a:rPr>
                        <a:t>Exclusion X3</a:t>
                      </a:r>
                      <a:endParaRPr lang="en-US" sz="13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7" name="Text 2"/>
          <p:cNvSpPr txBox="1"/>
          <p:nvPr/>
        </p:nvSpPr>
        <p:spPr>
          <a:xfrm>
            <a:off x="457200" y="5440680"/>
            <a:ext cx="11277295" cy="365760"/>
          </a:xfrm>
          <a:prstGeom prst="rect">
            <a:avLst/>
          </a:prstGeom>
          <a:noFill/>
          <a:ln/>
        </p:spPr>
        <p:txBody>
          <a:bodyPr wrap="square" lIns="0" tIns="0" rIns="0" bIns="0" rtlCol="0" anchor="t"/>
          <a:lstStyle/>
          <a:p>
            <a:pPr indent="0" marL="0">
              <a:buNone/>
            </a:pPr>
            <a:r>
              <a:rPr lang="en-US" sz="1200" i="1" dirty="0">
                <a:solidFill>
                  <a:schemeClr val="accent5"/>
                </a:solidFill>
              </a:rPr>
              <a:t>Notes vérifiées par un moteur de calcul indépendant : concordance 18 / 18.</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L'IA propose, l'analyste décide</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Lecture des documents par l'IA</a:t>
            </a:r>
            <a:endParaRPr lang="en-US" sz="1300" dirty="0"/>
          </a:p>
        </p:txBody>
      </p:sp>
      <p:sp>
        <p:nvSpPr>
          <p:cNvPr id="5" name="ia1"/>
          <p:cNvSpPr/>
          <p:nvPr/>
        </p:nvSpPr>
        <p:spPr>
          <a:xfrm>
            <a:off x="457200" y="1417320"/>
            <a:ext cx="2613584" cy="2286000"/>
          </a:xfrm>
          <a:prstGeom prst="rect">
            <a:avLst/>
          </a:prstGeom>
          <a:solidFill>
            <a:schemeClr val="bg2"/>
          </a:solidFill>
          <a:ln w="12700">
            <a:solidFill>
              <a:schemeClr val="bg2"/>
            </a:solidFill>
            <a:prstDash val="solid"/>
          </a:ln>
        </p:spPr>
      </p:sp>
      <p:sp>
        <p:nvSpPr>
          <p:cNvPr id="6" name="Text 3"/>
          <p:cNvSpPr txBox="1"/>
          <p:nvPr/>
        </p:nvSpPr>
        <p:spPr>
          <a:xfrm>
            <a:off x="640080" y="1554480"/>
            <a:ext cx="2247824" cy="20116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1 · Lecture</a:t>
            </a:r>
            <a:endParaRPr lang="en-US" sz="1600" dirty="0"/>
          </a:p>
          <a:p>
            <a:pPr indent="0" marL="0">
              <a:buNone/>
            </a:pPr>
            <a:r>
              <a:rPr lang="en-US" sz="1400" dirty="0">
                <a:solidFill>
                  <a:schemeClr val="tx1"/>
                </a:solidFill>
              </a:rPr>
              <a:t>L'outil web lit mémorandum, contrats et rapports, et produit des propositions sourcées.</a:t>
            </a:r>
            <a:endParaRPr lang="en-US" sz="1600" dirty="0"/>
          </a:p>
        </p:txBody>
      </p:sp>
      <p:sp>
        <p:nvSpPr>
          <p:cNvPr id="7" name="ia2"/>
          <p:cNvSpPr/>
          <p:nvPr/>
        </p:nvSpPr>
        <p:spPr>
          <a:xfrm>
            <a:off x="3345104" y="1417320"/>
            <a:ext cx="2613584" cy="2286000"/>
          </a:xfrm>
          <a:prstGeom prst="rect">
            <a:avLst/>
          </a:prstGeom>
          <a:solidFill>
            <a:schemeClr val="bg2"/>
          </a:solidFill>
          <a:ln w="12700">
            <a:solidFill>
              <a:schemeClr val="bg2"/>
            </a:solidFill>
            <a:prstDash val="solid"/>
          </a:ln>
        </p:spPr>
      </p:sp>
      <p:sp>
        <p:nvSpPr>
          <p:cNvPr id="8" name="Text 5"/>
          <p:cNvSpPr txBox="1"/>
          <p:nvPr/>
        </p:nvSpPr>
        <p:spPr>
          <a:xfrm>
            <a:off x="3527984" y="1554480"/>
            <a:ext cx="2247824" cy="20116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2 · Contrôle</a:t>
            </a:r>
            <a:endParaRPr lang="en-US" sz="1600" dirty="0"/>
          </a:p>
          <a:p>
            <a:pPr indent="0" marL="0">
              <a:buNone/>
            </a:pPr>
            <a:r>
              <a:rPr lang="en-US" sz="1400" dirty="0">
                <a:solidFill>
                  <a:schemeClr val="tx1"/>
                </a:solidFill>
              </a:rPr>
              <a:t>Import refusé si le code client ou projet diffère de celui du dossier.</a:t>
            </a:r>
            <a:endParaRPr lang="en-US" sz="1600" dirty="0"/>
          </a:p>
        </p:txBody>
      </p:sp>
      <p:sp>
        <p:nvSpPr>
          <p:cNvPr id="9" name="ia3"/>
          <p:cNvSpPr/>
          <p:nvPr/>
        </p:nvSpPr>
        <p:spPr>
          <a:xfrm>
            <a:off x="6233008" y="1417320"/>
            <a:ext cx="2613584" cy="2286000"/>
          </a:xfrm>
          <a:prstGeom prst="rect">
            <a:avLst/>
          </a:prstGeom>
          <a:solidFill>
            <a:schemeClr val="bg2"/>
          </a:solidFill>
          <a:ln w="12700">
            <a:solidFill>
              <a:schemeClr val="bg2"/>
            </a:solidFill>
            <a:prstDash val="solid"/>
          </a:ln>
        </p:spPr>
      </p:sp>
      <p:sp>
        <p:nvSpPr>
          <p:cNvPr id="10" name="Text 7"/>
          <p:cNvSpPr txBox="1"/>
          <p:nvPr/>
        </p:nvSpPr>
        <p:spPr>
          <a:xfrm>
            <a:off x="6415888" y="1554480"/>
            <a:ext cx="2247824" cy="20116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3 · Revue</a:t>
            </a:r>
            <a:endParaRPr lang="en-US" sz="1600" dirty="0"/>
          </a:p>
          <a:p>
            <a:pPr indent="0" marL="0">
              <a:buNone/>
            </a:pPr>
            <a:r>
              <a:rPr lang="en-US" sz="1400" dirty="0">
                <a:solidFill>
                  <a:schemeClr val="tx1"/>
                </a:solidFill>
              </a:rPr>
              <a:t>Valeur actuelle et proposée côte à côte, en bleu, avec document et page.</a:t>
            </a:r>
            <a:endParaRPr lang="en-US" sz="1600" dirty="0"/>
          </a:p>
        </p:txBody>
      </p:sp>
      <p:sp>
        <p:nvSpPr>
          <p:cNvPr id="11" name="ia4"/>
          <p:cNvSpPr/>
          <p:nvPr/>
        </p:nvSpPr>
        <p:spPr>
          <a:xfrm>
            <a:off x="9120911" y="1417320"/>
            <a:ext cx="2613584" cy="2286000"/>
          </a:xfrm>
          <a:prstGeom prst="rect">
            <a:avLst/>
          </a:prstGeom>
          <a:solidFill>
            <a:schemeClr val="accent1"/>
          </a:solidFill>
          <a:ln w="12700">
            <a:solidFill>
              <a:schemeClr val="accent1"/>
            </a:solidFill>
            <a:prstDash val="solid"/>
          </a:ln>
        </p:spPr>
      </p:sp>
      <p:sp>
        <p:nvSpPr>
          <p:cNvPr id="12" name="Text 9"/>
          <p:cNvSpPr txBox="1"/>
          <p:nvPr/>
        </p:nvSpPr>
        <p:spPr>
          <a:xfrm>
            <a:off x="9303791" y="1554480"/>
            <a:ext cx="2247824" cy="201168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4 · Décision</a:t>
            </a:r>
            <a:endParaRPr lang="en-US" sz="1600" dirty="0"/>
          </a:p>
          <a:p>
            <a:pPr indent="0" marL="0">
              <a:buNone/>
            </a:pPr>
            <a:r>
              <a:rPr lang="en-US" sz="1400" b="1" dirty="0">
                <a:solidFill>
                  <a:schemeClr val="bg1"/>
                </a:solidFill>
              </a:rPr>
              <a:t>Seules les lignes acceptées sont écrites ; chaque décision est journalisée.</a:t>
            </a:r>
            <a:endParaRPr lang="en-US" sz="1600" dirty="0"/>
          </a:p>
        </p:txBody>
      </p:sp>
      <p:sp>
        <p:nvSpPr>
          <p:cNvPr id="13" name="Text 10"/>
          <p:cNvSpPr txBox="1"/>
          <p:nvPr/>
        </p:nvSpPr>
        <p:spPr>
          <a:xfrm>
            <a:off x="457200" y="4069080"/>
            <a:ext cx="11277295" cy="822960"/>
          </a:xfrm>
          <a:prstGeom prst="rect">
            <a:avLst/>
          </a:prstGeom>
          <a:noFill/>
          <a:ln/>
        </p:spPr>
        <p:txBody>
          <a:bodyPr wrap="square" lIns="0" tIns="0" rIns="0" bIns="0" rtlCol="0" anchor="t"/>
          <a:lstStyle/>
          <a:p>
            <a:pPr indent="0" marL="0">
              <a:buNone/>
            </a:pPr>
            <a:r>
              <a:rPr lang="en-US" sz="1600" dirty="0">
                <a:solidFill>
                  <a:schemeClr val="tx1"/>
                </a:solidFill>
              </a:rPr>
              <a:t>La décision du comité ne s'importe jamais. Le fichier d'échange est en place côté Excel ; l'export depuis l'outil web reste à construire.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Ce que nous soumettons à votre validation</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Validation · paramètres candidats</a:t>
            </a:r>
            <a:endParaRPr lang="en-US" sz="1300" dirty="0"/>
          </a:p>
        </p:txBody>
      </p:sp>
      <p:sp>
        <p:nvSpPr>
          <p:cNvPr id="5" name="Text 2"/>
          <p:cNvSpPr txBox="1"/>
          <p:nvPr/>
        </p:nvSpPr>
        <p:spPr>
          <a:xfrm>
            <a:off x="457200" y="1417320"/>
            <a:ext cx="6035040" cy="42062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Seuils DSCR par régime de revenus et écarts sectoriels Δ</a:t>
            </a:r>
            <a:endParaRPr lang="en-US" sz="1500" dirty="0"/>
          </a:p>
          <a:p>
            <a:pPr marL="342900" indent="-342900">
              <a:spcAft>
                <a:spcPts val="800"/>
              </a:spcAft>
              <a:buSzPct val="100000"/>
              <a:buFont typeface="+mj-lt"/>
              <a:buAutoNum type="arabicPeriod" startAt="1"/>
            </a:pPr>
            <a:r>
              <a:rPr lang="en-US" sz="1500" dirty="0">
                <a:solidFill>
                  <a:schemeClr val="tx1"/>
                </a:solidFill>
              </a:rPr>
              <a:t>Les quinze plafonds : niveaux et faits générateurs</a:t>
            </a:r>
            <a:endParaRPr lang="en-US" sz="1500" dirty="0"/>
          </a:p>
          <a:p>
            <a:pPr marL="342900" indent="-342900">
              <a:spcAft>
                <a:spcPts val="800"/>
              </a:spcAft>
              <a:buSzPct val="100000"/>
              <a:buFont typeface="+mj-lt"/>
              <a:buAutoNum type="arabicPeriod" startAt="1"/>
            </a:pPr>
            <a:r>
              <a:rPr lang="en-US" sz="1500" dirty="0">
                <a:solidFill>
                  <a:schemeClr val="tx1"/>
                </a:solidFill>
              </a:rPr>
              <a:t>Bornes du régime simplifié (200 MMAD de CAPEX, 100 MMAD d'exposition)</a:t>
            </a:r>
            <a:endParaRPr lang="en-US" sz="1500" dirty="0"/>
          </a:p>
          <a:p>
            <a:pPr marL="342900" indent="-342900">
              <a:spcAft>
                <a:spcPts val="800"/>
              </a:spcAft>
              <a:buSzPct val="100000"/>
              <a:buFont typeface="+mj-lt"/>
              <a:buAutoNum type="arabicPeriod" startAt="1"/>
            </a:pPr>
            <a:r>
              <a:rPr lang="en-US" sz="1500" dirty="0">
                <a:solidFill>
                  <a:schemeClr val="tx1"/>
                </a:solidFill>
              </a:rPr>
              <a:t>Largeur des bandes de la table de conversion</a:t>
            </a:r>
            <a:endParaRPr lang="en-US" sz="1500" dirty="0"/>
          </a:p>
          <a:p>
            <a:pPr marL="342900" indent="-342900">
              <a:spcAft>
                <a:spcPts val="800"/>
              </a:spcAft>
              <a:buSzPct val="100000"/>
              <a:buFont typeface="+mj-lt"/>
              <a:buAutoNum type="arabicPeriod" startAt="1"/>
            </a:pPr>
            <a:r>
              <a:rPr lang="en-US" sz="1500" dirty="0">
                <a:solidFill>
                  <a:schemeClr val="tx1"/>
                </a:solidFill>
              </a:rPr>
              <a:t>Référentiel de défaut de la banque</a:t>
            </a:r>
            <a:endParaRPr lang="en-US" sz="1500" dirty="0"/>
          </a:p>
          <a:p>
            <a:pPr marL="342900" indent="-342900">
              <a:spcAft>
                <a:spcPts val="800"/>
              </a:spcAft>
              <a:buSzPct val="100000"/>
              <a:buFont typeface="+mj-lt"/>
              <a:buAutoNum type="arabicPeriod" startAt="1"/>
            </a:pPr>
            <a:r>
              <a:rPr lang="en-US" sz="1500" dirty="0">
                <a:solidFill>
                  <a:schemeClr val="tx1"/>
                </a:solidFill>
              </a:rPr>
              <a:t>Politique de délégation attachée aux notes, statuts et plafonds</a:t>
            </a:r>
            <a:endParaRPr lang="en-US" sz="1500" dirty="0"/>
          </a:p>
          <a:p>
            <a:pPr marL="342900" indent="-342900">
              <a:spcAft>
                <a:spcPts val="800"/>
              </a:spcAft>
              <a:buSzPct val="100000"/>
              <a:buFont typeface="+mj-lt"/>
              <a:buAutoNum type="arabicPeriod" startAt="1"/>
            </a:pPr>
            <a:r>
              <a:rPr lang="en-US" sz="1500" dirty="0">
                <a:solidFill>
                  <a:schemeClr val="tx1"/>
                </a:solidFill>
              </a:rPr>
              <a:t>Calendrier de bascule de la circulaire 1/W/2025</a:t>
            </a:r>
            <a:endParaRPr lang="en-US" sz="1500" dirty="0"/>
          </a:p>
        </p:txBody>
      </p:sp>
      <p:sp>
        <p:nvSpPr>
          <p:cNvPr id="6" name="aussi"/>
          <p:cNvSpPr/>
          <p:nvPr/>
        </p:nvSpPr>
        <p:spPr>
          <a:xfrm>
            <a:off x="6812280" y="1325880"/>
            <a:ext cx="4919472" cy="4297680"/>
          </a:xfrm>
          <a:prstGeom prst="rect">
            <a:avLst/>
          </a:prstGeom>
          <a:solidFill>
            <a:schemeClr val="bg2"/>
          </a:solidFill>
          <a:ln w="12700">
            <a:solidFill>
              <a:schemeClr val="bg2"/>
            </a:solidFill>
            <a:prstDash val="solid"/>
          </a:ln>
        </p:spPr>
      </p:sp>
      <p:sp>
        <p:nvSpPr>
          <p:cNvPr id="7" name="Text 4"/>
          <p:cNvSpPr txBox="1"/>
          <p:nvPr/>
        </p:nvSpPr>
        <p:spPr>
          <a:xfrm>
            <a:off x="6995160" y="1463040"/>
            <a:ext cx="4553712" cy="40233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Également soumis, avec les documents remis</a:t>
            </a:r>
            <a:endParaRPr lang="en-US" sz="1600" dirty="0"/>
          </a:p>
          <a:p>
            <a:pPr marL="342900" indent="-342900">
              <a:spcAft>
                <a:spcPts val="300"/>
              </a:spcAft>
              <a:buSzPct val="100000"/>
              <a:buChar char="▪"/>
            </a:pPr>
            <a:r>
              <a:rPr lang="en-US" sz="1400" dirty="0">
                <a:solidFill>
                  <a:schemeClr val="tx1"/>
                </a:solidFill>
              </a:rPr>
              <a:t>Poids des domaines par phase et des 25 sous-critères</a:t>
            </a:r>
            <a:endParaRPr lang="en-US" sz="1600" dirty="0"/>
          </a:p>
          <a:p>
            <a:pPr marL="342900" indent="-342900">
              <a:spcAft>
                <a:spcPts val="300"/>
              </a:spcAft>
              <a:buSzPct val="100000"/>
              <a:buChar char="▪"/>
            </a:pPr>
            <a:r>
              <a:rPr lang="en-US" sz="1400" dirty="0">
                <a:solidFill>
                  <a:schemeClr val="tx1"/>
                </a:solidFill>
              </a:rPr>
              <a:t>Situations décrites de chaque sous-critère et de N4 à N6, variantes sectorielles</a:t>
            </a:r>
            <a:endParaRPr lang="en-US" sz="1600" dirty="0"/>
          </a:p>
          <a:p>
            <a:pPr marL="342900" indent="-342900">
              <a:spcAft>
                <a:spcPts val="300"/>
              </a:spcAft>
              <a:buSzPct val="100000"/>
              <a:buChar char="▪"/>
            </a:pPr>
            <a:r>
              <a:rPr lang="en-US" sz="1400" dirty="0">
                <a:solidFill>
                  <a:schemeClr val="tx1"/>
                </a:solidFill>
              </a:rPr>
              <a:t>Données sectorielles du bloc 4</a:t>
            </a:r>
            <a:endParaRPr lang="en-US" sz="1600" dirty="0"/>
          </a:p>
          <a:p>
            <a:pPr marL="342900" indent="-342900">
              <a:spcAft>
                <a:spcPts val="300"/>
              </a:spcAft>
              <a:buSzPct val="100000"/>
              <a:buChar char="▪"/>
            </a:pPr>
            <a:r>
              <a:rPr lang="en-US" sz="1400" dirty="0">
                <a:solidFill>
                  <a:schemeClr val="tx1"/>
                </a:solidFill>
              </a:rPr>
              <a:t>Bibliothèque de chocs et scénarios par régime</a:t>
            </a:r>
            <a:endParaRPr lang="en-US" sz="1600" dirty="0"/>
          </a:p>
          <a:p>
            <a:pPr marL="342900" indent="-342900">
              <a:spcAft>
                <a:spcPts val="300"/>
              </a:spcAft>
              <a:buSzPct val="100000"/>
              <a:buChar char="▪"/>
            </a:pPr>
            <a:r>
              <a:rPr lang="en-US" sz="1400" dirty="0">
                <a:solidFill>
                  <a:schemeClr val="tx1"/>
                </a:solidFill>
              </a:rPr>
              <a:t>Grille expliquée (Excel) et outil avec 18 cas : tout paramètre est modifiable et les dossiers se recalculent</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Mise en œuvre, pièces à réunir, usage pendant la transition</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Suite</a:t>
            </a:r>
            <a:endParaRPr lang="en-US" sz="1300" dirty="0"/>
          </a:p>
        </p:txBody>
      </p:sp>
      <p:graphicFrame>
        <p:nvGraphicFramePr>
          <p:cNvPr id="39" name="tableau"/>
          <p:cNvGraphicFramePr>
            <a:graphicFrameLocks noGrp="1"/>
          </p:cNvGraphicFramePr>
          <p:nvPr>
            <p:extLst>
              <p:ext uri="{D42A27DB-BD31-4B8C-83A1-F6EECF244321}">
                <p14:modId xmlns:p14="http://schemas.microsoft.com/office/powerpoint/2010/main" val="1579011935"/>
              </p:ext>
            </p:extLst>
          </p:nvPr>
        </p:nvGraphicFramePr>
        <p:xfrm>
          <a:off x="457200" y="1325880"/>
          <a:ext cx="6766560" cy="914400"/>
        </p:xfrm>
        <a:graphic>
          <a:graphicData uri="http://schemas.openxmlformats.org/drawingml/2006/table">
            <a:tbl>
              <a:tblPr/>
              <a:tblGrid>
                <a:gridCol w="822960"/>
                <a:gridCol w="5943600"/>
              </a:tblGrid>
              <a:tr h="384048">
                <a:tc>
                  <a:txBody>
                    <a:bodyPr/>
                    <a:lstStyle/>
                    <a:p>
                      <a:pPr algn="l" indent="0" marL="0">
                        <a:buNone/>
                      </a:pPr>
                      <a:r>
                        <a:rPr lang="en-US" sz="1200" b="1" i="1" dirty="0">
                          <a:solidFill>
                            <a:schemeClr val="tx2"/>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algn="ctr" indent="0" marL="0">
                        <a:buNone/>
                      </a:pPr>
                      <a:r>
                        <a:rPr lang="en-US" sz="1200" b="1" i="1" dirty="0">
                          <a:solidFill>
                            <a:schemeClr val="tx2"/>
                          </a:solidFill>
                          <a:latin typeface="Segoe UI" pitchFamily="34" charset="0"/>
                          <a:ea typeface="Segoe UI" pitchFamily="34" charset="-122"/>
                          <a:cs typeface="Segoe UI" pitchFamily="34" charset="-120"/>
                        </a:rPr>
                        <a:t>Chantier et contenu</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I1</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Référentiel et routage : cinq axes, versions de grille, verrouillage des paramètres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I2</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Moteur financier : flux datés, CFADS, DSCR minimum, LLCR, financement à terminaison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I3</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Moteur de règles : classes X, B, C, K, ordre, fiches, autorités de levée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I4</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Grille : 25 sous-critères, poids par phase, manuel de notation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I5</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Module Maroc : référentiel daté, foncier, acheteur public, change, consortium, climat</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I6</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Agrégation et huit sorties</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I7</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Stress : chocs, scénario combiné, test inversé</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I8</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Traçabilité : versionnement, annexe d'audit, retour arrière</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I9</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Tests d'acceptation</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384048">
                <a:tc>
                  <a:txBody>
                    <a:bodyPr/>
                    <a:lstStyle/>
                    <a:p>
                      <a:pPr algn="l" indent="0" marL="0">
                        <a:buNone/>
                      </a:pPr>
                      <a:r>
                        <a:rPr lang="en-US" sz="1200" b="1" i="1" dirty="0">
                          <a:solidFill>
                            <a:schemeClr val="bg1"/>
                          </a:solidFill>
                          <a:latin typeface="Segoe UI" pitchFamily="34" charset="0"/>
                          <a:ea typeface="Segoe UI" pitchFamily="34" charset="-122"/>
                          <a:cs typeface="Segoe UI" pitchFamily="34" charset="-120"/>
                        </a:rPr>
                        <a:t>I10</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l" indent="0" marL="0">
                        <a:buNone/>
                      </a:pPr>
                      <a:r>
                        <a:rPr lang="en-US" sz="1200" dirty="0">
                          <a:solidFill>
                            <a:schemeClr val="tx1"/>
                          </a:solidFill>
                          <a:latin typeface="Segoe UI" pitchFamily="34" charset="0"/>
                          <a:ea typeface="Segoe UI" pitchFamily="34" charset="-122"/>
                          <a:cs typeface="Segoe UI" pitchFamily="34" charset="-120"/>
                        </a:rPr>
                        <a:t>Pilote en double notation sur un périmètre limité</a:t>
                      </a:r>
                      <a:endParaRPr lang="en-US" sz="1200" dirty="0">
                        <a:latin typeface="Segoe UI" charset="0"/>
                        <a:ea typeface="Segoe UI" charset="0"/>
                        <a:cs typeface="Segoe U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6" name="pieces"/>
          <p:cNvSpPr/>
          <p:nvPr/>
        </p:nvSpPr>
        <p:spPr>
          <a:xfrm>
            <a:off x="7498080" y="1325880"/>
            <a:ext cx="4233672" cy="2468880"/>
          </a:xfrm>
          <a:prstGeom prst="rect">
            <a:avLst/>
          </a:prstGeom>
          <a:solidFill>
            <a:schemeClr val="bg2"/>
          </a:solidFill>
          <a:ln w="12700">
            <a:solidFill>
              <a:schemeClr val="bg2"/>
            </a:solidFill>
            <a:prstDash val="solid"/>
          </a:ln>
        </p:spPr>
      </p:sp>
      <p:sp>
        <p:nvSpPr>
          <p:cNvPr id="7" name="Text 3"/>
          <p:cNvSpPr txBox="1"/>
          <p:nvPr/>
        </p:nvSpPr>
        <p:spPr>
          <a:xfrm>
            <a:off x="7680960" y="1463040"/>
            <a:ext cx="3867912" cy="21945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Pièces à réunir</a:t>
            </a:r>
            <a:endParaRPr lang="en-US" sz="1600" dirty="0"/>
          </a:p>
          <a:p>
            <a:pPr marL="342900" indent="-342900">
              <a:spcAft>
                <a:spcPts val="300"/>
              </a:spcAft>
              <a:buSzPct val="100000"/>
              <a:buChar char="▪"/>
            </a:pPr>
            <a:r>
              <a:rPr lang="en-US" sz="1300" dirty="0">
                <a:solidFill>
                  <a:schemeClr val="tx1"/>
                </a:solidFill>
              </a:rPr>
              <a:t>Une dizaine de dossiers représentatifs (phases, régimes, secteurs), dont des cas dégradés</a:t>
            </a:r>
            <a:endParaRPr lang="en-US" sz="1600" dirty="0"/>
          </a:p>
          <a:p>
            <a:pPr marL="342900" indent="-342900">
              <a:spcAft>
                <a:spcPts val="300"/>
              </a:spcAft>
              <a:buSzPct val="100000"/>
              <a:buChar char="▪"/>
            </a:pPr>
            <a:r>
              <a:rPr lang="en-US" sz="1300" dirty="0">
                <a:solidFill>
                  <a:schemeClr val="tx1"/>
                </a:solidFill>
              </a:rPr>
              <a:t>Historique des notes, incidents et restructurations</a:t>
            </a:r>
            <a:endParaRPr lang="en-US" sz="1600" dirty="0"/>
          </a:p>
          <a:p>
            <a:pPr marL="342900" indent="-342900">
              <a:spcAft>
                <a:spcPts val="300"/>
              </a:spcAft>
              <a:buSzPct val="100000"/>
              <a:buChar char="▪"/>
            </a:pPr>
            <a:r>
              <a:rPr lang="en-US" sz="1300" dirty="0">
                <a:solidFill>
                  <a:schemeClr val="tx1"/>
                </a:solidFill>
              </a:rPr>
              <a:t>Politique de crédit et méthodologie IFRS 9</a:t>
            </a:r>
            <a:endParaRPr lang="en-US" sz="1600" dirty="0"/>
          </a:p>
        </p:txBody>
      </p:sp>
      <p:sp>
        <p:nvSpPr>
          <p:cNvPr id="8" name="transitionUsage"/>
          <p:cNvSpPr/>
          <p:nvPr/>
        </p:nvSpPr>
        <p:spPr>
          <a:xfrm>
            <a:off x="7498080" y="3977640"/>
            <a:ext cx="4233672" cy="1737360"/>
          </a:xfrm>
          <a:prstGeom prst="rect">
            <a:avLst/>
          </a:prstGeom>
          <a:solidFill>
            <a:schemeClr val="accent1"/>
          </a:solidFill>
          <a:ln w="12700">
            <a:solidFill>
              <a:schemeClr val="accent1"/>
            </a:solidFill>
            <a:prstDash val="solid"/>
          </a:ln>
        </p:spPr>
      </p:sp>
      <p:sp>
        <p:nvSpPr>
          <p:cNvPr id="9" name="Text 5"/>
          <p:cNvSpPr txBox="1"/>
          <p:nvPr/>
        </p:nvSpPr>
        <p:spPr>
          <a:xfrm>
            <a:off x="7680960" y="4114800"/>
            <a:ext cx="3867912" cy="1463040"/>
          </a:xfrm>
          <a:prstGeom prst="rect">
            <a:avLst/>
          </a:prstGeom>
          <a:noFill/>
          <a:ln/>
        </p:spPr>
        <p:txBody>
          <a:bodyPr wrap="square" lIns="0" tIns="0" rIns="0" bIns="0" rtlCol="0" anchor="t"/>
          <a:lstStyle/>
          <a:p>
            <a:pPr indent="0" marL="0">
              <a:spcAft>
                <a:spcPts val="600"/>
              </a:spcAft>
              <a:buNone/>
            </a:pPr>
            <a:r>
              <a:rPr lang="en-US" sz="1600" b="1" i="1" dirty="0">
                <a:solidFill>
                  <a:schemeClr val="bg1"/>
                </a:solidFill>
              </a:rPr>
              <a:t>Pendant la transition</a:t>
            </a:r>
            <a:endParaRPr lang="en-US" sz="1600" dirty="0"/>
          </a:p>
          <a:p>
            <a:pPr indent="0" marL="0">
              <a:buNone/>
            </a:pPr>
            <a:r>
              <a:rPr lang="en-US" sz="1300" b="1" dirty="0">
                <a:solidFill>
                  <a:schemeClr val="bg1"/>
                </a:solidFill>
              </a:rPr>
              <a:t>Aide à l'analyse sous contrôle, sans automatisme d'octroi, jusqu'à la validation indépendante. Paramètres candidats séparés des paramètres approuvés.</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77295" cy="548640"/>
          </a:xfrm>
          <a:prstGeom prst="rect">
            <a:avLst/>
          </a:prstGeom>
          <a:noFill/>
          <a:ln/>
        </p:spPr>
        <p:txBody>
          <a:bodyPr wrap="square" lIns="0" tIns="0" rIns="0" bIns="0" rtlCol="0" anchor="t"/>
          <a:lstStyle/>
          <a:p>
            <a:pPr algn="l" indent="0" marL="0">
              <a:buNone/>
            </a:pPr>
            <a:r>
              <a:rPr lang="en-US" sz="2400" b="1" dirty="0">
                <a:solidFill>
                  <a:schemeClr val="accent1"/>
                </a:solidFill>
              </a:rPr>
              <a:t>Quatre questions pour la discussion</a:t>
            </a:r>
            <a:endParaRPr lang="en-US" sz="2400" dirty="0"/>
          </a:p>
        </p:txBody>
      </p:sp>
      <p:sp>
        <p:nvSpPr>
          <p:cNvPr id="3" name="Text 0"/>
          <p:cNvSpPr/>
          <p:nvPr>
            <p:ph idx="101" type="body" hasCustomPrompt="1"/>
          </p:nvPr>
        </p:nvSpPr>
        <p:spPr>
          <a:xfrm>
            <a:off x="457200" y="777240"/>
            <a:ext cx="11277295" cy="320040"/>
          </a:xfrm>
          <a:prstGeom prst="rect">
            <a:avLst/>
          </a:prstGeom>
          <a:noFill/>
          <a:ln/>
        </p:spPr>
        <p:txBody>
          <a:bodyPr wrap="square" lIns="0" tIns="0" rIns="0" bIns="0" rtlCol="0"/>
          <a:lstStyle/>
          <a:p>
            <a:pPr algn="l" indent="0" marL="0">
              <a:buNone/>
            </a:pPr>
            <a:r>
              <a:rPr lang="en-US" sz="1300" i="1" dirty="0">
                <a:solidFill>
                  <a:schemeClr val="tx2"/>
                </a:solidFill>
              </a:rPr>
              <a:t>Vos avis d'experts</a:t>
            </a:r>
            <a:endParaRPr lang="en-US" sz="1300" dirty="0"/>
          </a:p>
        </p:txBody>
      </p:sp>
      <p:sp>
        <p:nvSpPr>
          <p:cNvPr id="5" name="Text 2"/>
          <p:cNvSpPr txBox="1"/>
          <p:nvPr/>
        </p:nvSpPr>
        <p:spPr>
          <a:xfrm>
            <a:off x="457200" y="1508760"/>
            <a:ext cx="11277295"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chemeClr val="tx1"/>
                </a:solidFill>
              </a:rPr>
              <a:t>Les seuils DSCR par régime et les écarts sectoriels reflètent-ils votre pratique ?</a:t>
            </a:r>
            <a:endParaRPr lang="en-US" sz="2000" dirty="0"/>
          </a:p>
          <a:p>
            <a:pPr marL="342900" indent="-342900">
              <a:spcAft>
                <a:spcPts val="1200"/>
              </a:spcAft>
              <a:buSzPct val="100000"/>
              <a:buFont typeface="+mj-lt"/>
              <a:buAutoNum type="arabicPeriod" startAt="1"/>
            </a:pPr>
            <a:r>
              <a:rPr lang="en-US" sz="2000" dirty="0">
                <a:solidFill>
                  <a:schemeClr val="tx1"/>
                </a:solidFill>
              </a:rPr>
              <a:t>Faut-il durcir ou assouplir certains plafonds, par exemple C10 sur l'acheteur unique ?</a:t>
            </a:r>
            <a:endParaRPr lang="en-US" sz="2000" dirty="0"/>
          </a:p>
          <a:p>
            <a:pPr marL="342900" indent="-342900">
              <a:spcAft>
                <a:spcPts val="1200"/>
              </a:spcAft>
              <a:buSzPct val="100000"/>
              <a:buFont typeface="+mj-lt"/>
              <a:buAutoNum type="arabicPeriod" startAt="1"/>
            </a:pPr>
            <a:r>
              <a:rPr lang="en-US" sz="2000" dirty="0">
                <a:solidFill>
                  <a:schemeClr val="tx1"/>
                </a:solidFill>
              </a:rPr>
              <a:t>Les situations décrites sont-elles celles que vous rencontrez dans vos dossiers ?</a:t>
            </a:r>
            <a:endParaRPr lang="en-US" sz="2000" dirty="0"/>
          </a:p>
          <a:p>
            <a:pPr marL="342900" indent="-342900">
              <a:spcAft>
                <a:spcPts val="1200"/>
              </a:spcAft>
              <a:buSzPct val="100000"/>
              <a:buFont typeface="+mj-lt"/>
              <a:buAutoNum type="arabicPeriod" startAt="1"/>
            </a:pPr>
            <a:r>
              <a:rPr lang="en-US" sz="2000" dirty="0">
                <a:solidFill>
                  <a:schemeClr val="tx1"/>
                </a:solidFill>
              </a:rPr>
              <a:t>Quels secteurs prioriser pour les variantes sectorielles et le déploiement ?</a:t>
            </a:r>
            <a:endParaRPr lang="en-US" sz="2000" dirty="0"/>
          </a:p>
        </p:txBody>
      </p:sp>
      <p:sp>
        <p:nvSpPr>
          <p:cNvPr id="6" name="Text 3"/>
          <p:cNvSpPr txBox="1"/>
          <p:nvPr/>
        </p:nvSpPr>
        <p:spPr>
          <a:xfrm>
            <a:off x="457200" y="5120640"/>
            <a:ext cx="11277295" cy="457200"/>
          </a:xfrm>
          <a:prstGeom prst="rect">
            <a:avLst/>
          </a:prstGeom>
          <a:noFill/>
          <a:ln/>
        </p:spPr>
        <p:txBody>
          <a:bodyPr wrap="square" lIns="0" tIns="0" rIns="0" bIns="0" rtlCol="0" anchor="t"/>
          <a:lstStyle/>
          <a:p>
            <a:pPr indent="0" marL="0">
              <a:buNone/>
            </a:pPr>
            <a:r>
              <a:rPr lang="en-US" sz="1800" b="1" dirty="0">
                <a:solidFill>
                  <a:schemeClr val="accent1"/>
                </a:solidFill>
              </a:rPr>
              <a:t>Merci · [Nom, fonction, contact]</a:t>
            </a:r>
            <a:endParaRPr lang="en-US" sz="1800" dirty="0"/>
          </a:p>
        </p:txBody>
      </p:sp>
      <p:pic>
        <p:nvPicPr>
          <p:cNvPr id="7" name="logo" descr="Logo Banque Populaire">    </p:cNvPr>
          <p:cNvPicPr>
            <a:picLocks noChangeAspect="1"/>
          </p:cNvPicPr>
          <p:nvPr/>
        </p:nvPicPr>
        <p:blipFill>
          <a:blip r:embed="rId1"/>
          <a:stretch>
            <a:fillRect/>
          </a:stretch>
        </p:blipFill>
        <p:spPr>
          <a:xfrm>
            <a:off x="9692640" y="5257800"/>
            <a:ext cx="2011680" cy="548310"/>
          </a:xfrm>
          <a:prstGeom prst="rect">
            <a:avLst/>
          </a:prstGeom>
        </p:spPr>
      </p:pic>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Banque Populaire — Scoring Project Finance">
  <a:themeElements>
    <a:clrScheme name="Banque Populaire — Scoring Project Finance">
      <a:dk1>
        <a:srgbClr val="4D4D4D"/>
      </a:dk1>
      <a:lt1>
        <a:srgbClr val="FFFFFF"/>
      </a:lt1>
      <a:dk2>
        <a:srgbClr val="575757"/>
      </a:dk2>
      <a:lt2>
        <a:srgbClr val="F2F2F2"/>
      </a:lt2>
      <a:accent1>
        <a:srgbClr val="E67D00"/>
      </a:accent1>
      <a:accent2>
        <a:srgbClr val="EDA44C"/>
      </a:accent2>
      <a:accent3>
        <a:srgbClr val="4D4D4D"/>
      </a:accent3>
      <a:accent4>
        <a:srgbClr val="D9D9D9"/>
      </a:accent4>
      <a:accent5>
        <a:srgbClr val="7F7F7F"/>
      </a:accent5>
      <a:accent6>
        <a:srgbClr val="FBE3C6"/>
      </a:accent6>
      <a:hlink>
        <a:srgbClr val="E67D00"/>
      </a:hlink>
      <a:folHlink>
        <a:srgbClr val="A65A00"/>
      </a:folHlink>
    </a:clrScheme>
    <a:fontScheme name="Banque Populaire — Scoring Project Finan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Modèle de scoring Project Finance et outil Excel</dc:title>
  <dc:subject>PptxGenJS Presentation</dc:subject>
  <dc:creator>PptxGenJS</dc:creator>
  <cp:lastModifiedBy>PptxGenJS</cp:lastModifiedBy>
  <cp:revision>1</cp:revision>
  <dcterms:created xsi:type="dcterms:W3CDTF">2026-10-18T16:49:18Z</dcterms:created>
  <dcterms:modified xsi:type="dcterms:W3CDTF">2026-10-18T16:49:18Z</dcterms:modified>
</cp:coreProperties>
</file>